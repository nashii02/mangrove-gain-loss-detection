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4444" autoAdjust="0"/>
  </p:normalViewPr>
  <p:slideViewPr>
    <p:cSldViewPr snapToGrid="0" snapToObjects="1">
      <p:cViewPr varScale="1">
        <p:scale>
          <a:sx n="69" d="100"/>
          <a:sy n="69" d="100"/>
        </p:scale>
        <p:origin x="1205"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315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Good morning, respected members of the panel, our thesis adviser Dr. Fernan Mendoza, and guests. Today we present our thesis defense on 'Deep Learning-Based Detection of Mangrove Gain and Loss in Barangay Dulao, Aringay, La Union Using U-Net and Sentinel-2 Imagery.' We are Nash Francis Caluza, Reymark Boado, Elaiza Praise Milana, and Lyka Vejano from the College of Computer Science at DMMMSU-SLUC.</a:t>
            </a:r>
          </a:p>
          <a:p>
            <a:endParaRPr/>
          </a:p>
          <a:p>
            <a:r>
              <a:t>=== KEY MESSAGE ===</a:t>
            </a:r>
          </a:p>
          <a:p>
            <a:r>
              <a:t>The study bridges remote sensing, deep learning, and practical software engineering to solve a local conservation challenge for Barangay Dulao, Aringay.</a:t>
            </a:r>
          </a:p>
          <a:p>
            <a:endParaRPr/>
          </a:p>
          <a:p>
            <a:r>
              <a:t>=== TECHNICAL EXPLANATION ===</a:t>
            </a:r>
          </a:p>
          <a:p>
            <a:r>
              <a:t>This project combines European Space Agency Sentinel-2 multispectral satellite data (10m resolution) with a 5-channel modified U-Net deep convolutional neural network, wrapped inside an interactive decision-support web system developed for Aringay MENRO.</a:t>
            </a:r>
          </a:p>
          <a:p>
            <a:endParaRPr/>
          </a:p>
          <a:p>
            <a:r>
              <a:t>=== LIKELY PANEL Q&amp;A ===</a:t>
            </a:r>
          </a:p>
          <a:p>
            <a:r>
              <a:t>Q: Why focus specifically on Barangay Dulao?</a:t>
            </a:r>
          </a:p>
          <a:p>
            <a:r>
              <a:t>A: Barangay Dulao contains the primary estuarine mangrove belt of Aringay along the river mouth and Lingayen Gulf. It is heavily affected by both natural tidal dynamics and aquaculture fishpond conversion, making localized automated monitoring vital.</a:t>
            </a:r>
          </a:p>
          <a:p>
            <a:endParaRPr/>
          </a:p>
          <a:p>
            <a:r>
              <a:t>=== CAUTION / WHAT NOT TO SAY ===</a:t>
            </a:r>
          </a:p>
          <a:p>
            <a:r>
              <a:t>Do NOT introduce the prototype numbers as final results yet. Keep the opening focused on the academic motivation, researchers, and project scope.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Here is the roadmap for our defense presentation today. We have strictly organized our presentation across the five required software engineering pillars: First, Project Overview; Second, Project Scope; Third, Software Development Methodology; Fourth, Software Requirements and System Models; and Fifth, our Live Software Demonstration, concluding with project status, contributions, and Q&amp;A.</a:t>
            </a:r>
          </a:p>
          <a:p>
            <a:endParaRPr/>
          </a:p>
          <a:p>
            <a:r>
              <a:t>=== KEY MESSAGE ===</a:t>
            </a:r>
          </a:p>
          <a:p>
            <a:r>
              <a:t>The presentation is structured around the 5 standard software engineering defense criteria required by the course rubric.</a:t>
            </a:r>
          </a:p>
          <a:p>
            <a:endParaRPr/>
          </a:p>
          <a:p>
            <a:r>
              <a:t>=== TECHNICAL EXPLANATION ===</a:t>
            </a:r>
          </a:p>
          <a:p>
            <a:r>
              <a:t>This ensures transparent alignment with technical grading criteria: problem/objectives, scope/requirements, process/architecture, implementation, and working demo.</a:t>
            </a:r>
          </a:p>
          <a:p>
            <a:endParaRPr/>
          </a:p>
          <a:p>
            <a:r>
              <a:t>=== LIKELY PANEL Q&amp;A ===</a:t>
            </a:r>
          </a:p>
          <a:p>
            <a:r>
              <a:t>Q: How will the presentation be delivered among the four team members?</a:t>
            </a:r>
          </a:p>
          <a:p>
            <a:r>
              <a:t>A: The presentation is partitioned across the members: Nash introduces Overview and Objectives; Reymark covers Scope and Data Methodology; Elaiza presents System Models and Architecture; Lyka leads the Prototype Walkthrough and Testing, with all members participating in Status and Q&amp;A.</a:t>
            </a:r>
          </a:p>
          <a:p>
            <a:endParaRPr/>
          </a:p>
          <a:p>
            <a:r>
              <a:t>=== CAUTION / WHAT NOT TO SAY ===</a:t>
            </a:r>
          </a:p>
          <a:p>
            <a:r>
              <a:t>Transition smoothly by introducing Pillar 1: Project Overview.</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Beginning with Pillar 1, Project Overview: Why are mangroves vital, and why is monitoring them urgent? Mangroves serve as nature's coastal storm shields, carbon sinks, and marine nurseries. However, across the Philippines and in La Union specifically, mangrove stands face relentless pressure from aquaculture ponds, urban expansion, and typhoon damage. Currently, local government units rely on manual ocular surveys that are labor-heavy, tidally constrained, and infrequent. Our study solves this by introducing satellite remote sensing and deep learning.</a:t>
            </a:r>
          </a:p>
          <a:p>
            <a:endParaRPr/>
          </a:p>
          <a:p>
            <a:r>
              <a:t>=== KEY MESSAGE ===</a:t>
            </a:r>
          </a:p>
          <a:p>
            <a:r>
              <a:t>Mangrove monitoring needs to transition from manual, sporadic field surveys to automated, high-cadence satellite-driven analysis.</a:t>
            </a:r>
          </a:p>
          <a:p>
            <a:endParaRPr/>
          </a:p>
          <a:p>
            <a:r>
              <a:t>=== TECHNICAL EXPLANATION ===</a:t>
            </a:r>
          </a:p>
          <a:p>
            <a:r>
              <a:t>Sentinel-2 provides 10-meter spatial resolution with a 5-day revisit cadence freely from the European Space Agency, while deep learning architectures like U-Net can generalize spatial-contextual patterns far better than traditional pixel-based thresholding.</a:t>
            </a:r>
          </a:p>
          <a:p>
            <a:endParaRPr/>
          </a:p>
          <a:p>
            <a:r>
              <a:t>=== LIKELY PANEL Q&amp;A ===</a:t>
            </a:r>
          </a:p>
          <a:p>
            <a:r>
              <a:t>Q: Why not use commercial high-resolution imagery like Planet or Maxar?</a:t>
            </a:r>
          </a:p>
          <a:p>
            <a:r>
              <a:t>A: Sentinel-2 is completely free, open-access, and maintained by Copernicus ESA with regular revisits, making this automated monitoring system economically sustainable for municipal LGU budgets like Aringay MENRO.</a:t>
            </a:r>
          </a:p>
          <a:p>
            <a:endParaRPr/>
          </a:p>
          <a:p>
            <a:r>
              <a:t>=== CAUTION / WHAT NOT TO SAY ===</a:t>
            </a:r>
          </a:p>
          <a:p>
            <a:r>
              <a:t>Do not overstate historical loss statistics unless quoting the literature cited in Chapter 1 of the manuscript.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Here we articulate the core problem. Why hasn't this been solved already? First, Dulao's muddy, tidally inundated terrain makes physical surveys dangerous and incomplete. Second, simple spectral thresholding fails because fishpond algae and terrestrial trees look identical to mangroves in simple pixel bands. Third, even when complex satellite studies are published, they end up as raw code or academic papers that local municipal officers at Aringay MENRO cannot operationalize without specialized GIS tools.</a:t>
            </a:r>
          </a:p>
          <a:p>
            <a:endParaRPr/>
          </a:p>
          <a:p>
            <a:r>
              <a:t>=== KEY MESSAGE ===</a:t>
            </a:r>
          </a:p>
          <a:p>
            <a:r>
              <a:t>The gap is not just algorithmic—it is translational: connecting robust deep learning with an intuitive, accessible municipal software interface.</a:t>
            </a:r>
          </a:p>
          <a:p>
            <a:endParaRPr/>
          </a:p>
          <a:p>
            <a:r>
              <a:t>=== TECHNICAL EXPLANATION ===</a:t>
            </a:r>
          </a:p>
          <a:p>
            <a:r>
              <a:t>U-Net resolves the spectral confusion problem through spatial-contextual convolution, while our Flask/Leaflet web prototype resolves the software adoption barrier.</a:t>
            </a:r>
          </a:p>
          <a:p>
            <a:endParaRPr/>
          </a:p>
          <a:p>
            <a:r>
              <a:t>=== LIKELY PANEL Q&amp;A ===</a:t>
            </a:r>
          </a:p>
          <a:p>
            <a:r>
              <a:t>Q: Why can't MENRO just use Google Earth Pro?</a:t>
            </a:r>
          </a:p>
          <a:p>
            <a:r>
              <a:t>A: Google Earth Pro only provides visual RGB composite images without analytical spectral bands (NIR/SWIR), without automated gain/loss area quantification, and without validated classification models tailored to Dulao's canopy.</a:t>
            </a:r>
          </a:p>
          <a:p>
            <a:endParaRPr/>
          </a:p>
          <a:p>
            <a:r>
              <a:t>=== CAUTION / WHAT NOT TO SAY ===</a:t>
            </a:r>
          </a:p>
          <a:p>
            <a:r>
              <a:t>Do not invent criticisms of Aringay MENRO. Frame this respectfully as resource and tool constraints common to municipal environmental departments.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Our study is organized around one overarching general objective and three clear specific objectives. The general objective is to develop the end-to-end automated gain and loss detection system for Barangay Dulao across 2019 to 2024. Specific Objective 1 focuses on data acquisition, band selection, bilinear resampling of Band 11, and NDVI integration. Specific Objective 2 targets the 5-channel U-Net deep learning model, training, and threshold evaluation. Specific Objective 3 covers the Post-Classification Comparison algorithm and the operational software prototype.</a:t>
            </a:r>
          </a:p>
          <a:p>
            <a:endParaRPr/>
          </a:p>
          <a:p>
            <a:r>
              <a:t>=== KEY MESSAGE ===</a:t>
            </a:r>
          </a:p>
          <a:p>
            <a:r>
              <a:t>Each specific objective directly addresses one pillar of the project: Data/Features -&gt; Deep Learning Model -&gt; Software Prototype.</a:t>
            </a:r>
          </a:p>
          <a:p>
            <a:endParaRPr/>
          </a:p>
          <a:p>
            <a:r>
              <a:t>=== TECHNICAL EXPLANATION ===</a:t>
            </a:r>
          </a:p>
          <a:p>
            <a:r>
              <a:t>The three objectives mirror the Software Engineering 2 project life cycle: Data Engineering -&gt; AI Model Development -&gt; User-Facing Application.</a:t>
            </a:r>
          </a:p>
          <a:p>
            <a:endParaRPr/>
          </a:p>
          <a:p>
            <a:r>
              <a:t>=== LIKELY PANEL Q&amp;A ===</a:t>
            </a:r>
          </a:p>
          <a:p>
            <a:r>
              <a:t>Q: Why are there 3 specific objectives?</a:t>
            </a:r>
          </a:p>
          <a:p>
            <a:r>
              <a:t>A: They correspond to the three core technical components of the thesis proposal: data pipeline, deep learning segmentation, and post-classification decision-support prototype.</a:t>
            </a:r>
          </a:p>
          <a:p>
            <a:endParaRPr/>
          </a:p>
          <a:p>
            <a:r>
              <a:t>=== CAUTION / WHAT NOT TO SAY ===</a:t>
            </a:r>
          </a:p>
          <a:p>
            <a:r>
              <a:t>Ensure you articulate that Specific Objective 2 includes threshold sweeping from 0.05 to 0.95 to identify the optimal operating point.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Turning to Pillar 2: Project Scope. Here we show the exact spatial and temporal delimitations of our research. Our study area is Barangay Dulao in the municipality of Aringay, La Union. The authoritative Region of Interest encompasses exactly 316.74 hectares defined by a 25-vertex boundary polygon. The temporal window spans six consecutive years from 2019 to 2024. Crucially, all satellite imagery was collected strictly between February 1 and April 30. This dry-season window was selected to minimize cloud cover to below 20% and avoid monsoonal cloud masking.</a:t>
            </a:r>
          </a:p>
          <a:p>
            <a:endParaRPr/>
          </a:p>
          <a:p>
            <a:r>
              <a:t>=== KEY MESSAGE ===</a:t>
            </a:r>
          </a:p>
          <a:p>
            <a:r>
              <a:t>The 316.74-hectare 25-point ROI is the exact geometric boundary defined in our spatial schema and recognized by MENRO.</a:t>
            </a:r>
          </a:p>
          <a:p>
            <a:endParaRPr/>
          </a:p>
          <a:p>
            <a:r>
              <a:t>=== TECHNICAL EXPLANATION ===</a:t>
            </a:r>
          </a:p>
          <a:p>
            <a:r>
              <a:t>Dry-season acquisition reduces atmospheric moisture, minimizes cloud cover, and provides consistent sun angles and tidal baselines across years.</a:t>
            </a:r>
          </a:p>
          <a:p>
            <a:endParaRPr/>
          </a:p>
          <a:p>
            <a:r>
              <a:t>=== LIKELY PANEL Q&amp;A ===</a:t>
            </a:r>
          </a:p>
          <a:p>
            <a:r>
              <a:t>Q: Why only February to April?</a:t>
            </a:r>
          </a:p>
          <a:p>
            <a:r>
              <a:t>A: La Union experiences its dry season from February to April. During the wet season, cloud cover consistently exceeds 70-80%, which severely obscures optical satellite sensors.</a:t>
            </a:r>
          </a:p>
          <a:p>
            <a:endParaRPr/>
          </a:p>
          <a:p>
            <a:r>
              <a:t>=== CAUTION / WHAT NOT TO SAY ===</a:t>
            </a:r>
          </a:p>
          <a:p>
            <a:r>
              <a:t>Do NOT mention arbitrary hectares. The exact polygon area calculated in the spatial database and code is 316.74 ha.</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Here we clearly define what is in scope versus what is out of scope. In-scope items encompass the complete end-to-end software pipeline: Sentinel-2 dry-season extraction, 5-channel tensor generation, U-Net semantic segmentation, Post-Classification Comparison for all 15 pairs, interactive web GIS visualization, and automated PDF reporting. Crucially, out-of-scope boundaries include live in-app satellite downloading, species-level distinction (which requires centimeter drone imagery), and wet-season analysis due to dense cloud cover.</a:t>
            </a:r>
          </a:p>
          <a:p>
            <a:endParaRPr/>
          </a:p>
          <a:p>
            <a:r>
              <a:t>=== KEY MESSAGE ===</a:t>
            </a:r>
          </a:p>
          <a:p>
            <a:r>
              <a:t>Establishing explicit project scope boundaries demonstrates engineering maturity and aligns system capabilities with municipal operational realities.</a:t>
            </a:r>
          </a:p>
          <a:p>
            <a:endParaRPr/>
          </a:p>
          <a:p>
            <a:r>
              <a:t>=== TECHNICAL EXPLANATION ===</a:t>
            </a:r>
          </a:p>
          <a:p>
            <a:r>
              <a:t>By focusing on binary mangrove detection at 10m resolution, the system maximizes accuracy while remaining sustainable on standard LGU computers.</a:t>
            </a:r>
          </a:p>
          <a:p>
            <a:endParaRPr/>
          </a:p>
          <a:p>
            <a:r>
              <a:t>=== LIKELY PANEL Q&amp;A ===</a:t>
            </a:r>
          </a:p>
          <a:p>
            <a:r>
              <a:t>Q: Why did you not implement live satellite download directly inside the Flask app?</a:t>
            </a:r>
          </a:p>
          <a:p>
            <a:r>
              <a:t>A: Live satellite ingestion requires heavy API credentials, cloud storage quotas, and intense raster processing that exceeds typical municipal office internet bandwidth and hardware. Pre-processing seasonal composites ensures instant, reliable dashboard responsiveness.</a:t>
            </a:r>
          </a:p>
          <a:p>
            <a:endParaRPr/>
          </a:p>
          <a:p>
            <a:r>
              <a:t>=== CAUTION / WHAT NOT TO SAY ===</a:t>
            </a:r>
          </a:p>
          <a:p>
            <a:r>
              <a:t>Deliver this slide with complete confidence; clear delimitations protect the team from unreasonable panel scope creep.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Advancing to Pillar 3: Software Development Methodology. Our software development lifecycle follows the Iterative and Incremental Development (IID) model, documented on page 11 of our thesis manuscript. Rather than a rigid waterfall approach, IID allowed our team to iteratively refine data ingestion, model architecture, and web interface based on continuous testing and domain feedback from Aringay MENRO.</a:t>
            </a:r>
          </a:p>
          <a:p>
            <a:endParaRPr/>
          </a:p>
          <a:p>
            <a:r>
              <a:t>=== KEY MESSAGE ===</a:t>
            </a:r>
          </a:p>
          <a:p>
            <a:r>
              <a:t>The project follows the 8 discrete phases of the IID framework, advancing from domain requirements to full prototype deployment.</a:t>
            </a:r>
          </a:p>
          <a:p>
            <a:endParaRPr/>
          </a:p>
          <a:p>
            <a:r>
              <a:t>=== TECHNICAL EXPLANATION ===</a:t>
            </a:r>
          </a:p>
          <a:p>
            <a:r>
              <a:t>The IID model is widely recognized in software engineering for AI systems where experimental model iterations must align with evolving software requirements.</a:t>
            </a:r>
          </a:p>
          <a:p>
            <a:endParaRPr/>
          </a:p>
          <a:p>
            <a:r>
              <a:t>=== LIKELY PANEL Q&amp;A ===</a:t>
            </a:r>
          </a:p>
          <a:p>
            <a:r>
              <a:t>Q: Why did you choose IID over standard Waterfall?</a:t>
            </a:r>
          </a:p>
          <a:p>
            <a:r>
              <a:t>A: Deep learning development is inherently experimental. Training hyperparameters, loss stabilization, and threshold selection require iterative tuning cycles that cannot be frozen in a single waterfall pass.</a:t>
            </a:r>
          </a:p>
          <a:p>
            <a:endParaRPr/>
          </a:p>
          <a:p>
            <a:r>
              <a:t>=== CAUTION / WHAT NOT TO SAY ===</a:t>
            </a:r>
          </a:p>
          <a:p>
            <a:r>
              <a:t>Refer to Figure 1 on the left, which is taken directly from page 11 of the thesis manuscript.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Continuing with methodology, Slide 9 details our data preparation and partitioning protocol. On the left, we isolate Bands 3, 4, 8, and 11, bilinearly resample Band 11 from 20m to 10m, calculate NDVI, and construct 256x256 patches. On the right, we partition our patch dataset into 80% for training and 20% for validation. We emphasize that this 80/20 partition was adopted by our research team as the experimental protocol for this study. The model is optimized using Adam with a learning rate of 0.001, BCE loss, and EarlyStopping with patience 10.</a:t>
            </a:r>
          </a:p>
          <a:p>
            <a:endParaRPr/>
          </a:p>
          <a:p>
            <a:r>
              <a:t>=== KEY MESSAGE ===</a:t>
            </a:r>
          </a:p>
          <a:p>
            <a:r>
              <a:t>80/20 data partition is our study-specific experimental protocol; training uses Adam (lr=0.001), BCE loss, EarlyStopping (patience=10), and a 0.05–0.95 threshold sweep.</a:t>
            </a:r>
          </a:p>
          <a:p>
            <a:endParaRPr/>
          </a:p>
          <a:p>
            <a:r>
              <a:t>=== TECHNICAL EXPLANATION ===</a:t>
            </a:r>
          </a:p>
          <a:p>
            <a:r>
              <a:t>Binary Cross-Entropy penalizes incorrect binary probabilities pixel by pixel, while EarlyStopping terminates training once the validation loss stops improving.</a:t>
            </a:r>
          </a:p>
          <a:p>
            <a:endParaRPr/>
          </a:p>
          <a:p>
            <a:r>
              <a:t>=== LIKELY PANEL Q&amp;A ===</a:t>
            </a:r>
          </a:p>
          <a:p>
            <a:r>
              <a:t>Q: Why did you choose an 80/20 split instead of 70/30 or k-fold cross-validation?</a:t>
            </a:r>
          </a:p>
          <a:p>
            <a:r>
              <a:t>A: The 80/20 split is our study-specific experimental partitioning protocol. It provides sufficient training volume to optimize deep convolutional kernels while reserving an independent 20% holdout set to evaluate generalization without spatial leakage.</a:t>
            </a:r>
          </a:p>
          <a:p>
            <a:endParaRPr/>
          </a:p>
          <a:p>
            <a:r>
              <a:t>=== CAUTION / WHAT NOT TO SAY ===</a:t>
            </a:r>
          </a:p>
          <a:p>
            <a:r>
              <a:t>CRITICAL DEFENSE RULE: NEVER attribute the 80/20 split to Ronneberger or external authors. State clearly: 'The 80/20 split is our study-specific experimental partitioning protocol.'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Slide 10 covers our dual-track testing and evaluation methodology: academic model metrics on the left, and software verification on the right. For the AI model, we employ Precision, Recall, F1-score (or Dice coefficient), Intersection over Union (IoU), and mAP across a threshold sweep from 0.05 to 0.95. For the software engineering track, we wrote automated test scripts verifying mathematical partition invariance: the sum of Gain, Loss, Stable Mangrove, and Stable Non-mangrove must always equal the total 316.74-hectare area of Dulao without a single pixel missing or double-counted.</a:t>
            </a:r>
          </a:p>
          <a:p>
            <a:endParaRPr/>
          </a:p>
          <a:p>
            <a:r>
              <a:t>=== KEY MESSAGE ===</a:t>
            </a:r>
          </a:p>
          <a:p>
            <a:r>
              <a:t>Testing covers both deep learning segmentation fidelity (IoU/F1) and software integrity (invariance tests, API contracts, PDF generation).</a:t>
            </a:r>
          </a:p>
          <a:p>
            <a:endParaRPr/>
          </a:p>
          <a:p>
            <a:r>
              <a:t>=== TECHNICAL EXPLANATION ===</a:t>
            </a:r>
          </a:p>
          <a:p>
            <a:r>
              <a:t>Threshold sweeping from 0.05 to 0.95 ensures that the selected cutoff maximizes the F1-score rather than assuming an arbitrary 0.50 cutoff.</a:t>
            </a:r>
          </a:p>
          <a:p>
            <a:endParaRPr/>
          </a:p>
          <a:p>
            <a:r>
              <a:t>=== LIKELY PANEL Q&amp;A ===</a:t>
            </a:r>
          </a:p>
          <a:p>
            <a:r>
              <a:t>Q: What are your actual model accuracy numbers right now?</a:t>
            </a:r>
          </a:p>
          <a:p>
            <a:r>
              <a:t>A: The values currently loaded in the prototype are demonstration benchmark values used to validate the software and API pipeline. Final empirical metrics will be computed once the independent MENRO ground-truth mask validation is finalized.</a:t>
            </a:r>
          </a:p>
          <a:p>
            <a:endParaRPr/>
          </a:p>
          <a:p>
            <a:r>
              <a:t>=== CAUTION / WHAT NOT TO SAY ===</a:t>
            </a:r>
          </a:p>
          <a:p>
            <a:r>
              <a:t>CRITICAL CAUTION: Do NOT present demo numbers like F1=0.874 as final empirical findings. Clearly state they are prototype validation values.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Advancing to Pillar 4: Software Requirements and System Models. Slide 11 establishes our functional and non-functional requirements alongside our Use Case model. We identified five core functional requirements: data ingestion, pairwise PCC execution, interactive cartography, statistical analytics, and automated PDF export. Our non-functional requirements emphasize sub-2-second API response times, zero GIS training required for municipal officers, and 100% mathematical area conservation. The diagram on the right models user interactions between the primary municipal officer and the research administrator.</a:t>
            </a:r>
          </a:p>
          <a:p>
            <a:endParaRPr/>
          </a:p>
          <a:p>
            <a:r>
              <a:t>=== KEY MESSAGE ===</a:t>
            </a:r>
          </a:p>
          <a:p>
            <a:r>
              <a:t>Clear functional and non-functional requirements ensure the software meets municipal user needs and strict engineering constraints.</a:t>
            </a:r>
          </a:p>
          <a:p>
            <a:endParaRPr/>
          </a:p>
          <a:p>
            <a:r>
              <a:t>=== TECHNICAL EXPLANATION ===</a:t>
            </a:r>
          </a:p>
          <a:p>
            <a:r>
              <a:t>The use case diagram highlights the boundary between the web interface and the underlying geospatial analytics engine.</a:t>
            </a:r>
          </a:p>
          <a:p>
            <a:endParaRPr/>
          </a:p>
          <a:p>
            <a:r>
              <a:t>=== LIKELY PANEL Q&amp;A ===</a:t>
            </a:r>
          </a:p>
          <a:p>
            <a:r>
              <a:t>Q: How did you validate that non-functional performance requirements are met?</a:t>
            </a:r>
          </a:p>
          <a:p>
            <a:r>
              <a:t>A: We benchmarked API response times locally using Python request timers; GeoJSON payloads and statistics return in under 350 milliseconds, well within our 2-second threshold.</a:t>
            </a:r>
          </a:p>
          <a:p>
            <a:endParaRPr/>
          </a:p>
          <a:p>
            <a:r>
              <a:t>=== CAUTION / WHAT NOT TO SAY ===</a:t>
            </a:r>
          </a:p>
          <a:p>
            <a:r>
              <a:t>Keep the focus on how requirements directly serve the municipal user persona.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Slide 12 demonstrates the three-tier system architecture of our prototype. Tier 1 handles Data and Preprocessing, ingesting Sentinel-2 imagery, extracting spectral tensors, and reading the 25-point Dulao ROI boundary. Tier 2 is our Python Flask Backend, hosting our REST API endpoints and our automated ReportLab PDF generation engine. Tier 3 is the responsive web frontend powered by Leaflet.js and Chart.js, designed specifically for non-technical municipal operators.</a:t>
            </a:r>
          </a:p>
          <a:p>
            <a:endParaRPr/>
          </a:p>
          <a:p>
            <a:r>
              <a:t>=== KEY MESSAGE ===</a:t>
            </a:r>
          </a:p>
          <a:p>
            <a:r>
              <a:t>The architecture is fully decoupled: the backend exposes REST API endpoints that any client can consume, ensuring modularity and maintainability.</a:t>
            </a:r>
          </a:p>
          <a:p>
            <a:endParaRPr/>
          </a:p>
          <a:p>
            <a:r>
              <a:t>=== TECHNICAL EXPLANATION ===</a:t>
            </a:r>
          </a:p>
          <a:p>
            <a:r>
              <a:t>The codebase follows MVC and clean code standards with centralized configuration in config.py.</a:t>
            </a:r>
          </a:p>
          <a:p>
            <a:endParaRPr/>
          </a:p>
          <a:p>
            <a:r>
              <a:t>=== LIKELY PANEL Q&amp;A ===</a:t>
            </a:r>
          </a:p>
          <a:p>
            <a:r>
              <a:t>Q: Why choose Flask instead of Django or React?</a:t>
            </a:r>
          </a:p>
          <a:p>
            <a:r>
              <a:t>A: Flask provides a lightweight, highly responsive WSGI server that easily integrates NumPy, PyTorch/TensorFlow, and ReportLab in a single Python runtime without the excessive overhead of Django or a decoupled Node.js build step.</a:t>
            </a:r>
          </a:p>
          <a:p>
            <a:endParaRPr/>
          </a:p>
          <a:p>
            <a:r>
              <a:t>=== CAUTION / WHAT NOT TO SAY ===</a:t>
            </a:r>
          </a:p>
          <a:p>
            <a:r>
              <a:t>Do not claim that the app is hosted on AWS/cloud currently. State that it is running locally on Flask WSGI development server.</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Slide 13 details our feature engineering model. We construct a 5-dimensional tensor input. Why 5 channels? Bands 3, 4, and 8 provide green, red, and near-infrared reflectance. Band 11 provides short-wave infrared, which is vital for water-soil discrimination. On top of these, we explicitly calculate NDVI: (B8 minus B4) divided by (B8 plus B4), normalized to 0 to 1. This 5-channel stack guarantees that our neural network has access to both raw reflectances and derived vegetation health.</a:t>
            </a:r>
          </a:p>
          <a:p>
            <a:endParaRPr/>
          </a:p>
          <a:p>
            <a:r>
              <a:t>=== KEY MESSAGE ===</a:t>
            </a:r>
          </a:p>
          <a:p>
            <a:r>
              <a:t>The 5-channel tensor [B3, B4, B8, B11, NDVI] combines raw electromagnetic reflectances with biophysical indices.</a:t>
            </a:r>
          </a:p>
          <a:p>
            <a:endParaRPr/>
          </a:p>
          <a:p>
            <a:r>
              <a:t>=== TECHNICAL EXPLANATION ===</a:t>
            </a:r>
          </a:p>
          <a:p>
            <a:r>
              <a:t>Bilinear resampling of Band 11 aligns 20m pixels to 10m without spatial distortion.</a:t>
            </a:r>
          </a:p>
          <a:p>
            <a:endParaRPr/>
          </a:p>
          <a:p>
            <a:r>
              <a:t>=== LIKELY PANEL Q&amp;A ===</a:t>
            </a:r>
          </a:p>
          <a:p>
            <a:r>
              <a:t>Q: Why include NDVI if the model already has B4 and B8?</a:t>
            </a:r>
          </a:p>
          <a:p>
            <a:r>
              <a:t>A: Explicitly including NDVI provides a pre-computed non-linear biological prior that stabilizes early convolutional layer training and speeds up convergence.</a:t>
            </a:r>
          </a:p>
          <a:p>
            <a:endParaRPr/>
          </a:p>
          <a:p>
            <a:r>
              <a:t>=== CAUTION / WHAT NOT TO SAY ===</a:t>
            </a:r>
          </a:p>
          <a:p>
            <a:r>
              <a:t>Ensure you mention that all 5 channels are normalized to the [0, 1] range.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Slide 14 details our AI model: a modified U-Net architecture adapted from Ronneberger et al. and configured specifically for 5-channel inputs. The figure on the left is taken directly from page 15 of our thesis proposal. It follows a symmetrical encoder-decoder structure. The encoder extracts semantic features through successive 3x3 convolutions and 2x2 max-pooling. The decoder restores the spatial resolution back to 256x256. Most importantly, skip connections copy high-resolution spatial details directly across the U, ensuring sharp, precise canopy boundaries rather than blurry blobs.</a:t>
            </a:r>
          </a:p>
          <a:p>
            <a:endParaRPr/>
          </a:p>
          <a:p>
            <a:r>
              <a:t>=== KEY MESSAGE ===</a:t>
            </a:r>
          </a:p>
          <a:p>
            <a:r>
              <a:t>The model receives a 256x256x5 tensor and outputs a 256x256x1 binary probability map via a sigmoid activation function.</a:t>
            </a:r>
          </a:p>
          <a:p>
            <a:endParaRPr/>
          </a:p>
          <a:p>
            <a:r>
              <a:t>=== TECHNICAL EXPLANATION ===</a:t>
            </a:r>
          </a:p>
          <a:p>
            <a:r>
              <a:t>Skip connections solve the problem of spatial information loss that occurs during downsampling, which is essential for delineating narrow mangrove fringe strips along tidal canals.</a:t>
            </a:r>
          </a:p>
          <a:p>
            <a:endParaRPr/>
          </a:p>
          <a:p>
            <a:r>
              <a:t>=== LIKELY PANEL Q&amp;A ===</a:t>
            </a:r>
          </a:p>
          <a:p>
            <a:r>
              <a:t>Q: Why U-Net instead of DeepLabV3+ or YOLO?</a:t>
            </a:r>
          </a:p>
          <a:p>
            <a:r>
              <a:t>A: Mangrove canopies in Dulao often occur in narrow linear fringing strips along estuaries. U-Net's skip connections excel at preserving pixel-level boundary fidelity for dense semantic segmentation, whereas YOLO is for bounding-box object detection.</a:t>
            </a:r>
          </a:p>
          <a:p>
            <a:endParaRPr/>
          </a:p>
          <a:p>
            <a:r>
              <a:t>=== CAUTION / WHAT NOT TO SAY ===</a:t>
            </a:r>
          </a:p>
          <a:p>
            <a:r>
              <a:t>Highlight that the input layer was specifically modified from standard 3-channel RGB to 5 channels to accept our multispectral stack.</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 PRESENTER SCRIPT ===</a:t>
            </a:r>
          </a:p>
          <a:p>
            <a:r>
              <a:rPr dirty="0"/>
              <a:t>Slide 15 presents our change detection mathematical model: Post-Classification Comparison, or PCC. Rather than subtracting raw spectral pixels which is easily corrupted by atmospheric differences, PCC classifies each annual scene independently, and then performs a pixel-by-pixel cross-tabulation between Year T1 and Year T2. This generates a clean transition matrix with four discrete classes: Mangrove Gain, Mangrove Loss, Stable Mangrove, and Stable Non-mangrove.</a:t>
            </a:r>
          </a:p>
          <a:p>
            <a:endParaRPr dirty="0"/>
          </a:p>
          <a:p>
            <a:r>
              <a:rPr dirty="0"/>
              <a:t>=== KEY MESSAGE ===</a:t>
            </a:r>
          </a:p>
          <a:p>
            <a:r>
              <a:rPr dirty="0"/>
              <a:t>Post-Classification Comparison eliminates false-change noise from seasonal sensor illumination and tidal water fluctuations by comparing classified categorical masks.</a:t>
            </a:r>
          </a:p>
          <a:p>
            <a:endParaRPr dirty="0"/>
          </a:p>
          <a:p>
            <a:r>
              <a:rPr dirty="0"/>
              <a:t>=== TECHNICAL EXPLANATION ===</a:t>
            </a:r>
          </a:p>
          <a:p>
            <a:r>
              <a:rPr dirty="0"/>
              <a:t>Each 10m x 10m pixel equals 0.01 hectares. Multiplying classified pixel counts by 0.01 directly gives the total hectarage for Gain, Loss, and Stable cover.</a:t>
            </a:r>
          </a:p>
          <a:p>
            <a:endParaRPr dirty="0"/>
          </a:p>
          <a:p>
            <a:r>
              <a:rPr dirty="0"/>
              <a:t>=== LIKELY PANEL Q&amp;A ===</a:t>
            </a:r>
          </a:p>
          <a:p>
            <a:r>
              <a:rPr dirty="0"/>
              <a:t>Q: Why PCC instead of Image Differencing or CVA?</a:t>
            </a:r>
          </a:p>
          <a:p>
            <a:r>
              <a:rPr dirty="0"/>
              <a:t>A: Direct image differencing compares raw spectral values, which are easily biased by differing tide levels or atmospheric moisture. PCC compares validated thematic classifications, yielding explicit 'from-to' categorical transitions.</a:t>
            </a:r>
          </a:p>
          <a:p>
            <a:endParaRPr dirty="0"/>
          </a:p>
          <a:p>
            <a:r>
              <a:rPr dirty="0"/>
              <a:t>=== CAUTION / WHAT NOT TO SAY ===</a:t>
            </a:r>
          </a:p>
          <a:p>
            <a:r>
              <a:rPr dirty="0"/>
              <a:t>Emphasize that the prototype supports all 15 pairwise annual combinations across the 2019 to 2024 period.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Moving into Pillar 5: Software Demo. Here we show the user interface architecture of our working prototype. The design emphasizes clarity, accessibility, and high visual contrast. On the left, municipal officers have intuitive controls: selecting baseline year T1 and comparison year T2. The central viewport renders the interactive map with the exact 25-vertex Dulao boundary and color-coded gain and loss polygons. In the lower drawer, Chart.js displays the longitudinal canopy trajectory. A prominent export button allows officers to generate a formal PDF report in one click.</a:t>
            </a:r>
          </a:p>
          <a:p>
            <a:endParaRPr/>
          </a:p>
          <a:p>
            <a:r>
              <a:t>=== KEY MESSAGE ===</a:t>
            </a:r>
          </a:p>
          <a:p>
            <a:r>
              <a:t>The prototype translates complex geospatial deep learning into an intuitive, zero-code interface for municipal environmental officers.</a:t>
            </a:r>
          </a:p>
          <a:p>
            <a:endParaRPr/>
          </a:p>
          <a:p>
            <a:r>
              <a:t>=== TECHNICAL EXPLANATION ===</a:t>
            </a:r>
          </a:p>
          <a:p>
            <a:r>
              <a:t>All controls feature clear state feedback, tooltips, and responsive layout.</a:t>
            </a:r>
          </a:p>
          <a:p>
            <a:endParaRPr/>
          </a:p>
          <a:p>
            <a:r>
              <a:t>=== LIKELY PANEL Q&amp;A ===</a:t>
            </a:r>
          </a:p>
          <a:p>
            <a:r>
              <a:t>Q: Does the user need GIS training to operate this system?</a:t>
            </a:r>
          </a:p>
          <a:p>
            <a:r>
              <a:t>A: No. The user only selects years from dropdowns and clicks 'Run Change Analysis.' All projection transformations, pixel calculations, and polygon vectorizations happen automatically in the backend.</a:t>
            </a:r>
          </a:p>
          <a:p>
            <a:endParaRPr/>
          </a:p>
          <a:p>
            <a:r>
              <a:t>=== CAUTION / WHAT NOT TO SAY ===</a:t>
            </a:r>
          </a:p>
          <a:p>
            <a:r>
              <a:t>Point out the 'DEMO MODE' banner in the top right to reinforce academic transparency.</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Members of the panel, we now walk through the live operational workflow of our prototype: First, selecting the temporal pair—in this demo, comparing 2019 baseline with 2024. Second, triggering the backend change analysis. Third, interacting with the Leaflet web map to inspect green gain zones and red loss zones alongside historical charts. Fourth, generating the official Aringay MENRO PDF report. Please note that the system is operating in demonstration mode to showcase full architectural readiness.</a:t>
            </a:r>
          </a:p>
          <a:p>
            <a:endParaRPr/>
          </a:p>
          <a:p>
            <a:r>
              <a:t>=== KEY MESSAGE ===</a:t>
            </a:r>
          </a:p>
          <a:p>
            <a:r>
              <a:t>Demonstration flow: Select Years -&gt; Run Analysis -&gt; Visualize Cartography -&gt; Export PDF Report.</a:t>
            </a:r>
          </a:p>
          <a:p>
            <a:endParaRPr/>
          </a:p>
          <a:p>
            <a:r>
              <a:t>=== TECHNICAL EXPLANATION ===</a:t>
            </a:r>
          </a:p>
          <a:p>
            <a:r>
              <a:t>Emphasize the speed and responsiveness of the Flask backend and Leaflet client during the demo.</a:t>
            </a:r>
          </a:p>
          <a:p>
            <a:endParaRPr/>
          </a:p>
          <a:p>
            <a:r>
              <a:t>=== LIKELY PANEL Q&amp;A ===</a:t>
            </a:r>
          </a:p>
          <a:p>
            <a:r>
              <a:t>Q: Why are the numbers labeled 'Demo Data' in the live demo?</a:t>
            </a:r>
          </a:p>
          <a:p>
            <a:r>
              <a:t>A: Because scientific integrity demands that we clearly separate software engineering functional readiness from empirical research findings. The entire software pipeline is functional; final numbers await MENRO ground-truth mask validation.</a:t>
            </a:r>
          </a:p>
          <a:p>
            <a:endParaRPr/>
          </a:p>
          <a:p>
            <a:r>
              <a:t>=== CAUTION / WHAT NOT TO SAY ===</a:t>
            </a:r>
          </a:p>
          <a:p>
            <a:r>
              <a:t>Keep the live demo tightly focused on the 4 steps without getting sidetracked by secondary settings.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Slide 18 provides total transparency regarding our current project status. The entire software engineering stack—frontend, Flask backend, REST API, ReportLab engine, and preprocessing scripts—is 100% implemented and functional. What is currently pending is the independent ground-truth validation by Aringay MENRO personnel. We intentionally paused final model training until MENRO signs off on the reference masks, because training a deep learning model on unvalidated ground truth would compromise scientific rigor. Once MENRO completes mask validation, final weights will be generated on Colab and dropped directly into the model directory.</a:t>
            </a:r>
          </a:p>
          <a:p>
            <a:endParaRPr/>
          </a:p>
          <a:p>
            <a:r>
              <a:t>=== KEY MESSAGE ===</a:t>
            </a:r>
          </a:p>
          <a:p>
            <a:r>
              <a:t>Distinguish clearly between what is Implemented (software, pipeline, architecture) and what is Pending (MENRO label sign-off, final empirical weights).</a:t>
            </a:r>
          </a:p>
          <a:p>
            <a:endParaRPr/>
          </a:p>
          <a:p>
            <a:r>
              <a:t>=== TECHNICAL EXPLANATION ===</a:t>
            </a:r>
          </a:p>
          <a:p>
            <a:r>
              <a:t>Independent ground-truth validation is a methodological strength and quality assurance safeguard, not a deficiency.</a:t>
            </a:r>
          </a:p>
          <a:p>
            <a:endParaRPr/>
          </a:p>
          <a:p>
            <a:r>
              <a:t>=== LIKELY PANEL Q&amp;A ===</a:t>
            </a:r>
          </a:p>
          <a:p>
            <a:r>
              <a:t>Q: Why didn't you train the model with self-annotated masks?</a:t>
            </a:r>
          </a:p>
          <a:p>
            <a:r>
              <a:t>A: Self-annotated masks without local forestry validation risk introducing subjective bias. Aringay MENRO personnel possess ground reality knowledge of fishpond permits, replanting sites, and local species distribution.</a:t>
            </a:r>
          </a:p>
          <a:p>
            <a:endParaRPr/>
          </a:p>
          <a:p>
            <a:r>
              <a:t>=== CAUTION / WHAT NOT TO SAY ===</a:t>
            </a:r>
          </a:p>
          <a:p>
            <a:r>
              <a:t>Deliver this slide with complete confidence. Academic panels respect researchers who protect data integrity.</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In conclusion, our research has successfully designed and built the complete technical architecture for automated mangrove gain and loss monitoring in Barangay Dulao. The immediate next steps are clearly defined and directly executable: 1) Finalize independent ground-truth mask sign-off with MENRO; 2) Train the 5-channel U-Net on Google Colab Pro GPUs; 3) Execute the empirical threshold sweep; 4) Flip DEMO_MODE to False to load live model predictions; and 5) Conduct user handover with Aringay municipal personnel.</a:t>
            </a:r>
          </a:p>
          <a:p>
            <a:endParaRPr/>
          </a:p>
          <a:p>
            <a:r>
              <a:t>=== KEY MESSAGE ===</a:t>
            </a:r>
          </a:p>
          <a:p>
            <a:r>
              <a:t>The project has achieved its primary engineering and proposal objectives; the final empirical steps are mapped out in a clear 5-step roadmap.</a:t>
            </a:r>
          </a:p>
          <a:p>
            <a:endParaRPr/>
          </a:p>
          <a:p>
            <a:r>
              <a:t>=== TECHNICAL EXPLANATION ===</a:t>
            </a:r>
          </a:p>
          <a:p>
            <a:r>
              <a:t>Transitioning from prototype to production requires only replacing the mock data with the validated model weights file.</a:t>
            </a:r>
          </a:p>
          <a:p>
            <a:endParaRPr/>
          </a:p>
          <a:p>
            <a:r>
              <a:t>=== LIKELY PANEL Q&amp;A ===</a:t>
            </a:r>
          </a:p>
          <a:p>
            <a:r>
              <a:t>Q: When do you expect final model training to finish?</a:t>
            </a:r>
          </a:p>
          <a:p>
            <a:r>
              <a:t>A: Once MENRO completes the ground-truth mask sign-off, GPU training on Google Colab Pro takes approximately 2 to 3 hours for 50 epochs with EarlyStopping.</a:t>
            </a:r>
          </a:p>
          <a:p>
            <a:endParaRPr/>
          </a:p>
          <a:p>
            <a:r>
              <a:t>=== CAUTION / WHAT NOT TO SAY ===</a:t>
            </a:r>
          </a:p>
          <a:p>
            <a:r>
              <a:t>Keep the conclusion positive, forward-looking, and academically grounded.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 PRESENTER SCRIPT ===</a:t>
            </a:r>
          </a:p>
          <a:p>
            <a:r>
              <a:t>Thank you, respected members of the panel. That concludes our formal presentation. We now welcome your questions, evaluations, and guidance on our research methodology, deep learning architecture, and software prototype.</a:t>
            </a:r>
          </a:p>
          <a:p>
            <a:endParaRPr/>
          </a:p>
          <a:p>
            <a:r>
              <a:t>=== KEY MESSAGE ===</a:t>
            </a:r>
          </a:p>
          <a:p>
            <a:r>
              <a:t>Gracious, confident opening for the 10-minute Q&amp;A session.</a:t>
            </a:r>
          </a:p>
          <a:p>
            <a:endParaRPr/>
          </a:p>
          <a:p>
            <a:r>
              <a:t>=== TECHNICAL EXPLANATION ===</a:t>
            </a:r>
          </a:p>
          <a:p>
            <a:r>
              <a:t>The quick reference guide on the right provides immediate answers to core parameters if panel members ask for specific numbers.</a:t>
            </a:r>
          </a:p>
          <a:p>
            <a:endParaRPr/>
          </a:p>
          <a:p>
            <a:r>
              <a:t>=== LIKELY PANEL Q&amp;A ===</a:t>
            </a:r>
          </a:p>
          <a:p>
            <a:r>
              <a:t>Q: Panel opening questions.</a:t>
            </a:r>
          </a:p>
          <a:p>
            <a:r>
              <a:t>A: Remain calm, acknowledge the question clearly, and divide answers according to individual member assignments (e.g. Nash on architecture/software, Reymark on preprocessing/NDVI, Elaiza on methodology/IID, Lyka on change detection/metrics).</a:t>
            </a:r>
          </a:p>
          <a:p>
            <a:endParaRPr/>
          </a:p>
          <a:p>
            <a:r>
              <a:t>=== CAUTION / WHAT NOT TO SAY ===</a:t>
            </a:r>
          </a:p>
          <a:p>
            <a:r>
              <a:t>Never argue with panel members. Acknowledge constructive criticism as valuable guidance for the manuscript refinement.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914400"/>
            <a:ext cx="13716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143000"/>
            <a:ext cx="10698480" cy="365760"/>
          </a:xfrm>
          <a:prstGeom prst="rect">
            <a:avLst/>
          </a:prstGeom>
          <a:noFill/>
        </p:spPr>
        <p:txBody>
          <a:bodyPr wrap="none">
            <a:spAutoFit/>
          </a:bodyPr>
          <a:lstStyle/>
          <a:p>
            <a:pPr>
              <a:defRPr sz="1200" b="1">
                <a:solidFill>
                  <a:srgbClr val="A7F3D0"/>
                </a:solidFill>
              </a:defRPr>
            </a:pPr>
            <a:r>
              <a:t>BACHELOR OF SCIENCE IN COMPUTER SCIENCE — FINAL THESIS PRESENTATION</a:t>
            </a:r>
          </a:p>
        </p:txBody>
      </p:sp>
      <p:sp>
        <p:nvSpPr>
          <p:cNvPr id="5" name="TextBox 4"/>
          <p:cNvSpPr txBox="1"/>
          <p:nvPr/>
        </p:nvSpPr>
        <p:spPr>
          <a:xfrm>
            <a:off x="731520" y="1554480"/>
            <a:ext cx="10698480" cy="1828800"/>
          </a:xfrm>
          <a:prstGeom prst="rect">
            <a:avLst/>
          </a:prstGeom>
          <a:noFill/>
        </p:spPr>
        <p:txBody>
          <a:bodyPr wrap="square">
            <a:spAutoFit/>
          </a:bodyPr>
          <a:lstStyle/>
          <a:p>
            <a:pPr>
              <a:defRPr sz="2800" b="1">
                <a:solidFill>
                  <a:srgbClr val="FFFFFF"/>
                </a:solidFill>
                <a:latin typeface="Calibri"/>
              </a:defRPr>
            </a:pPr>
            <a:r>
              <a:t>Deep Learning-Based Detection of Mangrove Gain and Loss</a:t>
            </a:r>
            <a:br/>
            <a:r>
              <a:t>in Barangay Dulao, Aringay, La Union</a:t>
            </a:r>
            <a:br/>
            <a:r>
              <a:t>Using U-Net and Sentinel-2 Imagery</a:t>
            </a:r>
          </a:p>
        </p:txBody>
      </p:sp>
      <p:sp>
        <p:nvSpPr>
          <p:cNvPr id="6" name="Rectangle 5"/>
          <p:cNvSpPr/>
          <p:nvPr/>
        </p:nvSpPr>
        <p:spPr>
          <a:xfrm>
            <a:off x="731520" y="3657600"/>
            <a:ext cx="10728655"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3931920"/>
            <a:ext cx="3291840" cy="2468880"/>
          </a:xfrm>
          <a:prstGeom prst="rect">
            <a:avLst/>
          </a:prstGeom>
          <a:noFill/>
        </p:spPr>
        <p:txBody>
          <a:bodyPr wrap="none">
            <a:spAutoFit/>
          </a:bodyPr>
          <a:lstStyle/>
          <a:p>
            <a:pPr>
              <a:defRPr sz="1100" b="1">
                <a:solidFill>
                  <a:srgbClr val="A7F3D0"/>
                </a:solidFill>
              </a:defRPr>
            </a:pPr>
            <a:r>
              <a:t>STUDENT RESEARCHERS</a:t>
            </a:r>
          </a:p>
          <a:p>
            <a:pPr>
              <a:defRPr sz="1200">
                <a:solidFill>
                  <a:srgbClr val="FFFFFF"/>
                </a:solidFill>
              </a:defRPr>
            </a:pPr>
            <a:r>
              <a:t>•  Nash Francis M. Caluza</a:t>
            </a:r>
          </a:p>
          <a:p>
            <a:pPr>
              <a:defRPr sz="1200">
                <a:solidFill>
                  <a:srgbClr val="FFFFFF"/>
                </a:solidFill>
              </a:defRPr>
            </a:pPr>
            <a:r>
              <a:t>•  Reymark O. Boado</a:t>
            </a:r>
          </a:p>
          <a:p>
            <a:pPr>
              <a:defRPr sz="1200">
                <a:solidFill>
                  <a:srgbClr val="FFFFFF"/>
                </a:solidFill>
              </a:defRPr>
            </a:pPr>
            <a:r>
              <a:t>•  Elaiza Praise Y. Milana</a:t>
            </a:r>
          </a:p>
          <a:p>
            <a:pPr>
              <a:defRPr sz="1200">
                <a:solidFill>
                  <a:srgbClr val="FFFFFF"/>
                </a:solidFill>
              </a:defRPr>
            </a:pPr>
            <a:r>
              <a:t>•  Lyka B. Vejano</a:t>
            </a:r>
          </a:p>
        </p:txBody>
      </p:sp>
      <p:sp>
        <p:nvSpPr>
          <p:cNvPr id="8" name="TextBox 7"/>
          <p:cNvSpPr txBox="1"/>
          <p:nvPr/>
        </p:nvSpPr>
        <p:spPr>
          <a:xfrm>
            <a:off x="4206240" y="3931920"/>
            <a:ext cx="3200400" cy="2468880"/>
          </a:xfrm>
          <a:prstGeom prst="rect">
            <a:avLst/>
          </a:prstGeom>
          <a:noFill/>
        </p:spPr>
        <p:txBody>
          <a:bodyPr wrap="none">
            <a:spAutoFit/>
          </a:bodyPr>
          <a:lstStyle/>
          <a:p>
            <a:pPr>
              <a:defRPr sz="1100" b="1">
                <a:solidFill>
                  <a:srgbClr val="A7F3D0"/>
                </a:solidFill>
              </a:defRPr>
            </a:pPr>
            <a:r>
              <a:t>THESIS ADVISER</a:t>
            </a:r>
          </a:p>
          <a:p>
            <a:pPr>
              <a:defRPr sz="1300" b="1">
                <a:solidFill>
                  <a:srgbClr val="FFFFFF"/>
                </a:solidFill>
              </a:defRPr>
            </a:pPr>
            <a:r>
              <a:t>Dr. Fernan H. Mendoza</a:t>
            </a:r>
          </a:p>
          <a:p>
            <a:pPr>
              <a:defRPr sz="1100">
                <a:solidFill>
                  <a:srgbClr val="D1FAE5"/>
                </a:solidFill>
              </a:defRPr>
            </a:pPr>
            <a:r>
              <a:t>Faculty Adviser</a:t>
            </a:r>
            <a:br/>
            <a:r>
              <a:t>College of Computer Science</a:t>
            </a:r>
          </a:p>
        </p:txBody>
      </p:sp>
      <p:sp>
        <p:nvSpPr>
          <p:cNvPr id="9" name="TextBox 8"/>
          <p:cNvSpPr txBox="1"/>
          <p:nvPr/>
        </p:nvSpPr>
        <p:spPr>
          <a:xfrm>
            <a:off x="7589520" y="3931920"/>
            <a:ext cx="3840480" cy="2468880"/>
          </a:xfrm>
          <a:prstGeom prst="rect">
            <a:avLst/>
          </a:prstGeom>
          <a:noFill/>
        </p:spPr>
        <p:txBody>
          <a:bodyPr wrap="none">
            <a:spAutoFit/>
          </a:bodyPr>
          <a:lstStyle/>
          <a:p>
            <a:pPr>
              <a:defRPr sz="1100" b="1">
                <a:solidFill>
                  <a:srgbClr val="A7F3D0"/>
                </a:solidFill>
              </a:defRPr>
            </a:pPr>
            <a:r>
              <a:t>INSTITUTION &amp; PARTNER</a:t>
            </a:r>
          </a:p>
          <a:p>
            <a:pPr>
              <a:defRPr sz="1100">
                <a:solidFill>
                  <a:srgbClr val="FFFFFF"/>
                </a:solidFill>
              </a:defRPr>
            </a:pPr>
            <a:r>
              <a:t>Don Mariano Marcos Memorial State University</a:t>
            </a:r>
            <a:br/>
            <a:r>
              <a:t>South La Union Campus (DMMMSU-SLUC)</a:t>
            </a:r>
            <a:br/>
            <a:r>
              <a:t>Agoo, La Union, Philippines</a:t>
            </a:r>
          </a:p>
          <a:p>
            <a:pPr>
              <a:defRPr sz="1100">
                <a:solidFill>
                  <a:srgbClr val="FEF08A"/>
                </a:solidFill>
              </a:defRPr>
            </a:pPr>
            <a:r>
              <a:t>In Collaboration with:</a:t>
            </a:r>
            <a:br/>
            <a:r>
              <a:t>Municipal Environment &amp; Natural Resources Office</a:t>
            </a:r>
            <a:br/>
            <a:r>
              <a:t>(MENRO), Aringay, La Union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TABLE OF CONTENTS</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Presentation Structure: 5 Software Engineering Pillars</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02 / 20</a:t>
            </a:r>
          </a:p>
        </p:txBody>
      </p:sp>
      <p:sp>
        <p:nvSpPr>
          <p:cNvPr id="7" name="Rounded Rectangle 6"/>
          <p:cNvSpPr/>
          <p:nvPr/>
        </p:nvSpPr>
        <p:spPr>
          <a:xfrm>
            <a:off x="731520" y="1645920"/>
            <a:ext cx="3383280" cy="2148840"/>
          </a:xfrm>
          <a:prstGeom prst="roundRect">
            <a:avLst/>
          </a:prstGeom>
          <a:solidFill>
            <a:srgbClr val="FFFFFF"/>
          </a:solidFill>
          <a:ln w="254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783080"/>
            <a:ext cx="3017520" cy="1874519"/>
          </a:xfrm>
          <a:prstGeom prst="rect">
            <a:avLst/>
          </a:prstGeom>
          <a:noFill/>
        </p:spPr>
        <p:txBody>
          <a:bodyPr wrap="square">
            <a:spAutoFit/>
          </a:bodyPr>
          <a:lstStyle/>
          <a:p>
            <a:pPr>
              <a:defRPr sz="1100" b="1">
                <a:solidFill>
                  <a:srgbClr val="2D6A4F"/>
                </a:solidFill>
              </a:defRPr>
            </a:pPr>
            <a:r>
              <a:t>PILLAR 01</a:t>
            </a:r>
          </a:p>
          <a:p>
            <a:pPr>
              <a:spcBef>
                <a:spcPts val="400"/>
              </a:spcBef>
              <a:spcAft>
                <a:spcPts val="600"/>
              </a:spcAft>
              <a:defRPr sz="1500" b="1">
                <a:solidFill>
                  <a:srgbClr val="0F172A"/>
                </a:solidFill>
              </a:defRPr>
            </a:pPr>
            <a:r>
              <a:t>Project Overview</a:t>
            </a:r>
          </a:p>
          <a:p>
            <a:pPr>
              <a:lnSpc>
                <a:spcPct val="130000"/>
              </a:lnSpc>
              <a:defRPr sz="1050">
                <a:solidFill>
                  <a:srgbClr val="475569"/>
                </a:solidFill>
              </a:defRPr>
            </a:pPr>
            <a:r>
              <a:t>Ecological Context, Local Problem Statement, Research Gap, General &amp; Specific Objectives.</a:t>
            </a:r>
          </a:p>
        </p:txBody>
      </p:sp>
      <p:sp>
        <p:nvSpPr>
          <p:cNvPr id="9" name="Rounded Rectangle 8"/>
          <p:cNvSpPr/>
          <p:nvPr/>
        </p:nvSpPr>
        <p:spPr>
          <a:xfrm>
            <a:off x="4343400" y="1645920"/>
            <a:ext cx="3383280" cy="2148840"/>
          </a:xfrm>
          <a:prstGeom prst="roundRect">
            <a:avLst/>
          </a:prstGeom>
          <a:solidFill>
            <a:srgbClr val="FFFF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26280" y="1783080"/>
            <a:ext cx="3017520" cy="1874519"/>
          </a:xfrm>
          <a:prstGeom prst="rect">
            <a:avLst/>
          </a:prstGeom>
          <a:noFill/>
        </p:spPr>
        <p:txBody>
          <a:bodyPr wrap="square">
            <a:spAutoFit/>
          </a:bodyPr>
          <a:lstStyle/>
          <a:p>
            <a:pPr>
              <a:defRPr sz="1100" b="1">
                <a:solidFill>
                  <a:srgbClr val="0284C7"/>
                </a:solidFill>
              </a:defRPr>
            </a:pPr>
            <a:r>
              <a:t>PILLAR 02</a:t>
            </a:r>
          </a:p>
          <a:p>
            <a:pPr>
              <a:spcBef>
                <a:spcPts val="400"/>
              </a:spcBef>
              <a:spcAft>
                <a:spcPts val="600"/>
              </a:spcAft>
              <a:defRPr sz="1500" b="1">
                <a:solidFill>
                  <a:srgbClr val="0F172A"/>
                </a:solidFill>
              </a:defRPr>
            </a:pPr>
            <a:r>
              <a:t>Project Scope</a:t>
            </a:r>
          </a:p>
          <a:p>
            <a:pPr>
              <a:lnSpc>
                <a:spcPct val="130000"/>
              </a:lnSpc>
              <a:defRPr sz="1050">
                <a:solidFill>
                  <a:srgbClr val="475569"/>
                </a:solidFill>
              </a:defRPr>
            </a:pPr>
            <a:r>
              <a:t>Spatial Delimitation (Dulao 316.74 ha), Temporal Baseline (2019–2024), In-Scope vs. Out-of-Scope.</a:t>
            </a:r>
          </a:p>
        </p:txBody>
      </p:sp>
      <p:sp>
        <p:nvSpPr>
          <p:cNvPr id="11" name="Rounded Rectangle 10"/>
          <p:cNvSpPr/>
          <p:nvPr/>
        </p:nvSpPr>
        <p:spPr>
          <a:xfrm>
            <a:off x="7955280" y="1645920"/>
            <a:ext cx="3383280" cy="2148840"/>
          </a:xfrm>
          <a:prstGeom prst="roundRect">
            <a:avLst/>
          </a:prstGeom>
          <a:solidFill>
            <a:srgbClr val="FFFFFF"/>
          </a:solidFill>
          <a:ln w="25400">
            <a:solidFill>
              <a:srgbClr val="14352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38160" y="1783080"/>
            <a:ext cx="3017520" cy="1874519"/>
          </a:xfrm>
          <a:prstGeom prst="rect">
            <a:avLst/>
          </a:prstGeom>
          <a:noFill/>
        </p:spPr>
        <p:txBody>
          <a:bodyPr wrap="square">
            <a:spAutoFit/>
          </a:bodyPr>
          <a:lstStyle/>
          <a:p>
            <a:pPr>
              <a:defRPr sz="1100" b="1">
                <a:solidFill>
                  <a:srgbClr val="143526"/>
                </a:solidFill>
              </a:defRPr>
            </a:pPr>
            <a:r>
              <a:t>PILLAR 03</a:t>
            </a:r>
          </a:p>
          <a:p>
            <a:pPr>
              <a:spcBef>
                <a:spcPts val="400"/>
              </a:spcBef>
              <a:spcAft>
                <a:spcPts val="600"/>
              </a:spcAft>
              <a:defRPr sz="1500" b="1">
                <a:solidFill>
                  <a:srgbClr val="0F172A"/>
                </a:solidFill>
              </a:defRPr>
            </a:pPr>
            <a:r>
              <a:t>Software Devt Methodology</a:t>
            </a:r>
          </a:p>
          <a:p>
            <a:pPr>
              <a:lnSpc>
                <a:spcPct val="130000"/>
              </a:lnSpc>
              <a:defRPr sz="1050">
                <a:solidFill>
                  <a:srgbClr val="475569"/>
                </a:solidFill>
              </a:defRPr>
            </a:pPr>
            <a:r>
              <a:t>Iterative &amp; Incremental Development (IID), Data Pipeline, 80/20 Partition Protocol, QA &amp; Testing.</a:t>
            </a:r>
          </a:p>
        </p:txBody>
      </p:sp>
      <p:sp>
        <p:nvSpPr>
          <p:cNvPr id="13" name="Rounded Rectangle 12"/>
          <p:cNvSpPr/>
          <p:nvPr/>
        </p:nvSpPr>
        <p:spPr>
          <a:xfrm>
            <a:off x="731520" y="4023360"/>
            <a:ext cx="3383280" cy="2148840"/>
          </a:xfrm>
          <a:prstGeom prst="roundRect">
            <a:avLst/>
          </a:prstGeom>
          <a:solidFill>
            <a:srgbClr val="FFFFFF"/>
          </a:solidFill>
          <a:ln w="254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160520"/>
            <a:ext cx="3017520" cy="1874519"/>
          </a:xfrm>
          <a:prstGeom prst="rect">
            <a:avLst/>
          </a:prstGeom>
          <a:noFill/>
        </p:spPr>
        <p:txBody>
          <a:bodyPr wrap="square">
            <a:spAutoFit/>
          </a:bodyPr>
          <a:lstStyle/>
          <a:p>
            <a:pPr>
              <a:defRPr sz="1100" b="1">
                <a:solidFill>
                  <a:srgbClr val="B45309"/>
                </a:solidFill>
              </a:defRPr>
            </a:pPr>
            <a:r>
              <a:t>PILLAR 04</a:t>
            </a:r>
          </a:p>
          <a:p>
            <a:pPr>
              <a:spcBef>
                <a:spcPts val="400"/>
              </a:spcBef>
              <a:spcAft>
                <a:spcPts val="600"/>
              </a:spcAft>
              <a:defRPr sz="1500" b="1">
                <a:solidFill>
                  <a:srgbClr val="0F172A"/>
                </a:solidFill>
              </a:defRPr>
            </a:pPr>
            <a:r>
              <a:t>Requirements &amp; System Models</a:t>
            </a:r>
          </a:p>
          <a:p>
            <a:pPr>
              <a:lnSpc>
                <a:spcPct val="130000"/>
              </a:lnSpc>
              <a:defRPr sz="1050">
                <a:solidFill>
                  <a:srgbClr val="475569"/>
                </a:solidFill>
              </a:defRPr>
            </a:pPr>
            <a:r>
              <a:t>Functional/Non-Functional Specs, Three-Tier Architecture, 5D Tensor Stack, U-Net AI &amp; PCC Matrix.</a:t>
            </a:r>
          </a:p>
        </p:txBody>
      </p:sp>
      <p:sp>
        <p:nvSpPr>
          <p:cNvPr id="15" name="Rounded Rectangle 14"/>
          <p:cNvSpPr/>
          <p:nvPr/>
        </p:nvSpPr>
        <p:spPr>
          <a:xfrm>
            <a:off x="4343400" y="4023360"/>
            <a:ext cx="3383280" cy="2148840"/>
          </a:xfrm>
          <a:prstGeom prst="roundRect">
            <a:avLst/>
          </a:prstGeom>
          <a:solidFill>
            <a:srgbClr val="FFFFFF"/>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26280" y="4160520"/>
            <a:ext cx="3017520" cy="1874519"/>
          </a:xfrm>
          <a:prstGeom prst="rect">
            <a:avLst/>
          </a:prstGeom>
          <a:noFill/>
        </p:spPr>
        <p:txBody>
          <a:bodyPr wrap="square">
            <a:spAutoFit/>
          </a:bodyPr>
          <a:lstStyle/>
          <a:p>
            <a:pPr>
              <a:defRPr sz="1100" b="1">
                <a:solidFill>
                  <a:srgbClr val="166534"/>
                </a:solidFill>
              </a:defRPr>
            </a:pPr>
            <a:r>
              <a:t>PILLAR 05</a:t>
            </a:r>
          </a:p>
          <a:p>
            <a:pPr>
              <a:spcBef>
                <a:spcPts val="400"/>
              </a:spcBef>
              <a:spcAft>
                <a:spcPts val="600"/>
              </a:spcAft>
              <a:defRPr sz="1500" b="1">
                <a:solidFill>
                  <a:srgbClr val="0F172A"/>
                </a:solidFill>
              </a:defRPr>
            </a:pPr>
            <a:r>
              <a:t>Software Demo</a:t>
            </a:r>
          </a:p>
          <a:p>
            <a:pPr>
              <a:lnSpc>
                <a:spcPct val="130000"/>
              </a:lnSpc>
              <a:defRPr sz="1050">
                <a:solidFill>
                  <a:srgbClr val="475569"/>
                </a:solidFill>
              </a:defRPr>
            </a:pPr>
            <a:r>
              <a:t>Operational Dashboard Walkthrough, Interactive Pairwise Analysis, Cartography, Automated PDF Export.</a:t>
            </a:r>
          </a:p>
        </p:txBody>
      </p:sp>
      <p:sp>
        <p:nvSpPr>
          <p:cNvPr id="17" name="Rounded Rectangle 16"/>
          <p:cNvSpPr/>
          <p:nvPr/>
        </p:nvSpPr>
        <p:spPr>
          <a:xfrm>
            <a:off x="7955280" y="4023360"/>
            <a:ext cx="3383280" cy="2148840"/>
          </a:xfrm>
          <a:prstGeom prst="roundRect">
            <a:avLst/>
          </a:prstGeom>
          <a:solidFill>
            <a:srgbClr val="FFFFFF"/>
          </a:solidFill>
          <a:ln w="254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138160" y="4160520"/>
            <a:ext cx="3017520" cy="1874519"/>
          </a:xfrm>
          <a:prstGeom prst="rect">
            <a:avLst/>
          </a:prstGeom>
          <a:noFill/>
        </p:spPr>
        <p:txBody>
          <a:bodyPr wrap="square">
            <a:spAutoFit/>
          </a:bodyPr>
          <a:lstStyle/>
          <a:p>
            <a:pPr>
              <a:defRPr sz="1100" b="1">
                <a:solidFill>
                  <a:srgbClr val="475569"/>
                </a:solidFill>
              </a:defRPr>
            </a:pPr>
            <a:r>
              <a:t>PILLAR 06</a:t>
            </a:r>
          </a:p>
          <a:p>
            <a:pPr>
              <a:spcBef>
                <a:spcPts val="400"/>
              </a:spcBef>
              <a:spcAft>
                <a:spcPts val="600"/>
              </a:spcAft>
              <a:defRPr sz="1500" b="1">
                <a:solidFill>
                  <a:srgbClr val="0F172A"/>
                </a:solidFill>
              </a:defRPr>
            </a:pPr>
            <a:r>
              <a:t>Status, Synthesis &amp; Q&amp;A</a:t>
            </a:r>
          </a:p>
          <a:p>
            <a:pPr>
              <a:lnSpc>
                <a:spcPct val="130000"/>
              </a:lnSpc>
              <a:defRPr sz="1050">
                <a:solidFill>
                  <a:srgbClr val="475569"/>
                </a:solidFill>
              </a:defRPr>
            </a:pPr>
            <a:r>
              <a:t>Current Subsystem Implementation Matrix, Tripartite Contribution, Roadmap, Open Defense Discussion.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1. PROJECT OVERVIEW</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Project Overview: Ecological Importance &amp; Motivation</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03 / 20</a:t>
            </a:r>
          </a:p>
        </p:txBody>
      </p:sp>
      <p:sp>
        <p:nvSpPr>
          <p:cNvPr id="7" name="Rounded Rectangle 6"/>
          <p:cNvSpPr/>
          <p:nvPr/>
        </p:nvSpPr>
        <p:spPr>
          <a:xfrm>
            <a:off x="731520" y="1645920"/>
            <a:ext cx="2468880" cy="4389120"/>
          </a:xfrm>
          <a:prstGeom prst="roundRect">
            <a:avLst/>
          </a:prstGeom>
          <a:solidFill>
            <a:srgbClr val="F0FDF4"/>
          </a:solidFill>
          <a:ln w="254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28800"/>
            <a:ext cx="2103120" cy="4023360"/>
          </a:xfrm>
          <a:prstGeom prst="rect">
            <a:avLst/>
          </a:prstGeom>
          <a:noFill/>
        </p:spPr>
        <p:txBody>
          <a:bodyPr wrap="square">
            <a:spAutoFit/>
          </a:bodyPr>
          <a:lstStyle/>
          <a:p>
            <a:pPr>
              <a:defRPr sz="1100" b="1">
                <a:solidFill>
                  <a:srgbClr val="2D6A4F"/>
                </a:solidFill>
              </a:defRPr>
            </a:pPr>
            <a:r>
              <a:t>🛡️  PHASE 01</a:t>
            </a:r>
          </a:p>
          <a:p>
            <a:pPr>
              <a:spcAft>
                <a:spcPts val="1400"/>
              </a:spcAft>
              <a:defRPr sz="1600" b="1">
                <a:solidFill>
                  <a:srgbClr val="0F172A"/>
                </a:solidFill>
              </a:defRPr>
            </a:pPr>
            <a:r>
              <a:t>Critical Ecosystem</a:t>
            </a:r>
          </a:p>
          <a:p>
            <a:pPr>
              <a:lnSpc>
                <a:spcPct val="140000"/>
              </a:lnSpc>
              <a:defRPr sz="1200">
                <a:solidFill>
                  <a:srgbClr val="475569"/>
                </a:solidFill>
              </a:defRPr>
            </a:pPr>
            <a:r>
              <a:t>Coastal Storm Protection</a:t>
            </a:r>
            <a:br/>
            <a:r>
              <a:t>Carbon Sequestration</a:t>
            </a:r>
            <a:br/>
            <a:r>
              <a:t>Biodiversity Nursery</a:t>
            </a:r>
            <a:br/>
            <a:r>
              <a:t>Fishery Livelihoods</a:t>
            </a:r>
          </a:p>
        </p:txBody>
      </p:sp>
      <p:sp>
        <p:nvSpPr>
          <p:cNvPr id="9" name="TextBox 8"/>
          <p:cNvSpPr txBox="1"/>
          <p:nvPr/>
        </p:nvSpPr>
        <p:spPr>
          <a:xfrm>
            <a:off x="3200400" y="3657600"/>
            <a:ext cx="274320" cy="457200"/>
          </a:xfrm>
          <a:prstGeom prst="rect">
            <a:avLst/>
          </a:prstGeom>
          <a:noFill/>
        </p:spPr>
        <p:txBody>
          <a:bodyPr wrap="none" lIns="0" tIns="0" rIns="0" bIns="0">
            <a:spAutoFit/>
          </a:bodyPr>
          <a:lstStyle/>
          <a:p>
            <a:pPr algn="ctr">
              <a:defRPr sz="2200" b="1">
                <a:solidFill>
                  <a:srgbClr val="2D6A4F"/>
                </a:solidFill>
              </a:defRPr>
            </a:pPr>
            <a:r>
              <a:t>→</a:t>
            </a:r>
          </a:p>
        </p:txBody>
      </p:sp>
      <p:sp>
        <p:nvSpPr>
          <p:cNvPr id="10" name="Rounded Rectangle 9"/>
          <p:cNvSpPr/>
          <p:nvPr/>
        </p:nvSpPr>
        <p:spPr>
          <a:xfrm>
            <a:off x="3474720" y="1645920"/>
            <a:ext cx="2468880" cy="4389120"/>
          </a:xfrm>
          <a:prstGeom prst="roundRect">
            <a:avLst/>
          </a:prstGeom>
          <a:solidFill>
            <a:srgbClr val="FEF2F2"/>
          </a:solidFill>
          <a:ln w="25400">
            <a:solidFill>
              <a:srgbClr val="991B1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0" y="1828800"/>
            <a:ext cx="2103120" cy="4023360"/>
          </a:xfrm>
          <a:prstGeom prst="rect">
            <a:avLst/>
          </a:prstGeom>
          <a:noFill/>
        </p:spPr>
        <p:txBody>
          <a:bodyPr wrap="square">
            <a:spAutoFit/>
          </a:bodyPr>
          <a:lstStyle/>
          <a:p>
            <a:pPr>
              <a:defRPr sz="1100" b="1">
                <a:solidFill>
                  <a:srgbClr val="991B1B"/>
                </a:solidFill>
              </a:defRPr>
            </a:pPr>
            <a:r>
              <a:t>📉  PHASE 02</a:t>
            </a:r>
          </a:p>
          <a:p>
            <a:pPr>
              <a:spcAft>
                <a:spcPts val="1400"/>
              </a:spcAft>
              <a:defRPr sz="1600" b="1">
                <a:solidFill>
                  <a:srgbClr val="0F172A"/>
                </a:solidFill>
              </a:defRPr>
            </a:pPr>
            <a:r>
              <a:t>Severe Extent Loss</a:t>
            </a:r>
          </a:p>
          <a:p>
            <a:pPr>
              <a:lnSpc>
                <a:spcPct val="140000"/>
              </a:lnSpc>
              <a:defRPr sz="1200">
                <a:solidFill>
                  <a:srgbClr val="475569"/>
                </a:solidFill>
              </a:defRPr>
            </a:pPr>
            <a:r>
              <a:t>Aquaculture Conversion</a:t>
            </a:r>
            <a:br/>
            <a:r>
              <a:t>Coastal Development</a:t>
            </a:r>
            <a:br/>
            <a:r>
              <a:t>Typhoon &amp; Wave Erosion</a:t>
            </a:r>
            <a:br/>
            <a:r>
              <a:t>Substantial Canopy Decline</a:t>
            </a:r>
          </a:p>
        </p:txBody>
      </p:sp>
      <p:sp>
        <p:nvSpPr>
          <p:cNvPr id="12" name="TextBox 11"/>
          <p:cNvSpPr txBox="1"/>
          <p:nvPr/>
        </p:nvSpPr>
        <p:spPr>
          <a:xfrm>
            <a:off x="5943600" y="3657600"/>
            <a:ext cx="274320" cy="457200"/>
          </a:xfrm>
          <a:prstGeom prst="rect">
            <a:avLst/>
          </a:prstGeom>
          <a:noFill/>
        </p:spPr>
        <p:txBody>
          <a:bodyPr wrap="none" lIns="0" tIns="0" rIns="0" bIns="0">
            <a:spAutoFit/>
          </a:bodyPr>
          <a:lstStyle/>
          <a:p>
            <a:pPr algn="ctr">
              <a:defRPr sz="2200" b="1">
                <a:solidFill>
                  <a:srgbClr val="2D6A4F"/>
                </a:solidFill>
              </a:defRPr>
            </a:pPr>
            <a:r>
              <a:t>→</a:t>
            </a:r>
          </a:p>
        </p:txBody>
      </p:sp>
      <p:sp>
        <p:nvSpPr>
          <p:cNvPr id="13" name="Rounded Rectangle 12"/>
          <p:cNvSpPr/>
          <p:nvPr/>
        </p:nvSpPr>
        <p:spPr>
          <a:xfrm>
            <a:off x="6217920" y="1645920"/>
            <a:ext cx="2468880" cy="4389120"/>
          </a:xfrm>
          <a:prstGeom prst="roundRect">
            <a:avLst/>
          </a:prstGeom>
          <a:solidFill>
            <a:srgbClr val="FFFBEB"/>
          </a:solidFill>
          <a:ln w="254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828800"/>
            <a:ext cx="2103120" cy="4023360"/>
          </a:xfrm>
          <a:prstGeom prst="rect">
            <a:avLst/>
          </a:prstGeom>
          <a:noFill/>
        </p:spPr>
        <p:txBody>
          <a:bodyPr wrap="square">
            <a:spAutoFit/>
          </a:bodyPr>
          <a:lstStyle/>
          <a:p>
            <a:pPr>
              <a:defRPr sz="1100" b="1">
                <a:solidFill>
                  <a:srgbClr val="B45309"/>
                </a:solidFill>
              </a:defRPr>
            </a:pPr>
            <a:r>
              <a:t>⚠️  PHASE 03</a:t>
            </a:r>
          </a:p>
          <a:p>
            <a:pPr>
              <a:spcAft>
                <a:spcPts val="1400"/>
              </a:spcAft>
              <a:defRPr sz="1600" b="1">
                <a:solidFill>
                  <a:srgbClr val="0F172A"/>
                </a:solidFill>
              </a:defRPr>
            </a:pPr>
            <a:r>
              <a:t>Monitoring Deficit</a:t>
            </a:r>
          </a:p>
          <a:p>
            <a:pPr>
              <a:lnSpc>
                <a:spcPct val="140000"/>
              </a:lnSpc>
              <a:defRPr sz="1200">
                <a:solidFill>
                  <a:srgbClr val="475569"/>
                </a:solidFill>
              </a:defRPr>
            </a:pPr>
            <a:r>
              <a:t>Manual Field Surveys</a:t>
            </a:r>
            <a:br/>
            <a:r>
              <a:t>Cost &amp; Labor Intensive</a:t>
            </a:r>
            <a:br/>
            <a:r>
              <a:t>Tidally Inaccessible</a:t>
            </a:r>
            <a:br/>
            <a:r>
              <a:t>Infrequent Survey Cadence</a:t>
            </a:r>
          </a:p>
        </p:txBody>
      </p:sp>
      <p:sp>
        <p:nvSpPr>
          <p:cNvPr id="15" name="TextBox 14"/>
          <p:cNvSpPr txBox="1"/>
          <p:nvPr/>
        </p:nvSpPr>
        <p:spPr>
          <a:xfrm>
            <a:off x="8686800" y="3657600"/>
            <a:ext cx="274320" cy="457200"/>
          </a:xfrm>
          <a:prstGeom prst="rect">
            <a:avLst/>
          </a:prstGeom>
          <a:noFill/>
        </p:spPr>
        <p:txBody>
          <a:bodyPr wrap="none" lIns="0" tIns="0" rIns="0" bIns="0">
            <a:spAutoFit/>
          </a:bodyPr>
          <a:lstStyle/>
          <a:p>
            <a:pPr algn="ctr">
              <a:defRPr sz="2200" b="1">
                <a:solidFill>
                  <a:srgbClr val="2D6A4F"/>
                </a:solidFill>
              </a:defRPr>
            </a:pPr>
            <a:r>
              <a:t>→</a:t>
            </a:r>
          </a:p>
        </p:txBody>
      </p:sp>
      <p:sp>
        <p:nvSpPr>
          <p:cNvPr id="16" name="Rounded Rectangle 15"/>
          <p:cNvSpPr/>
          <p:nvPr/>
        </p:nvSpPr>
        <p:spPr>
          <a:xfrm>
            <a:off x="8961120" y="1645920"/>
            <a:ext cx="2468880" cy="4389120"/>
          </a:xfrm>
          <a:prstGeom prst="roundRect">
            <a:avLst/>
          </a:prstGeom>
          <a:solidFill>
            <a:srgbClr val="F0F9FF"/>
          </a:solidFill>
          <a:ln w="254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0" y="1828800"/>
            <a:ext cx="2103120" cy="4023360"/>
          </a:xfrm>
          <a:prstGeom prst="rect">
            <a:avLst/>
          </a:prstGeom>
          <a:noFill/>
        </p:spPr>
        <p:txBody>
          <a:bodyPr wrap="square">
            <a:spAutoFit/>
          </a:bodyPr>
          <a:lstStyle/>
          <a:p>
            <a:pPr>
              <a:defRPr sz="1100" b="1">
                <a:solidFill>
                  <a:srgbClr val="0284C7"/>
                </a:solidFill>
              </a:defRPr>
            </a:pPr>
            <a:r>
              <a:t>🛰️  PHASE 04</a:t>
            </a:r>
          </a:p>
          <a:p>
            <a:pPr>
              <a:spcAft>
                <a:spcPts val="1400"/>
              </a:spcAft>
              <a:defRPr sz="1600" b="1">
                <a:solidFill>
                  <a:srgbClr val="0F172A"/>
                </a:solidFill>
              </a:defRPr>
            </a:pPr>
            <a:r>
              <a:t>Automated Solution</a:t>
            </a:r>
          </a:p>
          <a:p>
            <a:pPr>
              <a:lnSpc>
                <a:spcPct val="140000"/>
              </a:lnSpc>
              <a:defRPr sz="1200">
                <a:solidFill>
                  <a:srgbClr val="475569"/>
                </a:solidFill>
              </a:defRPr>
            </a:pPr>
            <a:r>
              <a:t>Sentinel-2 Imagery</a:t>
            </a:r>
            <a:br/>
            <a:r>
              <a:t>U-Net Deep Learning</a:t>
            </a:r>
            <a:br/>
            <a:r>
              <a:t>Post-Classification Comparison</a:t>
            </a:r>
            <a:br/>
            <a:r>
              <a:t>Municipal Decision Web Tool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1. PROJECT OVERVIEW</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Project Overview: Problem Statement &amp; Local Research Gap</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04 / 20</a:t>
            </a:r>
          </a:p>
        </p:txBody>
      </p:sp>
      <p:sp>
        <p:nvSpPr>
          <p:cNvPr id="7" name="Rounded Rectangle 6"/>
          <p:cNvSpPr/>
          <p:nvPr/>
        </p:nvSpPr>
        <p:spPr>
          <a:xfrm>
            <a:off x="731520" y="1645920"/>
            <a:ext cx="10728655"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37360"/>
            <a:ext cx="10149840" cy="1005840"/>
          </a:xfrm>
          <a:prstGeom prst="rect">
            <a:avLst/>
          </a:prstGeom>
          <a:noFill/>
        </p:spPr>
        <p:txBody>
          <a:bodyPr wrap="square">
            <a:spAutoFit/>
          </a:bodyPr>
          <a:lstStyle/>
          <a:p>
            <a:pPr>
              <a:defRPr sz="1500" b="1">
                <a:solidFill>
                  <a:srgbClr val="143526"/>
                </a:solidFill>
              </a:defRPr>
            </a:pPr>
            <a:r>
              <a:t>1. Spatial Complexity &amp; Tidal Inaccessibility</a:t>
            </a:r>
          </a:p>
          <a:p>
            <a:pPr>
              <a:spcBef>
                <a:spcPts val="300"/>
              </a:spcBef>
              <a:defRPr sz="1150">
                <a:solidFill>
                  <a:srgbClr val="475569"/>
                </a:solidFill>
              </a:defRPr>
            </a:pPr>
            <a:r>
              <a:t>Barangay Dulao's estuarine mangroves feature dense aerial root tangles and deep muddy intertidal zones. Field personnel cannot safely or exhaustively traverse the entire 316.74-hectare zone on foot to log canopy disruptions.</a:t>
            </a:r>
          </a:p>
          <a:p>
            <a:pPr>
              <a:spcBef>
                <a:spcPts val="200"/>
              </a:spcBef>
              <a:defRPr sz="1100" b="1">
                <a:solidFill>
                  <a:srgbClr val="991B1B"/>
                </a:solidFill>
              </a:defRPr>
            </a:pPr>
            <a:r>
              <a:t>Result: Patchy, delayed, and incomplete monitoring coverage.</a:t>
            </a:r>
          </a:p>
        </p:txBody>
      </p:sp>
      <p:sp>
        <p:nvSpPr>
          <p:cNvPr id="9" name="Rounded Rectangle 8"/>
          <p:cNvSpPr/>
          <p:nvPr/>
        </p:nvSpPr>
        <p:spPr>
          <a:xfrm>
            <a:off x="731520" y="3017520"/>
            <a:ext cx="10728655"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3108960"/>
            <a:ext cx="10149840" cy="1005840"/>
          </a:xfrm>
          <a:prstGeom prst="rect">
            <a:avLst/>
          </a:prstGeom>
          <a:noFill/>
        </p:spPr>
        <p:txBody>
          <a:bodyPr wrap="square">
            <a:spAutoFit/>
          </a:bodyPr>
          <a:lstStyle/>
          <a:p>
            <a:pPr>
              <a:defRPr sz="1500" b="1">
                <a:solidFill>
                  <a:srgbClr val="143526"/>
                </a:solidFill>
              </a:defRPr>
            </a:pPr>
            <a:r>
              <a:t>2. Failure of Traditional Pixel Classifiers</a:t>
            </a:r>
          </a:p>
          <a:p>
            <a:pPr>
              <a:spcBef>
                <a:spcPts val="300"/>
              </a:spcBef>
              <a:defRPr sz="1150">
                <a:solidFill>
                  <a:srgbClr val="475569"/>
                </a:solidFill>
              </a:defRPr>
            </a:pPr>
            <a:r>
              <a:t>Conventional vegetation thresholding (e.g., raw NDVI thresholds alone or Maximum Likelihood) easily confuses healthy inland crops, fishpond algae, and tidal mudflats with true mangrove canopies due to overlapping spectral signatures.</a:t>
            </a:r>
          </a:p>
          <a:p>
            <a:pPr>
              <a:spcBef>
                <a:spcPts val="200"/>
              </a:spcBef>
              <a:defRPr sz="1100" b="1">
                <a:solidFill>
                  <a:srgbClr val="991B1B"/>
                </a:solidFill>
              </a:defRPr>
            </a:pPr>
            <a:r>
              <a:t>Result: High false-positive rates and misclassified boundaries.</a:t>
            </a:r>
          </a:p>
        </p:txBody>
      </p:sp>
      <p:sp>
        <p:nvSpPr>
          <p:cNvPr id="11" name="Rounded Rectangle 10"/>
          <p:cNvSpPr/>
          <p:nvPr/>
        </p:nvSpPr>
        <p:spPr>
          <a:xfrm>
            <a:off x="731520" y="4389120"/>
            <a:ext cx="10728655" cy="1188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4480560"/>
            <a:ext cx="10149840" cy="1005840"/>
          </a:xfrm>
          <a:prstGeom prst="rect">
            <a:avLst/>
          </a:prstGeom>
          <a:noFill/>
        </p:spPr>
        <p:txBody>
          <a:bodyPr wrap="square">
            <a:spAutoFit/>
          </a:bodyPr>
          <a:lstStyle/>
          <a:p>
            <a:pPr>
              <a:defRPr sz="1500" b="1">
                <a:solidFill>
                  <a:srgbClr val="143526"/>
                </a:solidFill>
              </a:defRPr>
            </a:pPr>
            <a:r>
              <a:t>3. The Software-LGU Usability Barrier</a:t>
            </a:r>
          </a:p>
          <a:p>
            <a:pPr>
              <a:spcBef>
                <a:spcPts val="300"/>
              </a:spcBef>
              <a:defRPr sz="1150">
                <a:solidFill>
                  <a:srgbClr val="475569"/>
                </a:solidFill>
              </a:defRPr>
            </a:pPr>
            <a:r>
              <a:t>Existing remote sensing research produces raw geospatial GeoTIFFs or Python scripts. Municipal MENRO personnel lack specialized GIS software licenses or command-line scripting skills required to extract actionable planning insights.</a:t>
            </a:r>
          </a:p>
          <a:p>
            <a:pPr>
              <a:spcBef>
                <a:spcPts val="200"/>
              </a:spcBef>
              <a:defRPr sz="1100" b="1">
                <a:solidFill>
                  <a:srgbClr val="991B1B"/>
                </a:solidFill>
              </a:defRPr>
            </a:pPr>
            <a:r>
              <a:t>Result: Scientific models fail to support municipal policy.</a:t>
            </a:r>
          </a:p>
        </p:txBody>
      </p:sp>
      <p:sp>
        <p:nvSpPr>
          <p:cNvPr id="13" name="Rounded Rectangle 12"/>
          <p:cNvSpPr/>
          <p:nvPr/>
        </p:nvSpPr>
        <p:spPr>
          <a:xfrm>
            <a:off x="731520" y="5577840"/>
            <a:ext cx="10728655" cy="731520"/>
          </a:xfrm>
          <a:prstGeom prst="round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669280"/>
            <a:ext cx="10332720" cy="548640"/>
          </a:xfrm>
          <a:prstGeom prst="rect">
            <a:avLst/>
          </a:prstGeom>
          <a:noFill/>
        </p:spPr>
        <p:txBody>
          <a:bodyPr wrap="none">
            <a:spAutoFit/>
          </a:bodyPr>
          <a:lstStyle/>
          <a:p>
            <a:pPr algn="ctr">
              <a:defRPr sz="1200" b="1">
                <a:solidFill>
                  <a:srgbClr val="FEF08A"/>
                </a:solidFill>
              </a:defRPr>
            </a:pPr>
            <a:r>
              <a:t>LOCAL RESEARCH GAP: Lack of an automated, localized mangrove change-detection workflow combining context-aware deep learning with an intuitive municipal decision-support web prototype for Aringay MENRO.</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1. PROJECT OVERVIEW</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Project Overview: General &amp; Specific Research Objectives</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05 / 20</a:t>
            </a:r>
          </a:p>
        </p:txBody>
      </p:sp>
      <p:sp>
        <p:nvSpPr>
          <p:cNvPr id="7" name="Rounded Rectangle 6"/>
          <p:cNvSpPr/>
          <p:nvPr/>
        </p:nvSpPr>
        <p:spPr>
          <a:xfrm>
            <a:off x="731520" y="1645920"/>
            <a:ext cx="10728655" cy="1280160"/>
          </a:xfrm>
          <a:prstGeom prst="roundRect">
            <a:avLst/>
          </a:prstGeom>
          <a:solidFill>
            <a:srgbClr val="F0FDF4"/>
          </a:solidFill>
          <a:ln w="254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1783080"/>
            <a:ext cx="10149840" cy="1005840"/>
          </a:xfrm>
          <a:prstGeom prst="rect">
            <a:avLst/>
          </a:prstGeom>
          <a:noFill/>
        </p:spPr>
        <p:txBody>
          <a:bodyPr wrap="square">
            <a:spAutoFit/>
          </a:bodyPr>
          <a:lstStyle/>
          <a:p>
            <a:pPr>
              <a:defRPr sz="1200" b="1">
                <a:solidFill>
                  <a:srgbClr val="2D6A4F"/>
                </a:solidFill>
              </a:defRPr>
            </a:pPr>
            <a:r>
              <a:t>GENERAL OBJECTIVE</a:t>
            </a:r>
          </a:p>
          <a:p>
            <a:pPr>
              <a:spcBef>
                <a:spcPts val="400"/>
              </a:spcBef>
              <a:defRPr sz="1350" b="1">
                <a:solidFill>
                  <a:srgbClr val="0F172A"/>
                </a:solidFill>
              </a:defRPr>
            </a:pPr>
            <a:r>
              <a:t>To develop an automated change detection and decision-support workflow for mangrove canopy gain and loss in Barangay Dulao, Aringay, La Union from 2019 to 2024 by integrating multi-spectral Sentinel-2 satellite imagery, a 5-channel U-Net deep learning model, and an interactive web-based prototype.</a:t>
            </a:r>
          </a:p>
        </p:txBody>
      </p:sp>
      <p:sp>
        <p:nvSpPr>
          <p:cNvPr id="9" name="Rounded Rectangle 8"/>
          <p:cNvSpPr/>
          <p:nvPr/>
        </p:nvSpPr>
        <p:spPr>
          <a:xfrm>
            <a:off x="731520" y="3108960"/>
            <a:ext cx="33832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291840"/>
            <a:ext cx="3017520" cy="2834640"/>
          </a:xfrm>
          <a:prstGeom prst="rect">
            <a:avLst/>
          </a:prstGeom>
          <a:noFill/>
        </p:spPr>
        <p:txBody>
          <a:bodyPr wrap="square">
            <a:spAutoFit/>
          </a:bodyPr>
          <a:lstStyle/>
          <a:p>
            <a:pPr>
              <a:defRPr sz="1000" b="1">
                <a:solidFill>
                  <a:srgbClr val="2D6A4F"/>
                </a:solidFill>
              </a:defRPr>
            </a:pPr>
            <a:r>
              <a:t>SPECIFIC OBJECTIVE 1</a:t>
            </a:r>
          </a:p>
          <a:p>
            <a:pPr>
              <a:spcAft>
                <a:spcPts val="1000"/>
              </a:spcAft>
              <a:defRPr sz="1400" b="1">
                <a:solidFill>
                  <a:srgbClr val="0F172A"/>
                </a:solidFill>
              </a:defRPr>
            </a:pPr>
            <a:r>
              <a:t>Data Pipeline &amp; Feature Prep</a:t>
            </a:r>
          </a:p>
          <a:p>
            <a:pPr>
              <a:spcBef>
                <a:spcPts val="300"/>
              </a:spcBef>
              <a:defRPr sz="1050">
                <a:solidFill>
                  <a:srgbClr val="475569"/>
                </a:solidFill>
              </a:defRPr>
            </a:pPr>
            <a:r>
              <a:t>• Acquire Sentinel-2 L2A surface reflectance (2019–2024 dry season).</a:t>
            </a:r>
          </a:p>
          <a:p>
            <a:pPr>
              <a:spcBef>
                <a:spcPts val="300"/>
              </a:spcBef>
              <a:defRPr sz="1050">
                <a:solidFill>
                  <a:srgbClr val="475569"/>
                </a:solidFill>
              </a:defRPr>
            </a:pPr>
            <a:r>
              <a:t>• Extract Green (B3), Red (B4), NIR (B8), and SWIR (B11).</a:t>
            </a:r>
          </a:p>
          <a:p>
            <a:pPr>
              <a:spcBef>
                <a:spcPts val="300"/>
              </a:spcBef>
              <a:defRPr sz="1050">
                <a:solidFill>
                  <a:srgbClr val="475569"/>
                </a:solidFill>
              </a:defRPr>
            </a:pPr>
            <a:r>
              <a:t>• Resample B11 from 20m to 10m bilinear resolution.</a:t>
            </a:r>
          </a:p>
          <a:p>
            <a:pPr>
              <a:spcBef>
                <a:spcPts val="300"/>
              </a:spcBef>
              <a:defRPr sz="1050">
                <a:solidFill>
                  <a:srgbClr val="475569"/>
                </a:solidFill>
              </a:defRPr>
            </a:pPr>
            <a:r>
              <a:t>• Compute and normalize NDVI to produce 5-channel 256×256 tensors.</a:t>
            </a:r>
          </a:p>
        </p:txBody>
      </p:sp>
      <p:sp>
        <p:nvSpPr>
          <p:cNvPr id="11" name="Rounded Rectangle 10"/>
          <p:cNvSpPr/>
          <p:nvPr/>
        </p:nvSpPr>
        <p:spPr>
          <a:xfrm>
            <a:off x="4403750" y="3108960"/>
            <a:ext cx="33832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86630" y="3291840"/>
            <a:ext cx="3017520" cy="2834640"/>
          </a:xfrm>
          <a:prstGeom prst="rect">
            <a:avLst/>
          </a:prstGeom>
          <a:noFill/>
        </p:spPr>
        <p:txBody>
          <a:bodyPr wrap="square">
            <a:spAutoFit/>
          </a:bodyPr>
          <a:lstStyle/>
          <a:p>
            <a:pPr>
              <a:defRPr sz="1000" b="1">
                <a:solidFill>
                  <a:srgbClr val="2D6A4F"/>
                </a:solidFill>
              </a:defRPr>
            </a:pPr>
            <a:r>
              <a:t>SPECIFIC OBJECTIVE 2</a:t>
            </a:r>
          </a:p>
          <a:p>
            <a:pPr>
              <a:spcAft>
                <a:spcPts val="1000"/>
              </a:spcAft>
              <a:defRPr sz="1400" b="1">
                <a:solidFill>
                  <a:srgbClr val="0F172A"/>
                </a:solidFill>
              </a:defRPr>
            </a:pPr>
            <a:r>
              <a:t>U-Net Model &amp; Evaluation</a:t>
            </a:r>
          </a:p>
          <a:p>
            <a:pPr>
              <a:spcBef>
                <a:spcPts val="300"/>
              </a:spcBef>
              <a:defRPr sz="1050">
                <a:solidFill>
                  <a:srgbClr val="475569"/>
                </a:solidFill>
              </a:defRPr>
            </a:pPr>
            <a:r>
              <a:t>• Construct a 5-channel modified U-Net architecture.</a:t>
            </a:r>
          </a:p>
          <a:p>
            <a:pPr>
              <a:spcBef>
                <a:spcPts val="300"/>
              </a:spcBef>
              <a:defRPr sz="1050">
                <a:solidFill>
                  <a:srgbClr val="475569"/>
                </a:solidFill>
              </a:defRPr>
            </a:pPr>
            <a:r>
              <a:t>• Train model using 80/20 train-validation partitioning.</a:t>
            </a:r>
          </a:p>
          <a:p>
            <a:pPr>
              <a:spcBef>
                <a:spcPts val="300"/>
              </a:spcBef>
              <a:defRPr sz="1050">
                <a:solidFill>
                  <a:srgbClr val="475569"/>
                </a:solidFill>
              </a:defRPr>
            </a:pPr>
            <a:r>
              <a:t>• Optimize with Adam optimizer &amp; Binary Cross-Entropy loss.</a:t>
            </a:r>
          </a:p>
          <a:p>
            <a:pPr>
              <a:spcBef>
                <a:spcPts val="300"/>
              </a:spcBef>
              <a:defRPr sz="1050">
                <a:solidFill>
                  <a:srgbClr val="475569"/>
                </a:solidFill>
              </a:defRPr>
            </a:pPr>
            <a:r>
              <a:t>• Rigorously evaluate using F1-score, IoU, and mAP across a 0.05–0.95 threshold sweep.</a:t>
            </a:r>
          </a:p>
        </p:txBody>
      </p:sp>
      <p:sp>
        <p:nvSpPr>
          <p:cNvPr id="13" name="Rounded Rectangle 12"/>
          <p:cNvSpPr/>
          <p:nvPr/>
        </p:nvSpPr>
        <p:spPr>
          <a:xfrm>
            <a:off x="8075980" y="3108960"/>
            <a:ext cx="3383280" cy="32004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58860" y="3291840"/>
            <a:ext cx="3017520" cy="2834640"/>
          </a:xfrm>
          <a:prstGeom prst="rect">
            <a:avLst/>
          </a:prstGeom>
          <a:noFill/>
        </p:spPr>
        <p:txBody>
          <a:bodyPr wrap="square">
            <a:spAutoFit/>
          </a:bodyPr>
          <a:lstStyle/>
          <a:p>
            <a:pPr>
              <a:defRPr sz="1000" b="1">
                <a:solidFill>
                  <a:srgbClr val="2D6A4F"/>
                </a:solidFill>
              </a:defRPr>
            </a:pPr>
            <a:r>
              <a:t>SPECIFIC OBJECTIVE 3</a:t>
            </a:r>
          </a:p>
          <a:p>
            <a:pPr>
              <a:spcAft>
                <a:spcPts val="1000"/>
              </a:spcAft>
              <a:defRPr sz="1400" b="1">
                <a:solidFill>
                  <a:srgbClr val="0F172A"/>
                </a:solidFill>
              </a:defRPr>
            </a:pPr>
            <a:r>
              <a:t>PCC &amp; Prototype System</a:t>
            </a:r>
          </a:p>
          <a:p>
            <a:pPr>
              <a:spcBef>
                <a:spcPts val="300"/>
              </a:spcBef>
              <a:defRPr sz="1050">
                <a:solidFill>
                  <a:srgbClr val="475569"/>
                </a:solidFill>
              </a:defRPr>
            </a:pPr>
            <a:r>
              <a:t>• Execute Post-Classification Comparison (PCC) between annual pairs.</a:t>
            </a:r>
          </a:p>
          <a:p>
            <a:pPr>
              <a:spcBef>
                <a:spcPts val="300"/>
              </a:spcBef>
              <a:defRPr sz="1050">
                <a:solidFill>
                  <a:srgbClr val="475569"/>
                </a:solidFill>
              </a:defRPr>
            </a:pPr>
            <a:r>
              <a:t>• Classify transitions into Gain, Loss, Stable, and Stable Non-mangrove.</a:t>
            </a:r>
          </a:p>
          <a:p>
            <a:pPr>
              <a:spcBef>
                <a:spcPts val="300"/>
              </a:spcBef>
              <a:defRPr sz="1050">
                <a:solidFill>
                  <a:srgbClr val="475569"/>
                </a:solidFill>
              </a:defRPr>
            </a:pPr>
            <a:r>
              <a:t>• Develop interactive Flask/Leaflet web GIS dashboard.</a:t>
            </a:r>
          </a:p>
          <a:p>
            <a:pPr>
              <a:spcBef>
                <a:spcPts val="300"/>
              </a:spcBef>
              <a:defRPr sz="1050">
                <a:solidFill>
                  <a:srgbClr val="475569"/>
                </a:solidFill>
              </a:defRPr>
            </a:pPr>
            <a:r>
              <a:t>• Implement automated one-click PDF reporting for Aringay MENRO.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2. PROJECT SCOPE</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Project Scope: Spatial Delimitation &amp; Temporal Baseline</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06 / 20</a:t>
            </a:r>
          </a:p>
        </p:txBody>
      </p:sp>
      <p:sp>
        <p:nvSpPr>
          <p:cNvPr id="7" name="Rounded Rectangle 6"/>
          <p:cNvSpPr/>
          <p:nvPr/>
        </p:nvSpPr>
        <p:spPr>
          <a:xfrm>
            <a:off x="731520" y="1645920"/>
            <a:ext cx="45720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28800"/>
            <a:ext cx="4206240" cy="4297680"/>
          </a:xfrm>
          <a:prstGeom prst="rect">
            <a:avLst/>
          </a:prstGeom>
          <a:noFill/>
        </p:spPr>
        <p:txBody>
          <a:bodyPr wrap="square">
            <a:spAutoFit/>
          </a:bodyPr>
          <a:lstStyle/>
          <a:p>
            <a:pPr>
              <a:defRPr sz="1100" b="1">
                <a:solidFill>
                  <a:srgbClr val="2D6A4F"/>
                </a:solidFill>
              </a:defRPr>
            </a:pPr>
            <a:r>
              <a:t>GEOGRAPHIC DELIMITATION</a:t>
            </a:r>
          </a:p>
          <a:p>
            <a:pPr>
              <a:spcAft>
                <a:spcPts val="800"/>
              </a:spcAft>
              <a:defRPr sz="1600" b="1">
                <a:solidFill>
                  <a:srgbClr val="0F172A"/>
                </a:solidFill>
              </a:defRPr>
            </a:pPr>
            <a:r>
              <a:t>Barangay Dulao, Aringay, La Union</a:t>
            </a:r>
          </a:p>
          <a:p>
            <a:pPr>
              <a:spcBef>
                <a:spcPts val="600"/>
              </a:spcBef>
              <a:defRPr sz="1050" b="1">
                <a:solidFill>
                  <a:srgbClr val="0F172A"/>
                </a:solidFill>
              </a:defRPr>
            </a:pPr>
            <a:r>
              <a:t>Geographic Coordinates:</a:t>
            </a:r>
          </a:p>
          <a:p>
            <a:pPr>
              <a:defRPr sz="1050">
                <a:solidFill>
                  <a:srgbClr val="475569"/>
                </a:solidFill>
              </a:defRPr>
            </a:pPr>
            <a:r>
              <a:t>120.320°E to 120.343°E</a:t>
            </a:r>
            <a:br/>
            <a:r>
              <a:t>16.364°N to 16.388°N</a:t>
            </a:r>
          </a:p>
          <a:p>
            <a:pPr>
              <a:spcBef>
                <a:spcPts val="600"/>
              </a:spcBef>
              <a:defRPr sz="1050" b="1">
                <a:solidFill>
                  <a:srgbClr val="0F172A"/>
                </a:solidFill>
              </a:defRPr>
            </a:pPr>
            <a:r>
              <a:t>Authoritative Area (ROI):</a:t>
            </a:r>
          </a:p>
          <a:p>
            <a:pPr>
              <a:defRPr sz="1050">
                <a:solidFill>
                  <a:srgbClr val="475569"/>
                </a:solidFill>
              </a:defRPr>
            </a:pPr>
            <a:r>
              <a:t>316.74 Hectares (25-point Polygon Boundary)</a:t>
            </a:r>
          </a:p>
          <a:p>
            <a:pPr>
              <a:spcBef>
                <a:spcPts val="600"/>
              </a:spcBef>
              <a:defRPr sz="1050" b="1">
                <a:solidFill>
                  <a:srgbClr val="0F172A"/>
                </a:solidFill>
              </a:defRPr>
            </a:pPr>
            <a:r>
              <a:t>Ecological Context:</a:t>
            </a:r>
          </a:p>
          <a:p>
            <a:pPr>
              <a:defRPr sz="1050">
                <a:solidFill>
                  <a:srgbClr val="475569"/>
                </a:solidFill>
              </a:defRPr>
            </a:pPr>
            <a:r>
              <a:t>Aringay River estuary discharging into Lingayen Gulf, South China Sea</a:t>
            </a:r>
          </a:p>
          <a:p>
            <a:pPr>
              <a:spcBef>
                <a:spcPts val="600"/>
              </a:spcBef>
              <a:defRPr sz="1050" b="1">
                <a:solidFill>
                  <a:srgbClr val="0F172A"/>
                </a:solidFill>
              </a:defRPr>
            </a:pPr>
            <a:r>
              <a:t>Temporal Baseline:</a:t>
            </a:r>
          </a:p>
          <a:p>
            <a:pPr>
              <a:defRPr sz="1050">
                <a:solidFill>
                  <a:srgbClr val="475569"/>
                </a:solidFill>
              </a:defRPr>
            </a:pPr>
            <a:r>
              <a:t>6 Annual Epochs: 2019, 2020, 2021, 2022, 2023, 2024</a:t>
            </a:r>
          </a:p>
          <a:p>
            <a:pPr>
              <a:spcBef>
                <a:spcPts val="600"/>
              </a:spcBef>
              <a:defRPr sz="1050" b="1">
                <a:solidFill>
                  <a:srgbClr val="0F172A"/>
                </a:solidFill>
              </a:defRPr>
            </a:pPr>
            <a:r>
              <a:t>Seasonal Acquisition Window:</a:t>
            </a:r>
          </a:p>
          <a:p>
            <a:pPr>
              <a:defRPr sz="1050">
                <a:solidFill>
                  <a:srgbClr val="475569"/>
                </a:solidFill>
              </a:defRPr>
            </a:pPr>
            <a:r>
              <a:t>February 1 to April 30 (Dry Season)</a:t>
            </a:r>
            <a:br/>
            <a:r>
              <a:t>Cloud cover filtered &lt; 20% to minimize cloud shadow artifacts and tidal variations</a:t>
            </a:r>
          </a:p>
        </p:txBody>
      </p:sp>
      <p:sp>
        <p:nvSpPr>
          <p:cNvPr id="9" name="Rounded Rectangle 8"/>
          <p:cNvSpPr/>
          <p:nvPr/>
        </p:nvSpPr>
        <p:spPr>
          <a:xfrm>
            <a:off x="5577840" y="1645920"/>
            <a:ext cx="588233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dulao_roi_map.png"/>
          <p:cNvPicPr>
            <a:picLocks noChangeAspect="1"/>
          </p:cNvPicPr>
          <p:nvPr/>
        </p:nvPicPr>
        <p:blipFill>
          <a:blip r:embed="rId3"/>
          <a:stretch>
            <a:fillRect/>
          </a:stretch>
        </p:blipFill>
        <p:spPr>
          <a:xfrm>
            <a:off x="5669280" y="1737360"/>
            <a:ext cx="5699455" cy="44805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2. PROJECT SCOPE</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Project Scope: Functional Capabilities &amp; Boundary Matrix</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07 / 20</a:t>
            </a:r>
          </a:p>
        </p:txBody>
      </p:sp>
      <p:sp>
        <p:nvSpPr>
          <p:cNvPr id="7" name="Rounded Rectangle 6"/>
          <p:cNvSpPr/>
          <p:nvPr/>
        </p:nvSpPr>
        <p:spPr>
          <a:xfrm>
            <a:off x="731520" y="1645920"/>
            <a:ext cx="5212080" cy="4663440"/>
          </a:xfrm>
          <a:prstGeom prst="roundRect">
            <a:avLst/>
          </a:prstGeom>
          <a:solidFill>
            <a:srgbClr val="F0FDF4"/>
          </a:solidFill>
          <a:ln w="254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28800"/>
            <a:ext cx="4846320" cy="4297680"/>
          </a:xfrm>
          <a:prstGeom prst="rect">
            <a:avLst/>
          </a:prstGeom>
          <a:noFill/>
        </p:spPr>
        <p:txBody>
          <a:bodyPr wrap="square">
            <a:spAutoFit/>
          </a:bodyPr>
          <a:lstStyle/>
          <a:p>
            <a:pPr>
              <a:defRPr sz="1100" b="1">
                <a:solidFill>
                  <a:srgbClr val="2D6A4F"/>
                </a:solidFill>
              </a:defRPr>
            </a:pPr>
            <a:r>
              <a:t>IN-SCOPE CAPABILITIES (SYSTEM DELIVERABLES)</a:t>
            </a:r>
          </a:p>
          <a:p>
            <a:pPr>
              <a:spcAft>
                <a:spcPts val="800"/>
              </a:spcAft>
              <a:defRPr sz="1600" b="1">
                <a:solidFill>
                  <a:srgbClr val="0F172A"/>
                </a:solidFill>
              </a:defRPr>
            </a:pPr>
            <a:r>
              <a:t>Operational Focus</a:t>
            </a:r>
          </a:p>
          <a:p>
            <a:pPr>
              <a:spcBef>
                <a:spcPts val="400"/>
              </a:spcBef>
              <a:defRPr sz="1050" b="1">
                <a:solidFill>
                  <a:srgbClr val="166534"/>
                </a:solidFill>
              </a:defRPr>
            </a:pPr>
            <a:r>
              <a:t>✓ Sentinel-2 MSI Preprocessing:</a:t>
            </a:r>
          </a:p>
          <a:p>
            <a:pPr>
              <a:defRPr sz="1000">
                <a:solidFill>
                  <a:srgbClr val="475569"/>
                </a:solidFill>
              </a:defRPr>
            </a:pPr>
            <a:r>
              <a:t>Harmonized L2A reflectance collection across 2019–2024 dry seasons.</a:t>
            </a:r>
          </a:p>
          <a:p>
            <a:pPr>
              <a:spcBef>
                <a:spcPts val="400"/>
              </a:spcBef>
              <a:defRPr sz="1050" b="1">
                <a:solidFill>
                  <a:srgbClr val="166534"/>
                </a:solidFill>
              </a:defRPr>
            </a:pPr>
            <a:r>
              <a:t>✓ Multi-Band Feature Stacking:</a:t>
            </a:r>
          </a:p>
          <a:p>
            <a:pPr>
              <a:defRPr sz="1000">
                <a:solidFill>
                  <a:srgbClr val="475569"/>
                </a:solidFill>
              </a:defRPr>
            </a:pPr>
            <a:r>
              <a:t>Extraction of B3, B4, B8, B11 (resampled to 10m), and computed NDVI into 5-channel 256×256 tensors.</a:t>
            </a:r>
          </a:p>
          <a:p>
            <a:pPr>
              <a:spcBef>
                <a:spcPts val="400"/>
              </a:spcBef>
              <a:defRPr sz="1050" b="1">
                <a:solidFill>
                  <a:srgbClr val="166534"/>
                </a:solidFill>
              </a:defRPr>
            </a:pPr>
            <a:r>
              <a:t>✓ Binary Semantic Segmentation:</a:t>
            </a:r>
          </a:p>
          <a:p>
            <a:pPr>
              <a:defRPr sz="1000">
                <a:solidFill>
                  <a:srgbClr val="475569"/>
                </a:solidFill>
              </a:defRPr>
            </a:pPr>
            <a:r>
              <a:t>U-Net classification of mangrove vs. non-mangrove canopy covers.</a:t>
            </a:r>
          </a:p>
          <a:p>
            <a:pPr>
              <a:spcBef>
                <a:spcPts val="400"/>
              </a:spcBef>
              <a:defRPr sz="1050" b="1">
                <a:solidFill>
                  <a:srgbClr val="166534"/>
                </a:solidFill>
              </a:defRPr>
            </a:pPr>
            <a:r>
              <a:t>✓ Pairwise Post-Classification (PCC):</a:t>
            </a:r>
          </a:p>
          <a:p>
            <a:pPr>
              <a:defRPr sz="1000">
                <a:solidFill>
                  <a:srgbClr val="475569"/>
                </a:solidFill>
              </a:defRPr>
            </a:pPr>
            <a:r>
              <a:t>Mathematical cross-tabulation of all 15 annual pairs into Gain, Loss, Stable, and Other.</a:t>
            </a:r>
          </a:p>
          <a:p>
            <a:pPr>
              <a:spcBef>
                <a:spcPts val="400"/>
              </a:spcBef>
              <a:defRPr sz="1050" b="1">
                <a:solidFill>
                  <a:srgbClr val="166534"/>
                </a:solidFill>
              </a:defRPr>
            </a:pPr>
            <a:r>
              <a:t>✓ Interactive Web GIS Dashboard:</a:t>
            </a:r>
          </a:p>
          <a:p>
            <a:pPr>
              <a:defRPr sz="1000">
                <a:solidFill>
                  <a:srgbClr val="475569"/>
                </a:solidFill>
              </a:defRPr>
            </a:pPr>
            <a:r>
              <a:t>Flask backend, REST API, Leaflet map overlays, and Chart.js historical trend analytics.</a:t>
            </a:r>
          </a:p>
          <a:p>
            <a:pPr>
              <a:spcBef>
                <a:spcPts val="400"/>
              </a:spcBef>
              <a:defRPr sz="1050" b="1">
                <a:solidFill>
                  <a:srgbClr val="166534"/>
                </a:solidFill>
              </a:defRPr>
            </a:pPr>
            <a:r>
              <a:t>✓ Automated Municipal Reporting:</a:t>
            </a:r>
          </a:p>
          <a:p>
            <a:pPr>
              <a:defRPr sz="1000">
                <a:solidFill>
                  <a:srgbClr val="475569"/>
                </a:solidFill>
              </a:defRPr>
            </a:pPr>
            <a:r>
              <a:t>One-click generation of formal A4 PDF reports for Aringay MENRO.</a:t>
            </a:r>
          </a:p>
        </p:txBody>
      </p:sp>
      <p:sp>
        <p:nvSpPr>
          <p:cNvPr id="9" name="Rounded Rectangle 8"/>
          <p:cNvSpPr/>
          <p:nvPr/>
        </p:nvSpPr>
        <p:spPr>
          <a:xfrm>
            <a:off x="6217920" y="1645920"/>
            <a:ext cx="5242255" cy="46634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828800"/>
            <a:ext cx="4846320" cy="4297680"/>
          </a:xfrm>
          <a:prstGeom prst="rect">
            <a:avLst/>
          </a:prstGeom>
          <a:noFill/>
        </p:spPr>
        <p:txBody>
          <a:bodyPr wrap="square">
            <a:spAutoFit/>
          </a:bodyPr>
          <a:lstStyle/>
          <a:p>
            <a:pPr>
              <a:defRPr sz="1100" b="1">
                <a:solidFill>
                  <a:srgbClr val="991B1B"/>
                </a:solidFill>
              </a:defRPr>
            </a:pPr>
            <a:r>
              <a:t>OUT-OF-SCOPE &amp; DELIMITATIONS (BOUNDARIES)</a:t>
            </a:r>
          </a:p>
          <a:p>
            <a:pPr>
              <a:spcAft>
                <a:spcPts val="800"/>
              </a:spcAft>
              <a:defRPr sz="1600" b="1">
                <a:solidFill>
                  <a:srgbClr val="0F172A"/>
                </a:solidFill>
              </a:defRPr>
            </a:pPr>
            <a:r>
              <a:t>System Delimitations</a:t>
            </a:r>
          </a:p>
          <a:p>
            <a:pPr>
              <a:spcBef>
                <a:spcPts val="400"/>
              </a:spcBef>
              <a:defRPr sz="1050" b="1">
                <a:solidFill>
                  <a:srgbClr val="991B1B"/>
                </a:solidFill>
              </a:defRPr>
            </a:pPr>
            <a:r>
              <a:t>✗ Live Satellite Ingestion:</a:t>
            </a:r>
          </a:p>
          <a:p>
            <a:pPr>
              <a:defRPr sz="1000">
                <a:solidFill>
                  <a:srgbClr val="475569"/>
                </a:solidFill>
              </a:defRPr>
            </a:pPr>
            <a:r>
              <a:t>The web prototype is designed for decision support and planning using pre-computed seasonal mosaics, not real-time in-browser satellite downloads.</a:t>
            </a:r>
          </a:p>
          <a:p>
            <a:pPr>
              <a:spcBef>
                <a:spcPts val="400"/>
              </a:spcBef>
              <a:defRPr sz="1050" b="1">
                <a:solidFill>
                  <a:srgbClr val="991B1B"/>
                </a:solidFill>
              </a:defRPr>
            </a:pPr>
            <a:r>
              <a:t>✗ Species-Level Classification:</a:t>
            </a:r>
          </a:p>
          <a:p>
            <a:pPr>
              <a:defRPr sz="1000">
                <a:solidFill>
                  <a:srgbClr val="475569"/>
                </a:solidFill>
              </a:defRPr>
            </a:pPr>
            <a:r>
              <a:t>Delimited strictly to binary mangrove canopy presence due to Sentinel-2's 10m resolution (Rhizophora vs. Avicennia separation requires drone/hyperspectral data).</a:t>
            </a:r>
          </a:p>
          <a:p>
            <a:pPr>
              <a:spcBef>
                <a:spcPts val="400"/>
              </a:spcBef>
              <a:defRPr sz="1050" b="1">
                <a:solidFill>
                  <a:srgbClr val="991B1B"/>
                </a:solidFill>
              </a:defRPr>
            </a:pPr>
            <a:r>
              <a:t>✗ Wet Season Monitoring:</a:t>
            </a:r>
          </a:p>
          <a:p>
            <a:pPr>
              <a:defRPr sz="1000">
                <a:solidFill>
                  <a:srgbClr val="475569"/>
                </a:solidFill>
              </a:defRPr>
            </a:pPr>
            <a:r>
              <a:t>Monsoonal months (May–January) are excluded due to frequent cloud cover exceeding 70-80%.</a:t>
            </a:r>
          </a:p>
          <a:p>
            <a:pPr>
              <a:spcBef>
                <a:spcPts val="400"/>
              </a:spcBef>
              <a:defRPr sz="1050" b="1">
                <a:solidFill>
                  <a:srgbClr val="991B1B"/>
                </a:solidFill>
              </a:defRPr>
            </a:pPr>
            <a:r>
              <a:t>✗ Commercial Satellite Sensors:</a:t>
            </a:r>
          </a:p>
          <a:p>
            <a:pPr>
              <a:defRPr sz="1000">
                <a:solidFill>
                  <a:srgbClr val="475569"/>
                </a:solidFill>
              </a:defRPr>
            </a:pPr>
            <a:r>
              <a:t>High-cost sensors (PlanetScope, WorldView) are excluded to ensure zero licensing costs for municipal LGU sustainability.</a:t>
            </a:r>
          </a:p>
          <a:p>
            <a:pPr>
              <a:spcBef>
                <a:spcPts val="400"/>
              </a:spcBef>
              <a:defRPr sz="1050" b="1">
                <a:solidFill>
                  <a:srgbClr val="991B1B"/>
                </a:solidFill>
              </a:defRPr>
            </a:pPr>
            <a:r>
              <a:t>✗ Autonomous Drone Integration:</a:t>
            </a:r>
          </a:p>
          <a:p>
            <a:pPr>
              <a:defRPr sz="1000">
                <a:solidFill>
                  <a:srgbClr val="475569"/>
                </a:solidFill>
              </a:defRPr>
            </a:pPr>
            <a:r>
              <a:t>UAV field surveys are outside the software scope but recommended for future micro-scale planting validation.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3. SOFTWARE DEVT METHODOLOGY</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Software Devt Methodology: Iterative &amp; Incremental Model</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08 / 20</a:t>
            </a:r>
          </a:p>
        </p:txBody>
      </p:sp>
      <p:sp>
        <p:nvSpPr>
          <p:cNvPr id="7" name="Rounded Rectangle 6"/>
          <p:cNvSpPr/>
          <p:nvPr/>
        </p:nvSpPr>
        <p:spPr>
          <a:xfrm>
            <a:off x="731520" y="164592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21_img1_86.jpeg"/>
          <p:cNvPicPr>
            <a:picLocks noChangeAspect="1"/>
          </p:cNvPicPr>
          <p:nvPr/>
        </p:nvPicPr>
        <p:blipFill>
          <a:blip r:embed="rId3"/>
          <a:stretch>
            <a:fillRect/>
          </a:stretch>
        </p:blipFill>
        <p:spPr>
          <a:xfrm>
            <a:off x="822960" y="1828800"/>
            <a:ext cx="6035040" cy="4297680"/>
          </a:xfrm>
          <a:prstGeom prst="rect">
            <a:avLst/>
          </a:prstGeom>
        </p:spPr>
      </p:pic>
      <p:sp>
        <p:nvSpPr>
          <p:cNvPr id="9" name="Rounded Rectangle 8"/>
          <p:cNvSpPr/>
          <p:nvPr/>
        </p:nvSpPr>
        <p:spPr>
          <a:xfrm>
            <a:off x="7132320" y="1645920"/>
            <a:ext cx="43278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0" y="1828800"/>
            <a:ext cx="3962095" cy="4297680"/>
          </a:xfrm>
          <a:prstGeom prst="rect">
            <a:avLst/>
          </a:prstGeom>
          <a:noFill/>
        </p:spPr>
        <p:txBody>
          <a:bodyPr wrap="square">
            <a:spAutoFit/>
          </a:bodyPr>
          <a:lstStyle/>
          <a:p>
            <a:pPr>
              <a:defRPr sz="1100" b="1">
                <a:solidFill>
                  <a:srgbClr val="2D6A4F"/>
                </a:solidFill>
              </a:defRPr>
            </a:pPr>
            <a:r>
              <a:t>IID MODEL IMPLEMENTATION PHASES</a:t>
            </a:r>
          </a:p>
          <a:p>
            <a:pPr>
              <a:spcBef>
                <a:spcPts val="300"/>
              </a:spcBef>
              <a:defRPr sz="950" b="1">
                <a:solidFill>
                  <a:srgbClr val="0F172A"/>
                </a:solidFill>
              </a:defRPr>
            </a:pPr>
            <a:r>
              <a:t>• Phase 1: Domain Analysis: </a:t>
            </a:r>
            <a:r>
              <a:rPr sz="950" b="0">
                <a:solidFill>
                  <a:srgbClr val="475569"/>
                </a:solidFill>
              </a:rPr>
              <a:t>Consulted Aringay MENRO on local conservation needs.</a:t>
            </a:r>
          </a:p>
          <a:p>
            <a:pPr>
              <a:spcBef>
                <a:spcPts val="300"/>
              </a:spcBef>
              <a:defRPr sz="950" b="1">
                <a:solidFill>
                  <a:srgbClr val="0F172A"/>
                </a:solidFill>
              </a:defRPr>
            </a:pPr>
            <a:r>
              <a:t>• Phase 2: Data Acquisition: </a:t>
            </a:r>
            <a:r>
              <a:rPr sz="950" b="0">
                <a:solidFill>
                  <a:srgbClr val="475569"/>
                </a:solidFill>
              </a:rPr>
              <a:t>Extracted 2019–2024 Sentinel-2 scenes via Earth Engine.</a:t>
            </a:r>
          </a:p>
          <a:p>
            <a:pPr>
              <a:spcBef>
                <a:spcPts val="300"/>
              </a:spcBef>
              <a:defRPr sz="950" b="1">
                <a:solidFill>
                  <a:srgbClr val="0F172A"/>
                </a:solidFill>
              </a:defRPr>
            </a:pPr>
            <a:r>
              <a:t>• Phase 3: Preprocessing &amp; Stack: </a:t>
            </a:r>
            <a:r>
              <a:rPr sz="950" b="0">
                <a:solidFill>
                  <a:srgbClr val="475569"/>
                </a:solidFill>
              </a:rPr>
              <a:t>Harmonization, bilinear resampling, and NDVI calculation.</a:t>
            </a:r>
          </a:p>
          <a:p>
            <a:pPr>
              <a:spcBef>
                <a:spcPts val="300"/>
              </a:spcBef>
              <a:defRPr sz="950" b="1">
                <a:solidFill>
                  <a:srgbClr val="0F172A"/>
                </a:solidFill>
              </a:defRPr>
            </a:pPr>
            <a:r>
              <a:t>• Phase 4: Dataset &amp; Partitioning: </a:t>
            </a:r>
            <a:r>
              <a:rPr sz="950" b="0">
                <a:solidFill>
                  <a:srgbClr val="475569"/>
                </a:solidFill>
              </a:rPr>
              <a:t>Patch slicing (256×256) &amp; 80/20 train-validation protocol.</a:t>
            </a:r>
          </a:p>
          <a:p>
            <a:pPr>
              <a:spcBef>
                <a:spcPts val="300"/>
              </a:spcBef>
              <a:defRPr sz="950" b="1">
                <a:solidFill>
                  <a:srgbClr val="0F172A"/>
                </a:solidFill>
              </a:defRPr>
            </a:pPr>
            <a:r>
              <a:t>• Phase 5: U-Net Architecture: </a:t>
            </a:r>
            <a:r>
              <a:rPr sz="950" b="0">
                <a:solidFill>
                  <a:srgbClr val="475569"/>
                </a:solidFill>
              </a:rPr>
              <a:t>Constructed 5-channel encoder-decoder deep network.</a:t>
            </a:r>
          </a:p>
          <a:p>
            <a:pPr>
              <a:spcBef>
                <a:spcPts val="300"/>
              </a:spcBef>
              <a:defRPr sz="950" b="1">
                <a:solidFill>
                  <a:srgbClr val="0F172A"/>
                </a:solidFill>
              </a:defRPr>
            </a:pPr>
            <a:r>
              <a:t>• Phase 6: Training &amp; Validation: </a:t>
            </a:r>
            <a:r>
              <a:rPr sz="950" b="0">
                <a:solidFill>
                  <a:srgbClr val="475569"/>
                </a:solidFill>
              </a:rPr>
              <a:t>Adam optimizer, BCE loss, EarlyStopping (patience=10).</a:t>
            </a:r>
          </a:p>
          <a:p>
            <a:pPr>
              <a:spcBef>
                <a:spcPts val="300"/>
              </a:spcBef>
              <a:defRPr sz="950" b="1">
                <a:solidFill>
                  <a:srgbClr val="0F172A"/>
                </a:solidFill>
              </a:defRPr>
            </a:pPr>
            <a:r>
              <a:t>• Phase 7: Change Detection (PCC): </a:t>
            </a:r>
            <a:r>
              <a:rPr sz="950" b="0">
                <a:solidFill>
                  <a:srgbClr val="475569"/>
                </a:solidFill>
              </a:rPr>
              <a:t>Matrix comparison for Gain, Loss, Stable, and Other.</a:t>
            </a:r>
          </a:p>
          <a:p>
            <a:pPr>
              <a:spcBef>
                <a:spcPts val="300"/>
              </a:spcBef>
              <a:defRPr sz="950" b="1">
                <a:solidFill>
                  <a:srgbClr val="0F172A"/>
                </a:solidFill>
              </a:defRPr>
            </a:pPr>
            <a:r>
              <a:t>• Phase 8: Web Prototype &amp; Reports: </a:t>
            </a:r>
            <a:r>
              <a:rPr sz="950" b="0">
                <a:solidFill>
                  <a:srgbClr val="475569"/>
                </a:solidFill>
              </a:rPr>
              <a:t>Interactive Flask web GIS and automated PDF reports.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3. SOFTWARE DEVT METHODOLOGY</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Software Devt Methodology: Data Preprocessing &amp; Partitioning</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09 / 20</a:t>
            </a:r>
          </a:p>
        </p:txBody>
      </p:sp>
      <p:sp>
        <p:nvSpPr>
          <p:cNvPr id="7" name="Rounded Rectangle 6"/>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28800"/>
            <a:ext cx="4846320" cy="4297680"/>
          </a:xfrm>
          <a:prstGeom prst="rect">
            <a:avLst/>
          </a:prstGeom>
          <a:noFill/>
        </p:spPr>
        <p:txBody>
          <a:bodyPr wrap="square">
            <a:spAutoFit/>
          </a:bodyPr>
          <a:lstStyle/>
          <a:p>
            <a:pPr>
              <a:defRPr sz="1100" b="1">
                <a:solidFill>
                  <a:srgbClr val="2D6A4F"/>
                </a:solidFill>
              </a:defRPr>
            </a:pPr>
            <a:r>
              <a:t>DATA INGESTION &amp; FEATURE ENGINEERING</a:t>
            </a:r>
          </a:p>
          <a:p>
            <a:pPr>
              <a:spcAft>
                <a:spcPts val="600"/>
              </a:spcAft>
              <a:defRPr sz="1500" b="1">
                <a:solidFill>
                  <a:srgbClr val="0F172A"/>
                </a:solidFill>
              </a:defRPr>
            </a:pPr>
            <a:r>
              <a:t>Sentinel-2 Multi-Spectral Pipeline</a:t>
            </a:r>
          </a:p>
          <a:p>
            <a:pPr>
              <a:spcBef>
                <a:spcPts val="400"/>
              </a:spcBef>
              <a:defRPr sz="1000" b="1">
                <a:solidFill>
                  <a:srgbClr val="0F172A"/>
                </a:solidFill>
              </a:defRPr>
            </a:pPr>
            <a:r>
              <a:t>Level-2A Surface Reflectance:</a:t>
            </a:r>
          </a:p>
          <a:p>
            <a:pPr>
              <a:defRPr sz="950">
                <a:solidFill>
                  <a:srgbClr val="475569"/>
                </a:solidFill>
              </a:defRPr>
            </a:pPr>
            <a:r>
              <a:t>Copernicus Sentinel-2 MSI products acquired via Google Earth Engine.</a:t>
            </a:r>
          </a:p>
          <a:p>
            <a:pPr>
              <a:spcBef>
                <a:spcPts val="400"/>
              </a:spcBef>
              <a:defRPr sz="1000" b="1">
                <a:solidFill>
                  <a:srgbClr val="0F172A"/>
                </a:solidFill>
              </a:defRPr>
            </a:pPr>
            <a:r>
              <a:t>Band Isolation:</a:t>
            </a:r>
          </a:p>
          <a:p>
            <a:pPr>
              <a:defRPr sz="950">
                <a:solidFill>
                  <a:srgbClr val="475569"/>
                </a:solidFill>
              </a:defRPr>
            </a:pPr>
            <a:r>
              <a:t>B3 (Green 560nm), B4 (Red 665nm), B8 (NIR 842nm), B11 (SWIR 1610nm).</a:t>
            </a:r>
          </a:p>
          <a:p>
            <a:pPr>
              <a:spcBef>
                <a:spcPts val="400"/>
              </a:spcBef>
              <a:defRPr sz="1000" b="1">
                <a:solidFill>
                  <a:srgbClr val="0F172A"/>
                </a:solidFill>
              </a:defRPr>
            </a:pPr>
            <a:r>
              <a:t>Bilinear Resampling:</a:t>
            </a:r>
          </a:p>
          <a:p>
            <a:pPr>
              <a:defRPr sz="950">
                <a:solidFill>
                  <a:srgbClr val="475569"/>
                </a:solidFill>
              </a:defRPr>
            </a:pPr>
            <a:r>
              <a:t>Band 11 resampled from native 20m to 10m grid to match B3, B4, and B8.</a:t>
            </a:r>
          </a:p>
          <a:p>
            <a:pPr>
              <a:spcBef>
                <a:spcPts val="400"/>
              </a:spcBef>
              <a:defRPr sz="1000" b="1">
                <a:solidFill>
                  <a:srgbClr val="0F172A"/>
                </a:solidFill>
              </a:defRPr>
            </a:pPr>
            <a:r>
              <a:t>NDVI Integration:</a:t>
            </a:r>
          </a:p>
          <a:p>
            <a:pPr>
              <a:defRPr sz="950">
                <a:solidFill>
                  <a:srgbClr val="475569"/>
                </a:solidFill>
              </a:defRPr>
            </a:pPr>
            <a:r>
              <a:t>Calculated as (B8 - B4) / (B8 + B4) and rescaled to [0.0, 1.0].</a:t>
            </a:r>
          </a:p>
          <a:p>
            <a:pPr>
              <a:spcBef>
                <a:spcPts val="400"/>
              </a:spcBef>
              <a:defRPr sz="1000" b="1">
                <a:solidFill>
                  <a:srgbClr val="0F172A"/>
                </a:solidFill>
              </a:defRPr>
            </a:pPr>
            <a:r>
              <a:t>Tiling &amp; Padding:</a:t>
            </a:r>
          </a:p>
          <a:p>
            <a:pPr>
              <a:defRPr sz="950">
                <a:solidFill>
                  <a:srgbClr val="475569"/>
                </a:solidFill>
              </a:defRPr>
            </a:pPr>
            <a:r>
              <a:t>Sliced into 256×256 patches with reflection padding along ROI borders.</a:t>
            </a:r>
          </a:p>
        </p:txBody>
      </p:sp>
      <p:sp>
        <p:nvSpPr>
          <p:cNvPr id="9" name="Rounded Rectangle 8"/>
          <p:cNvSpPr/>
          <p:nvPr/>
        </p:nvSpPr>
        <p:spPr>
          <a:xfrm>
            <a:off x="6217920" y="1645920"/>
            <a:ext cx="52422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828800"/>
            <a:ext cx="4846320" cy="4297680"/>
          </a:xfrm>
          <a:prstGeom prst="rect">
            <a:avLst/>
          </a:prstGeom>
          <a:noFill/>
        </p:spPr>
        <p:txBody>
          <a:bodyPr wrap="square">
            <a:spAutoFit/>
          </a:bodyPr>
          <a:lstStyle/>
          <a:p>
            <a:pPr>
              <a:defRPr sz="1100" b="1">
                <a:solidFill>
                  <a:srgbClr val="2D6A4F"/>
                </a:solidFill>
              </a:defRPr>
            </a:pPr>
            <a:r>
              <a:t>EXPERIMENTAL DATA PARTITIONING</a:t>
            </a:r>
          </a:p>
          <a:p>
            <a:pPr>
              <a:spcAft>
                <a:spcPts val="600"/>
              </a:spcAft>
              <a:defRPr sz="1500" b="1">
                <a:solidFill>
                  <a:srgbClr val="0F172A"/>
                </a:solidFill>
              </a:defRPr>
            </a:pPr>
            <a:r>
              <a:t>80% Training / 20% Validation Protocol</a:t>
            </a:r>
          </a:p>
          <a:p>
            <a:pPr>
              <a:spcBef>
                <a:spcPts val="400"/>
              </a:spcBef>
              <a:defRPr sz="1000" b="1">
                <a:solidFill>
                  <a:srgbClr val="0F172A"/>
                </a:solidFill>
              </a:defRPr>
            </a:pPr>
            <a:r>
              <a:t>Experimental Protocol:</a:t>
            </a:r>
          </a:p>
          <a:p>
            <a:pPr>
              <a:defRPr sz="950">
                <a:solidFill>
                  <a:srgbClr val="475569"/>
                </a:solidFill>
              </a:defRPr>
            </a:pPr>
            <a:r>
              <a:t>The 80/20 partition was adopted by the research team as the study-specific experimental protocol.</a:t>
            </a:r>
          </a:p>
          <a:p>
            <a:pPr>
              <a:spcBef>
                <a:spcPts val="400"/>
              </a:spcBef>
              <a:defRPr sz="1000" b="1">
                <a:solidFill>
                  <a:srgbClr val="0F172A"/>
                </a:solidFill>
              </a:defRPr>
            </a:pPr>
            <a:r>
              <a:t>80% Training Partition:</a:t>
            </a:r>
          </a:p>
          <a:p>
            <a:pPr>
              <a:defRPr sz="950">
                <a:solidFill>
                  <a:srgbClr val="475569"/>
                </a:solidFill>
              </a:defRPr>
            </a:pPr>
            <a:r>
              <a:t>Used to optimize convolutional weights via backpropagation and Adam optimizer (lr=0.001).</a:t>
            </a:r>
          </a:p>
          <a:p>
            <a:pPr>
              <a:spcBef>
                <a:spcPts val="400"/>
              </a:spcBef>
              <a:defRPr sz="1000" b="1">
                <a:solidFill>
                  <a:srgbClr val="0F172A"/>
                </a:solidFill>
              </a:defRPr>
            </a:pPr>
            <a:r>
              <a:t>20% Holdout Validation:</a:t>
            </a:r>
          </a:p>
          <a:p>
            <a:pPr>
              <a:defRPr sz="950">
                <a:solidFill>
                  <a:srgbClr val="475569"/>
                </a:solidFill>
              </a:defRPr>
            </a:pPr>
            <a:r>
              <a:t>Completely isolated from model training. Evaluated at each epoch to monitor generalization and avoid overfitting.</a:t>
            </a:r>
          </a:p>
          <a:p>
            <a:pPr>
              <a:spcBef>
                <a:spcPts val="400"/>
              </a:spcBef>
              <a:defRPr sz="1000" b="1">
                <a:solidFill>
                  <a:srgbClr val="0F172A"/>
                </a:solidFill>
              </a:defRPr>
            </a:pPr>
            <a:r>
              <a:t>Optimization Controls:</a:t>
            </a:r>
          </a:p>
          <a:p>
            <a:pPr>
              <a:defRPr sz="950">
                <a:solidFill>
                  <a:srgbClr val="475569"/>
                </a:solidFill>
              </a:defRPr>
            </a:pPr>
            <a:r>
              <a:t>Binary Cross-Entropy (BCE) loss + EarlyStopping (patience=10 epochs on validation loss).</a:t>
            </a:r>
          </a:p>
          <a:p>
            <a:pPr>
              <a:spcBef>
                <a:spcPts val="400"/>
              </a:spcBef>
              <a:defRPr sz="1000" b="1">
                <a:solidFill>
                  <a:srgbClr val="0F172A"/>
                </a:solidFill>
              </a:defRPr>
            </a:pPr>
            <a:r>
              <a:t>Academic Integrity Rule:</a:t>
            </a:r>
          </a:p>
          <a:p>
            <a:pPr>
              <a:defRPr sz="950">
                <a:solidFill>
                  <a:srgbClr val="475569"/>
                </a:solidFill>
              </a:defRPr>
            </a:pPr>
            <a:r>
              <a:t>This 80/20 partition is an established experimental choice by the research team and is not attributed to external papers.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3. SOFTWARE DEVT METHODOLOGY</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Software Devt Methodology: Quality Assurance &amp; Evaluation</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10 / 20</a:t>
            </a:r>
          </a:p>
        </p:txBody>
      </p:sp>
      <p:sp>
        <p:nvSpPr>
          <p:cNvPr id="7" name="Rounded Rectangle 6"/>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28800"/>
            <a:ext cx="4846320" cy="4297680"/>
          </a:xfrm>
          <a:prstGeom prst="rect">
            <a:avLst/>
          </a:prstGeom>
          <a:noFill/>
        </p:spPr>
        <p:txBody>
          <a:bodyPr wrap="square">
            <a:spAutoFit/>
          </a:bodyPr>
          <a:lstStyle/>
          <a:p>
            <a:pPr>
              <a:defRPr sz="1100" b="1">
                <a:solidFill>
                  <a:srgbClr val="2D6A4F"/>
                </a:solidFill>
              </a:defRPr>
            </a:pPr>
            <a:r>
              <a:t>ACADEMIC EVALUATION METRICS</a:t>
            </a:r>
          </a:p>
          <a:p>
            <a:pPr>
              <a:spcAft>
                <a:spcPts val="600"/>
              </a:spcAft>
              <a:defRPr sz="1500" b="1">
                <a:solidFill>
                  <a:srgbClr val="0F172A"/>
                </a:solidFill>
              </a:defRPr>
            </a:pPr>
            <a:r>
              <a:t>Standard Segmentation Metrics</a:t>
            </a:r>
          </a:p>
          <a:p>
            <a:pPr>
              <a:spcBef>
                <a:spcPts val="400"/>
              </a:spcBef>
              <a:defRPr sz="1000" b="1">
                <a:solidFill>
                  <a:srgbClr val="0F172A"/>
                </a:solidFill>
              </a:defRPr>
            </a:pPr>
            <a:r>
              <a:t>Precision:</a:t>
            </a:r>
          </a:p>
          <a:p>
            <a:pPr>
              <a:defRPr sz="950">
                <a:solidFill>
                  <a:srgbClr val="475569"/>
                </a:solidFill>
              </a:defRPr>
            </a:pPr>
            <a:r>
              <a:t>TP / (TP + FP) — Minimizes false positive mangrove claims over fishpond algae.</a:t>
            </a:r>
          </a:p>
          <a:p>
            <a:pPr>
              <a:spcBef>
                <a:spcPts val="400"/>
              </a:spcBef>
              <a:defRPr sz="1000" b="1">
                <a:solidFill>
                  <a:srgbClr val="0F172A"/>
                </a:solidFill>
              </a:defRPr>
            </a:pPr>
            <a:r>
              <a:t>Recall (Sensitivity):</a:t>
            </a:r>
          </a:p>
          <a:p>
            <a:pPr>
              <a:defRPr sz="950">
                <a:solidFill>
                  <a:srgbClr val="475569"/>
                </a:solidFill>
              </a:defRPr>
            </a:pPr>
            <a:r>
              <a:t>TP / (TP + FN) — Ensures actual fragmented mangrove stands are not missed.</a:t>
            </a:r>
          </a:p>
          <a:p>
            <a:pPr>
              <a:spcBef>
                <a:spcPts val="400"/>
              </a:spcBef>
              <a:defRPr sz="1000" b="1">
                <a:solidFill>
                  <a:srgbClr val="0F172A"/>
                </a:solidFill>
              </a:defRPr>
            </a:pPr>
            <a:r>
              <a:t>F1-Score (Dice Coeff):</a:t>
            </a:r>
          </a:p>
          <a:p>
            <a:pPr>
              <a:defRPr sz="950">
                <a:solidFill>
                  <a:srgbClr val="475569"/>
                </a:solidFill>
              </a:defRPr>
            </a:pPr>
            <a:r>
              <a:t>2 × (Prec × Rec) / (Prec + Rec) — Harmonic balance of accuracy across classes.</a:t>
            </a:r>
          </a:p>
          <a:p>
            <a:pPr>
              <a:spcBef>
                <a:spcPts val="400"/>
              </a:spcBef>
              <a:defRPr sz="1000" b="1">
                <a:solidFill>
                  <a:srgbClr val="0F172A"/>
                </a:solidFill>
              </a:defRPr>
            </a:pPr>
            <a:r>
              <a:t>Intersection over Union (IoU):</a:t>
            </a:r>
          </a:p>
          <a:p>
            <a:pPr>
              <a:defRPr sz="950">
                <a:solidFill>
                  <a:srgbClr val="475569"/>
                </a:solidFill>
              </a:defRPr>
            </a:pPr>
            <a:r>
              <a:t>TP / (TP + FP + FN) — Standard geospatial overlap benchmark.</a:t>
            </a:r>
          </a:p>
          <a:p>
            <a:pPr>
              <a:spcBef>
                <a:spcPts val="400"/>
              </a:spcBef>
              <a:defRPr sz="1000" b="1">
                <a:solidFill>
                  <a:srgbClr val="0F172A"/>
                </a:solidFill>
              </a:defRPr>
            </a:pPr>
            <a:r>
              <a:t>Mean Average Precision (mAP):</a:t>
            </a:r>
          </a:p>
          <a:p>
            <a:pPr>
              <a:defRPr sz="950">
                <a:solidFill>
                  <a:srgbClr val="475569"/>
                </a:solidFill>
              </a:defRPr>
            </a:pPr>
            <a:r>
              <a:t>Integrated Area Under the Precision-Recall Curve across threshold sweeps.</a:t>
            </a:r>
          </a:p>
          <a:p>
            <a:pPr>
              <a:spcBef>
                <a:spcPts val="400"/>
              </a:spcBef>
              <a:defRPr sz="1000" b="1">
                <a:solidFill>
                  <a:srgbClr val="0F172A"/>
                </a:solidFill>
              </a:defRPr>
            </a:pPr>
            <a:r>
              <a:t>Threshold Sweep Protocol:</a:t>
            </a:r>
          </a:p>
          <a:p>
            <a:pPr>
              <a:defRPr sz="950">
                <a:solidFill>
                  <a:srgbClr val="475569"/>
                </a:solidFill>
              </a:defRPr>
            </a:pPr>
            <a:r>
              <a:t>Evaluated across 19 cutoffs from 0.05 to 0.95 (step 0.05) to determine optimal operating threshold.</a:t>
            </a:r>
          </a:p>
        </p:txBody>
      </p:sp>
      <p:sp>
        <p:nvSpPr>
          <p:cNvPr id="9" name="Rounded Rectangle 8"/>
          <p:cNvSpPr/>
          <p:nvPr/>
        </p:nvSpPr>
        <p:spPr>
          <a:xfrm>
            <a:off x="6217920" y="1645920"/>
            <a:ext cx="52422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828800"/>
            <a:ext cx="4846320" cy="4297680"/>
          </a:xfrm>
          <a:prstGeom prst="rect">
            <a:avLst/>
          </a:prstGeom>
          <a:noFill/>
        </p:spPr>
        <p:txBody>
          <a:bodyPr wrap="square">
            <a:spAutoFit/>
          </a:bodyPr>
          <a:lstStyle/>
          <a:p>
            <a:pPr>
              <a:defRPr sz="1100" b="1">
                <a:solidFill>
                  <a:srgbClr val="2D6A4F"/>
                </a:solidFill>
              </a:defRPr>
            </a:pPr>
            <a:r>
              <a:t>SOFTWARE QUALITY VERIFICATION</a:t>
            </a:r>
          </a:p>
          <a:p>
            <a:pPr>
              <a:spcAft>
                <a:spcPts val="600"/>
              </a:spcAft>
              <a:defRPr sz="1500" b="1">
                <a:solidFill>
                  <a:srgbClr val="0F172A"/>
                </a:solidFill>
              </a:defRPr>
            </a:pPr>
            <a:r>
              <a:t>Automated Test Assertions</a:t>
            </a:r>
          </a:p>
          <a:p>
            <a:pPr>
              <a:spcBef>
                <a:spcPts val="400"/>
              </a:spcBef>
              <a:defRPr sz="1000" b="1">
                <a:solidFill>
                  <a:srgbClr val="0F172A"/>
                </a:solidFill>
              </a:defRPr>
            </a:pPr>
            <a:r>
              <a:t>Mathematical Partition Invariance:</a:t>
            </a:r>
          </a:p>
          <a:p>
            <a:pPr>
              <a:defRPr sz="950">
                <a:solidFill>
                  <a:srgbClr val="475569"/>
                </a:solidFill>
              </a:defRPr>
            </a:pPr>
            <a:r>
              <a:t>Total ROI Area = Gain + Loss + Stable Mangrove + Stable Non-mangrove (verified across all 15 pairs).</a:t>
            </a:r>
          </a:p>
          <a:p>
            <a:pPr>
              <a:spcBef>
                <a:spcPts val="400"/>
              </a:spcBef>
              <a:defRPr sz="1000" b="1">
                <a:solidFill>
                  <a:srgbClr val="0F172A"/>
                </a:solidFill>
              </a:defRPr>
            </a:pPr>
            <a:r>
              <a:t>Spatial Boundary Clamping:</a:t>
            </a:r>
          </a:p>
          <a:p>
            <a:pPr>
              <a:defRPr sz="950">
                <a:solidFill>
                  <a:srgbClr val="475569"/>
                </a:solidFill>
              </a:defRPr>
            </a:pPr>
            <a:r>
              <a:t>All GeoJSON polygons strictly bounded within Dulao's 316.74-hectare envelope.</a:t>
            </a:r>
          </a:p>
          <a:p>
            <a:pPr>
              <a:spcBef>
                <a:spcPts val="400"/>
              </a:spcBef>
              <a:defRPr sz="1000" b="1">
                <a:solidFill>
                  <a:srgbClr val="0F172A"/>
                </a:solidFill>
              </a:defRPr>
            </a:pPr>
            <a:r>
              <a:t>API Contract Verification:</a:t>
            </a:r>
          </a:p>
          <a:p>
            <a:pPr>
              <a:defRPr sz="950">
                <a:solidFill>
                  <a:srgbClr val="475569"/>
                </a:solidFill>
              </a:defRPr>
            </a:pPr>
            <a:r>
              <a:t>JSON schema validation for /api/statistics, /api/data, and error handlers (HTTP 400 for invalid year pairs).</a:t>
            </a:r>
          </a:p>
          <a:p>
            <a:pPr>
              <a:spcBef>
                <a:spcPts val="400"/>
              </a:spcBef>
              <a:defRPr sz="1000" b="1">
                <a:solidFill>
                  <a:srgbClr val="0F172A"/>
                </a:solidFill>
              </a:defRPr>
            </a:pPr>
            <a:r>
              <a:t>PDF Document Integrity:</a:t>
            </a:r>
          </a:p>
          <a:p>
            <a:pPr>
              <a:defRPr sz="950">
                <a:solidFill>
                  <a:srgbClr val="475569"/>
                </a:solidFill>
              </a:defRPr>
            </a:pPr>
            <a:r>
              <a:t>ReportLab binary streams verified for valid EOF markers and correct table formatting.</a:t>
            </a:r>
          </a:p>
          <a:p>
            <a:pPr>
              <a:spcBef>
                <a:spcPts val="400"/>
              </a:spcBef>
              <a:defRPr sz="1000" b="1">
                <a:solidFill>
                  <a:srgbClr val="0F172A"/>
                </a:solidFill>
              </a:defRPr>
            </a:pPr>
            <a:r>
              <a:t>Demonstration Label Transparency:</a:t>
            </a:r>
          </a:p>
          <a:p>
            <a:pPr>
              <a:defRPr sz="950">
                <a:solidFill>
                  <a:srgbClr val="475569"/>
                </a:solidFill>
              </a:defRPr>
            </a:pPr>
            <a:r>
              <a:t>Explicit 'DEMO DATA' watermark displayed across all mock endpoints.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4. REQUIREMENTS &amp; MODELS</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Software Requirements: Functional &amp; Non-Functional Specs</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11 / 20</a:t>
            </a:r>
          </a:p>
        </p:txBody>
      </p:sp>
      <p:sp>
        <p:nvSpPr>
          <p:cNvPr id="7" name="Rounded Rectangle 6"/>
          <p:cNvSpPr/>
          <p:nvPr/>
        </p:nvSpPr>
        <p:spPr>
          <a:xfrm>
            <a:off x="731520" y="1645920"/>
            <a:ext cx="53035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783080"/>
            <a:ext cx="4937760" cy="4389120"/>
          </a:xfrm>
          <a:prstGeom prst="rect">
            <a:avLst/>
          </a:prstGeom>
          <a:noFill/>
        </p:spPr>
        <p:txBody>
          <a:bodyPr wrap="square">
            <a:spAutoFit/>
          </a:bodyPr>
          <a:lstStyle/>
          <a:p>
            <a:pPr>
              <a:defRPr sz="1100" b="1">
                <a:solidFill>
                  <a:srgbClr val="2D6A4F"/>
                </a:solidFill>
              </a:defRPr>
            </a:pPr>
            <a:r>
              <a:t>FORMAL SOFTWARE SPECIFICATIONS</a:t>
            </a:r>
          </a:p>
          <a:p>
            <a:pPr>
              <a:spcAft>
                <a:spcPts val="400"/>
              </a:spcAft>
              <a:defRPr sz="1400" b="1">
                <a:solidFill>
                  <a:srgbClr val="0F172A"/>
                </a:solidFill>
              </a:defRPr>
            </a:pPr>
            <a:r>
              <a:t>Functional &amp; Non-Functional Matrix</a:t>
            </a:r>
          </a:p>
          <a:p>
            <a:pPr>
              <a:spcBef>
                <a:spcPts val="300"/>
              </a:spcBef>
              <a:defRPr sz="950" b="1">
                <a:solidFill>
                  <a:srgbClr val="0F172A"/>
                </a:solidFill>
              </a:defRPr>
            </a:pPr>
            <a:r>
              <a:t>FR-01 (Data Ingest):</a:t>
            </a:r>
          </a:p>
          <a:p>
            <a:pPr>
              <a:defRPr sz="900">
                <a:solidFill>
                  <a:srgbClr val="475569"/>
                </a:solidFill>
              </a:defRPr>
            </a:pPr>
            <a:r>
              <a:t>System must load 2019–2024 annual composite masks for Dulao's 316.74 ha ROI.</a:t>
            </a:r>
          </a:p>
          <a:p>
            <a:pPr>
              <a:spcBef>
                <a:spcPts val="300"/>
              </a:spcBef>
              <a:defRPr sz="950" b="1">
                <a:solidFill>
                  <a:srgbClr val="0F172A"/>
                </a:solidFill>
              </a:defRPr>
            </a:pPr>
            <a:r>
              <a:t>FR-02 (Pairwise Change):</a:t>
            </a:r>
          </a:p>
          <a:p>
            <a:pPr>
              <a:defRPr sz="900">
                <a:solidFill>
                  <a:srgbClr val="475569"/>
                </a:solidFill>
              </a:defRPr>
            </a:pPr>
            <a:r>
              <a:t>System must execute PCC on demand across any of the 15 valid year combinations.</a:t>
            </a:r>
          </a:p>
          <a:p>
            <a:pPr>
              <a:spcBef>
                <a:spcPts val="300"/>
              </a:spcBef>
              <a:defRPr sz="950" b="1">
                <a:solidFill>
                  <a:srgbClr val="0F172A"/>
                </a:solidFill>
              </a:defRPr>
            </a:pPr>
            <a:r>
              <a:t>FR-03 (Interactive Cartography):</a:t>
            </a:r>
          </a:p>
          <a:p>
            <a:pPr>
              <a:defRPr sz="900">
                <a:solidFill>
                  <a:srgbClr val="475569"/>
                </a:solidFill>
              </a:defRPr>
            </a:pPr>
            <a:r>
              <a:t>Leaflet web map must display ROI boundary, gain polygons, and loss polygons with layer toggles.</a:t>
            </a:r>
          </a:p>
          <a:p>
            <a:pPr>
              <a:spcBef>
                <a:spcPts val="300"/>
              </a:spcBef>
              <a:defRPr sz="950" b="1">
                <a:solidFill>
                  <a:srgbClr val="0F172A"/>
                </a:solidFill>
              </a:defRPr>
            </a:pPr>
            <a:r>
              <a:t>FR-04 (Statistical Analytics):</a:t>
            </a:r>
          </a:p>
          <a:p>
            <a:pPr>
              <a:defRPr sz="900">
                <a:solidFill>
                  <a:srgbClr val="475569"/>
                </a:solidFill>
              </a:defRPr>
            </a:pPr>
            <a:r>
              <a:t>Dashboard must calculate net area change (ha) and render multi-temporal trend charts.</a:t>
            </a:r>
          </a:p>
          <a:p>
            <a:pPr>
              <a:spcBef>
                <a:spcPts val="300"/>
              </a:spcBef>
              <a:defRPr sz="950" b="1">
                <a:solidFill>
                  <a:srgbClr val="0F172A"/>
                </a:solidFill>
              </a:defRPr>
            </a:pPr>
            <a:r>
              <a:t>FR-05 (PDF Export):</a:t>
            </a:r>
          </a:p>
          <a:p>
            <a:pPr>
              <a:defRPr sz="900">
                <a:solidFill>
                  <a:srgbClr val="475569"/>
                </a:solidFill>
              </a:defRPr>
            </a:pPr>
            <a:r>
              <a:t>Headless ReportLab engine must generate downloadable A4 conservation reports.</a:t>
            </a:r>
          </a:p>
          <a:p>
            <a:pPr>
              <a:spcBef>
                <a:spcPts val="300"/>
              </a:spcBef>
              <a:defRPr sz="950" b="1">
                <a:solidFill>
                  <a:srgbClr val="0F172A"/>
                </a:solidFill>
              </a:defRPr>
            </a:pPr>
            <a:r>
              <a:t>NFR-01 (Performance):</a:t>
            </a:r>
          </a:p>
          <a:p>
            <a:pPr>
              <a:defRPr sz="900">
                <a:solidFill>
                  <a:srgbClr val="475569"/>
                </a:solidFill>
              </a:defRPr>
            </a:pPr>
            <a:r>
              <a:t>API responses and change calculations must complete within 2.0 seconds.</a:t>
            </a:r>
          </a:p>
          <a:p>
            <a:pPr>
              <a:spcBef>
                <a:spcPts val="300"/>
              </a:spcBef>
              <a:defRPr sz="950" b="1">
                <a:solidFill>
                  <a:srgbClr val="0F172A"/>
                </a:solidFill>
              </a:defRPr>
            </a:pPr>
            <a:r>
              <a:t>NFR-02 (Usability):</a:t>
            </a:r>
          </a:p>
          <a:p>
            <a:pPr>
              <a:defRPr sz="900">
                <a:solidFill>
                  <a:srgbClr val="475569"/>
                </a:solidFill>
              </a:defRPr>
            </a:pPr>
            <a:r>
              <a:t>Zero-code, responsive web interface accessible on standard municipal office desktop browsers.</a:t>
            </a:r>
          </a:p>
          <a:p>
            <a:pPr>
              <a:spcBef>
                <a:spcPts val="300"/>
              </a:spcBef>
              <a:defRPr sz="950" b="1">
                <a:solidFill>
                  <a:srgbClr val="0F172A"/>
                </a:solidFill>
              </a:defRPr>
            </a:pPr>
            <a:r>
              <a:t>NFR-03 (Data Integrity):</a:t>
            </a:r>
          </a:p>
          <a:p>
            <a:pPr>
              <a:defRPr sz="900">
                <a:solidFill>
                  <a:srgbClr val="475569"/>
                </a:solidFill>
              </a:defRPr>
            </a:pPr>
            <a:r>
              <a:t>Gain + Loss + Stable Mangrove + Stable Non-mangrove must exactly equal 316.74 ha.</a:t>
            </a:r>
          </a:p>
        </p:txBody>
      </p:sp>
      <p:sp>
        <p:nvSpPr>
          <p:cNvPr id="9" name="Rounded Rectangle 8"/>
          <p:cNvSpPr/>
          <p:nvPr/>
        </p:nvSpPr>
        <p:spPr>
          <a:xfrm>
            <a:off x="6217920" y="1645920"/>
            <a:ext cx="52422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requirements_usecase_model.png"/>
          <p:cNvPicPr>
            <a:picLocks noChangeAspect="1"/>
          </p:cNvPicPr>
          <p:nvPr/>
        </p:nvPicPr>
        <p:blipFill>
          <a:blip r:embed="rId3"/>
          <a:stretch>
            <a:fillRect/>
          </a:stretch>
        </p:blipFill>
        <p:spPr>
          <a:xfrm>
            <a:off x="6309360" y="1737360"/>
            <a:ext cx="5059375" cy="44805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4. REQUIREMENTS &amp; MODELS</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System Models: Three-Tier Software Architecture</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12 / 20</a:t>
            </a:r>
          </a:p>
        </p:txBody>
      </p:sp>
      <p:sp>
        <p:nvSpPr>
          <p:cNvPr id="7" name="Rounded Rectangle 6"/>
          <p:cNvSpPr/>
          <p:nvPr/>
        </p:nvSpPr>
        <p:spPr>
          <a:xfrm>
            <a:off x="731520" y="1645920"/>
            <a:ext cx="73152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ystem_architecture_diagram.png"/>
          <p:cNvPicPr>
            <a:picLocks noChangeAspect="1"/>
          </p:cNvPicPr>
          <p:nvPr/>
        </p:nvPicPr>
        <p:blipFill>
          <a:blip r:embed="rId3"/>
          <a:stretch>
            <a:fillRect/>
          </a:stretch>
        </p:blipFill>
        <p:spPr>
          <a:xfrm>
            <a:off x="822960" y="1737360"/>
            <a:ext cx="7132320" cy="4480560"/>
          </a:xfrm>
          <a:prstGeom prst="rect">
            <a:avLst/>
          </a:prstGeom>
        </p:spPr>
      </p:pic>
      <p:sp>
        <p:nvSpPr>
          <p:cNvPr id="9" name="Rounded Rectangle 8"/>
          <p:cNvSpPr/>
          <p:nvPr/>
        </p:nvSpPr>
        <p:spPr>
          <a:xfrm>
            <a:off x="8229600" y="1645920"/>
            <a:ext cx="323057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0" y="1828800"/>
            <a:ext cx="2864815" cy="4297680"/>
          </a:xfrm>
          <a:prstGeom prst="rect">
            <a:avLst/>
          </a:prstGeom>
          <a:noFill/>
        </p:spPr>
        <p:txBody>
          <a:bodyPr wrap="square">
            <a:spAutoFit/>
          </a:bodyPr>
          <a:lstStyle/>
          <a:p>
            <a:pPr>
              <a:defRPr sz="1100" b="1">
                <a:solidFill>
                  <a:srgbClr val="2D6A4F"/>
                </a:solidFill>
              </a:defRPr>
            </a:pPr>
            <a:r>
              <a:t>ARCHITECTURE HIGHLIGHTS</a:t>
            </a:r>
          </a:p>
          <a:p>
            <a:pPr>
              <a:spcBef>
                <a:spcPts val="600"/>
              </a:spcBef>
              <a:defRPr sz="1050" b="1">
                <a:solidFill>
                  <a:srgbClr val="0F172A"/>
                </a:solidFill>
              </a:defRPr>
            </a:pPr>
            <a:r>
              <a:t>Decoupled Design:</a:t>
            </a:r>
          </a:p>
          <a:p>
            <a:pPr>
              <a:spcBef>
                <a:spcPts val="200"/>
              </a:spcBef>
              <a:defRPr sz="1000">
                <a:solidFill>
                  <a:srgbClr val="475569"/>
                </a:solidFill>
              </a:defRPr>
            </a:pPr>
            <a:r>
              <a:t>Flask backend cleanly separated from Leaflet frontend via JSON REST endpoints.</a:t>
            </a:r>
          </a:p>
          <a:p>
            <a:pPr>
              <a:spcBef>
                <a:spcPts val="600"/>
              </a:spcBef>
              <a:defRPr sz="1050" b="1">
                <a:solidFill>
                  <a:srgbClr val="0F172A"/>
                </a:solidFill>
              </a:defRPr>
            </a:pPr>
            <a:r>
              <a:t>REST API Layer:</a:t>
            </a:r>
          </a:p>
          <a:p>
            <a:pPr>
              <a:spcBef>
                <a:spcPts val="200"/>
              </a:spcBef>
              <a:defRPr sz="1000">
                <a:solidFill>
                  <a:srgbClr val="475569"/>
                </a:solidFill>
              </a:defRPr>
            </a:pPr>
            <a:r>
              <a:t>/api/study-area, /api/statistics, and /api/change-detection endpoints.</a:t>
            </a:r>
          </a:p>
          <a:p>
            <a:pPr>
              <a:spcBef>
                <a:spcPts val="600"/>
              </a:spcBef>
              <a:defRPr sz="1050" b="1">
                <a:solidFill>
                  <a:srgbClr val="0F172A"/>
                </a:solidFill>
              </a:defRPr>
            </a:pPr>
            <a:r>
              <a:t>Automated Reporting:</a:t>
            </a:r>
          </a:p>
          <a:p>
            <a:pPr>
              <a:spcBef>
                <a:spcPts val="200"/>
              </a:spcBef>
              <a:defRPr sz="1000">
                <a:solidFill>
                  <a:srgbClr val="475569"/>
                </a:solidFill>
              </a:defRPr>
            </a:pPr>
            <a:r>
              <a:t>Headless ReportLab engine generates standardized A4 PDF reports on demand.</a:t>
            </a:r>
          </a:p>
          <a:p>
            <a:pPr>
              <a:spcBef>
                <a:spcPts val="600"/>
              </a:spcBef>
              <a:defRPr sz="1050" b="1">
                <a:solidFill>
                  <a:srgbClr val="0F172A"/>
                </a:solidFill>
              </a:defRPr>
            </a:pPr>
            <a:r>
              <a:t>Interactive GIS:</a:t>
            </a:r>
          </a:p>
          <a:p>
            <a:pPr>
              <a:spcBef>
                <a:spcPts val="200"/>
              </a:spcBef>
              <a:defRPr sz="1000">
                <a:solidFill>
                  <a:srgbClr val="475569"/>
                </a:solidFill>
              </a:defRPr>
            </a:pPr>
            <a:r>
              <a:t>Leaflet.js client renders multi-layer vector overlays with real-time opacity controls.</a:t>
            </a:r>
          </a:p>
          <a:p>
            <a:pPr>
              <a:spcBef>
                <a:spcPts val="600"/>
              </a:spcBef>
              <a:defRPr sz="1050" b="1">
                <a:solidFill>
                  <a:srgbClr val="0F172A"/>
                </a:solidFill>
              </a:defRPr>
            </a:pPr>
            <a:r>
              <a:t>Production Readiness:</a:t>
            </a:r>
          </a:p>
          <a:p>
            <a:pPr>
              <a:spcBef>
                <a:spcPts val="200"/>
              </a:spcBef>
              <a:defRPr sz="1000">
                <a:solidFill>
                  <a:srgbClr val="475569"/>
                </a:solidFill>
              </a:defRPr>
            </a:pPr>
            <a:r>
              <a:t>Config-driven architecture; switching DEMO_MODE to False immediately hooks real inference.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4. REQUIREMENTS &amp; MODELS</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System Models: 5D Feature Tensor &amp; NDVI Pipeline</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13 / 20</a:t>
            </a:r>
          </a:p>
        </p:txBody>
      </p:sp>
      <p:sp>
        <p:nvSpPr>
          <p:cNvPr id="7" name="Rounded Rectangle 6"/>
          <p:cNvSpPr/>
          <p:nvPr/>
        </p:nvSpPr>
        <p:spPr>
          <a:xfrm>
            <a:off x="731520" y="1645920"/>
            <a:ext cx="10728655" cy="29260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spectral_bands_ndvi_pipeline.png"/>
          <p:cNvPicPr>
            <a:picLocks noChangeAspect="1"/>
          </p:cNvPicPr>
          <p:nvPr/>
        </p:nvPicPr>
        <p:blipFill>
          <a:blip r:embed="rId3"/>
          <a:stretch>
            <a:fillRect/>
          </a:stretch>
        </p:blipFill>
        <p:spPr>
          <a:xfrm>
            <a:off x="914400" y="1737360"/>
            <a:ext cx="10362895" cy="2743200"/>
          </a:xfrm>
          <a:prstGeom prst="rect">
            <a:avLst/>
          </a:prstGeom>
        </p:spPr>
      </p:pic>
      <p:sp>
        <p:nvSpPr>
          <p:cNvPr id="9" name="Rounded Rectangle 8"/>
          <p:cNvSpPr/>
          <p:nvPr/>
        </p:nvSpPr>
        <p:spPr>
          <a:xfrm>
            <a:off x="731520" y="4754880"/>
            <a:ext cx="3383280" cy="1554480"/>
          </a:xfrm>
          <a:prstGeom prst="roundRect">
            <a:avLst/>
          </a:prstGeom>
          <a:solidFill>
            <a:srgbClr val="FFFFFF"/>
          </a:solidFill>
          <a:ln w="1905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68680" y="4800600"/>
            <a:ext cx="3108960" cy="1463040"/>
          </a:xfrm>
          <a:prstGeom prst="rect">
            <a:avLst/>
          </a:prstGeom>
          <a:noFill/>
        </p:spPr>
        <p:txBody>
          <a:bodyPr wrap="square">
            <a:spAutoFit/>
          </a:bodyPr>
          <a:lstStyle/>
          <a:p>
            <a:pPr>
              <a:defRPr sz="1200" b="1">
                <a:solidFill>
                  <a:srgbClr val="2D6A4F"/>
                </a:solidFill>
              </a:defRPr>
            </a:pPr>
            <a:r>
              <a:t>1. Multi-Spectral Bands</a:t>
            </a:r>
          </a:p>
          <a:p>
            <a:pPr>
              <a:spcBef>
                <a:spcPts val="300"/>
              </a:spcBef>
              <a:defRPr sz="1000">
                <a:solidFill>
                  <a:srgbClr val="475569"/>
                </a:solidFill>
              </a:defRPr>
            </a:pPr>
            <a:r>
              <a:t>B3 (Green 560nm), B4 (Red 665nm), B8 (NIR 842nm), B11 (SWIR 1610nm). Captures chlorophyll absorption, leaf scattering, and moisture absorption.</a:t>
            </a:r>
          </a:p>
        </p:txBody>
      </p:sp>
      <p:sp>
        <p:nvSpPr>
          <p:cNvPr id="11" name="Rounded Rectangle 10"/>
          <p:cNvSpPr/>
          <p:nvPr/>
        </p:nvSpPr>
        <p:spPr>
          <a:xfrm>
            <a:off x="4403750" y="4754880"/>
            <a:ext cx="3383280" cy="1554480"/>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40910" y="4800600"/>
            <a:ext cx="3108960" cy="1463040"/>
          </a:xfrm>
          <a:prstGeom prst="rect">
            <a:avLst/>
          </a:prstGeom>
          <a:noFill/>
        </p:spPr>
        <p:txBody>
          <a:bodyPr wrap="square">
            <a:spAutoFit/>
          </a:bodyPr>
          <a:lstStyle/>
          <a:p>
            <a:pPr>
              <a:defRPr sz="1200" b="1">
                <a:solidFill>
                  <a:srgbClr val="0284C7"/>
                </a:solidFill>
              </a:defRPr>
            </a:pPr>
            <a:r>
              <a:t>2. NDVI Formulation</a:t>
            </a:r>
          </a:p>
          <a:p>
            <a:pPr>
              <a:spcBef>
                <a:spcPts val="300"/>
              </a:spcBef>
              <a:defRPr sz="1000">
                <a:solidFill>
                  <a:srgbClr val="475569"/>
                </a:solidFill>
              </a:defRPr>
            </a:pPr>
            <a:r>
              <a:t>NDVI = (B8 - B4) / (B8 + B4). Rescaled from [-1, 1] to [0, 1]. Provides explicit photosynthetic vigor to accelerate convolutional convergence.</a:t>
            </a:r>
          </a:p>
        </p:txBody>
      </p:sp>
      <p:sp>
        <p:nvSpPr>
          <p:cNvPr id="13" name="Rounded Rectangle 12"/>
          <p:cNvSpPr/>
          <p:nvPr/>
        </p:nvSpPr>
        <p:spPr>
          <a:xfrm>
            <a:off x="8075980" y="4754880"/>
            <a:ext cx="3383280" cy="155448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213140" y="4800600"/>
            <a:ext cx="3108960" cy="1463040"/>
          </a:xfrm>
          <a:prstGeom prst="rect">
            <a:avLst/>
          </a:prstGeom>
          <a:noFill/>
        </p:spPr>
        <p:txBody>
          <a:bodyPr wrap="square">
            <a:spAutoFit/>
          </a:bodyPr>
          <a:lstStyle/>
          <a:p>
            <a:pPr>
              <a:defRPr sz="1200" b="1">
                <a:solidFill>
                  <a:srgbClr val="B45309"/>
                </a:solidFill>
              </a:defRPr>
            </a:pPr>
            <a:r>
              <a:t>3. 256×256×5 Tensor Stack</a:t>
            </a:r>
          </a:p>
          <a:p>
            <a:pPr>
              <a:spcBef>
                <a:spcPts val="300"/>
              </a:spcBef>
              <a:defRPr sz="1000">
                <a:solidFill>
                  <a:srgbClr val="475569"/>
                </a:solidFill>
              </a:defRPr>
            </a:pPr>
            <a:r>
              <a:t>Harmonizes all 5 channels onto a standardized 10m grid. Border patches utilize reflection padding to maintain boundary convolution stability.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4. REQUIREMENTS &amp; MODELS</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System Models: 5-Channel U-Net Architecture</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14 / 20</a:t>
            </a:r>
          </a:p>
        </p:txBody>
      </p:sp>
      <p:sp>
        <p:nvSpPr>
          <p:cNvPr id="7" name="Rounded Rectangle 6"/>
          <p:cNvSpPr/>
          <p:nvPr/>
        </p:nvSpPr>
        <p:spPr>
          <a:xfrm>
            <a:off x="731520" y="1645920"/>
            <a:ext cx="62179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25_img1_95.png"/>
          <p:cNvPicPr>
            <a:picLocks noChangeAspect="1"/>
          </p:cNvPicPr>
          <p:nvPr/>
        </p:nvPicPr>
        <p:blipFill>
          <a:blip r:embed="rId3"/>
          <a:stretch>
            <a:fillRect/>
          </a:stretch>
        </p:blipFill>
        <p:spPr>
          <a:xfrm>
            <a:off x="822960" y="1828800"/>
            <a:ext cx="6035040" cy="4297680"/>
          </a:xfrm>
          <a:prstGeom prst="rect">
            <a:avLst/>
          </a:prstGeom>
        </p:spPr>
      </p:pic>
      <p:sp>
        <p:nvSpPr>
          <p:cNvPr id="9" name="Rounded Rectangle 8"/>
          <p:cNvSpPr/>
          <p:nvPr/>
        </p:nvSpPr>
        <p:spPr>
          <a:xfrm>
            <a:off x="7132320" y="1645920"/>
            <a:ext cx="43278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0" y="1828800"/>
            <a:ext cx="3962095" cy="4297680"/>
          </a:xfrm>
          <a:prstGeom prst="rect">
            <a:avLst/>
          </a:prstGeom>
          <a:noFill/>
        </p:spPr>
        <p:txBody>
          <a:bodyPr wrap="square">
            <a:spAutoFit/>
          </a:bodyPr>
          <a:lstStyle/>
          <a:p>
            <a:pPr>
              <a:defRPr sz="1100" b="1">
                <a:solidFill>
                  <a:srgbClr val="2D6A4F"/>
                </a:solidFill>
              </a:defRPr>
            </a:pPr>
            <a:r>
              <a:t>U-NET SPECIFICATIONS (THESIS PAGE 15)</a:t>
            </a:r>
          </a:p>
          <a:p>
            <a:pPr>
              <a:spcBef>
                <a:spcPts val="400"/>
              </a:spcBef>
              <a:defRPr sz="1050" b="1">
                <a:solidFill>
                  <a:srgbClr val="0F172A"/>
                </a:solidFill>
              </a:defRPr>
            </a:pPr>
            <a:r>
              <a:t>Input Dimension:</a:t>
            </a:r>
          </a:p>
          <a:p>
            <a:pPr>
              <a:defRPr sz="1000">
                <a:solidFill>
                  <a:srgbClr val="475569"/>
                </a:solidFill>
              </a:defRPr>
            </a:pPr>
            <a:r>
              <a:t>256 × 256 × 5 (B3, B4, B8, B11, NDVI)</a:t>
            </a:r>
          </a:p>
          <a:p>
            <a:pPr>
              <a:spcBef>
                <a:spcPts val="400"/>
              </a:spcBef>
              <a:defRPr sz="1050" b="1">
                <a:solidFill>
                  <a:srgbClr val="0F172A"/>
                </a:solidFill>
              </a:defRPr>
            </a:pPr>
            <a:r>
              <a:t>Contracting Path (Encoder):</a:t>
            </a:r>
          </a:p>
          <a:p>
            <a:pPr>
              <a:defRPr sz="1000">
                <a:solidFill>
                  <a:srgbClr val="475569"/>
                </a:solidFill>
              </a:defRPr>
            </a:pPr>
            <a:r>
              <a:t>Successive 3×3 convolutions, ReLU activation, and 2×2 max pooling (feature extraction).</a:t>
            </a:r>
          </a:p>
          <a:p>
            <a:pPr>
              <a:spcBef>
                <a:spcPts val="400"/>
              </a:spcBef>
              <a:defRPr sz="1050" b="1">
                <a:solidFill>
                  <a:srgbClr val="0F172A"/>
                </a:solidFill>
              </a:defRPr>
            </a:pPr>
            <a:r>
              <a:t>Bottleneck Layer:</a:t>
            </a:r>
          </a:p>
          <a:p>
            <a:pPr>
              <a:defRPr sz="1000">
                <a:solidFill>
                  <a:srgbClr val="475569"/>
                </a:solidFill>
              </a:defRPr>
            </a:pPr>
            <a:r>
              <a:t>Deepest representations capturing macro spatial context across Dulao's coastline.</a:t>
            </a:r>
          </a:p>
          <a:p>
            <a:pPr>
              <a:spcBef>
                <a:spcPts val="400"/>
              </a:spcBef>
              <a:defRPr sz="1050" b="1">
                <a:solidFill>
                  <a:srgbClr val="0F172A"/>
                </a:solidFill>
              </a:defRPr>
            </a:pPr>
            <a:r>
              <a:t>Expansive Path (Decoder):</a:t>
            </a:r>
          </a:p>
          <a:p>
            <a:pPr>
              <a:defRPr sz="1000">
                <a:solidFill>
                  <a:srgbClr val="475569"/>
                </a:solidFill>
              </a:defRPr>
            </a:pPr>
            <a:r>
              <a:t>Up-convolutions restoring full 256×256 spatial resolution.</a:t>
            </a:r>
          </a:p>
          <a:p>
            <a:pPr>
              <a:spcBef>
                <a:spcPts val="400"/>
              </a:spcBef>
              <a:defRPr sz="1050" b="1">
                <a:solidFill>
                  <a:srgbClr val="0F172A"/>
                </a:solidFill>
              </a:defRPr>
            </a:pPr>
            <a:r>
              <a:t>Skip Connections:</a:t>
            </a:r>
          </a:p>
          <a:p>
            <a:pPr>
              <a:defRPr sz="1000">
                <a:solidFill>
                  <a:srgbClr val="475569"/>
                </a:solidFill>
              </a:defRPr>
            </a:pPr>
            <a:r>
              <a:t>Directly concatenate fine-grained encoder feature maps to decoder to preserve precise mangrove boundaries.</a:t>
            </a:r>
          </a:p>
          <a:p>
            <a:pPr>
              <a:spcBef>
                <a:spcPts val="400"/>
              </a:spcBef>
              <a:defRPr sz="1050" b="1">
                <a:solidFill>
                  <a:srgbClr val="0F172A"/>
                </a:solidFill>
              </a:defRPr>
            </a:pPr>
            <a:r>
              <a:t>Output Layer:</a:t>
            </a:r>
          </a:p>
          <a:p>
            <a:pPr>
              <a:defRPr sz="1000">
                <a:solidFill>
                  <a:srgbClr val="475569"/>
                </a:solidFill>
              </a:defRPr>
            </a:pPr>
            <a:r>
              <a:t>1×1 convolution with Sigmoid activation → probability map [0.0, 1.0] of mangrove presence.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4. REQUIREMENTS &amp; MODELS</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System Models: Post-Classification Comparison (PCC)</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15 / 20</a:t>
            </a:r>
          </a:p>
        </p:txBody>
      </p:sp>
      <p:sp>
        <p:nvSpPr>
          <p:cNvPr id="7" name="Rounded Rectangle 6"/>
          <p:cNvSpPr/>
          <p:nvPr/>
        </p:nvSpPr>
        <p:spPr>
          <a:xfrm>
            <a:off x="731520" y="1645920"/>
            <a:ext cx="68580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transition_matrix_diagram.png"/>
          <p:cNvPicPr>
            <a:picLocks noChangeAspect="1"/>
          </p:cNvPicPr>
          <p:nvPr/>
        </p:nvPicPr>
        <p:blipFill>
          <a:blip r:embed="rId3"/>
          <a:stretch>
            <a:fillRect/>
          </a:stretch>
        </p:blipFill>
        <p:spPr>
          <a:xfrm>
            <a:off x="822960" y="1737360"/>
            <a:ext cx="6675120" cy="4480560"/>
          </a:xfrm>
          <a:prstGeom prst="rect">
            <a:avLst/>
          </a:prstGeom>
        </p:spPr>
      </p:pic>
      <p:sp>
        <p:nvSpPr>
          <p:cNvPr id="9" name="Rounded Rectangle 8"/>
          <p:cNvSpPr/>
          <p:nvPr/>
        </p:nvSpPr>
        <p:spPr>
          <a:xfrm>
            <a:off x="7772400" y="1645920"/>
            <a:ext cx="368777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79" y="1828800"/>
            <a:ext cx="3322015" cy="4297680"/>
          </a:xfrm>
          <a:prstGeom prst="rect">
            <a:avLst/>
          </a:prstGeom>
          <a:noFill/>
        </p:spPr>
        <p:txBody>
          <a:bodyPr wrap="square">
            <a:spAutoFit/>
          </a:bodyPr>
          <a:lstStyle/>
          <a:p>
            <a:pPr>
              <a:defRPr sz="1100" b="1">
                <a:solidFill>
                  <a:srgbClr val="2D6A4F"/>
                </a:solidFill>
              </a:defRPr>
            </a:pPr>
            <a:r>
              <a:rPr dirty="0"/>
              <a:t>THE 4 CANOPY TRANSITION STATES</a:t>
            </a:r>
          </a:p>
          <a:p>
            <a:pPr>
              <a:spcBef>
                <a:spcPts val="800"/>
              </a:spcBef>
              <a:defRPr sz="1100" b="1">
                <a:solidFill>
                  <a:srgbClr val="166534"/>
                </a:solidFill>
              </a:defRPr>
            </a:pPr>
            <a:r>
              <a:rPr dirty="0"/>
              <a:t>GAIN (Value = +1):</a:t>
            </a:r>
          </a:p>
          <a:p>
            <a:pPr>
              <a:spcBef>
                <a:spcPts val="200"/>
              </a:spcBef>
              <a:defRPr sz="1000">
                <a:solidFill>
                  <a:srgbClr val="475569"/>
                </a:solidFill>
              </a:defRPr>
            </a:pPr>
            <a:r>
              <a:rPr dirty="0"/>
              <a:t>Non-Mangrove in T₁ → Mangrove in T₂. Indicates canopy recovery, natural regeneration, or planting.</a:t>
            </a:r>
          </a:p>
          <a:p>
            <a:pPr>
              <a:spcBef>
                <a:spcPts val="800"/>
              </a:spcBef>
              <a:defRPr sz="1100" b="1">
                <a:solidFill>
                  <a:srgbClr val="991B1B"/>
                </a:solidFill>
              </a:defRPr>
            </a:pPr>
            <a:r>
              <a:rPr dirty="0"/>
              <a:t>LOSS (Value = -1):</a:t>
            </a:r>
          </a:p>
          <a:p>
            <a:pPr>
              <a:spcBef>
                <a:spcPts val="200"/>
              </a:spcBef>
              <a:defRPr sz="1000">
                <a:solidFill>
                  <a:srgbClr val="475569"/>
                </a:solidFill>
              </a:defRPr>
            </a:pPr>
            <a:r>
              <a:rPr dirty="0"/>
              <a:t>Mangrove in T₁ → Non-Mangrove in T₂. Indicates clearing, fishpond expansion, or storm scour.</a:t>
            </a:r>
          </a:p>
          <a:p>
            <a:pPr>
              <a:spcBef>
                <a:spcPts val="800"/>
              </a:spcBef>
              <a:defRPr sz="1100" b="1">
                <a:solidFill>
                  <a:srgbClr val="143526"/>
                </a:solidFill>
              </a:defRPr>
            </a:pPr>
            <a:r>
              <a:rPr dirty="0"/>
              <a:t>STABLE MANGROVE (Value = 2):</a:t>
            </a:r>
          </a:p>
          <a:p>
            <a:pPr>
              <a:spcBef>
                <a:spcPts val="200"/>
              </a:spcBef>
              <a:defRPr sz="1000">
                <a:solidFill>
                  <a:srgbClr val="475569"/>
                </a:solidFill>
              </a:defRPr>
            </a:pPr>
            <a:r>
              <a:rPr dirty="0"/>
              <a:t>Mangrove in both T₁ &amp; T₂. Represents persistent core mangrove stands.</a:t>
            </a:r>
          </a:p>
          <a:p>
            <a:pPr>
              <a:spcBef>
                <a:spcPts val="800"/>
              </a:spcBef>
              <a:defRPr sz="1100" b="1">
                <a:solidFill>
                  <a:srgbClr val="475569"/>
                </a:solidFill>
              </a:defRPr>
            </a:pPr>
            <a:r>
              <a:rPr dirty="0"/>
              <a:t>STABLE NON-MANGROVE (Value = 0):</a:t>
            </a:r>
          </a:p>
          <a:p>
            <a:pPr>
              <a:spcBef>
                <a:spcPts val="200"/>
              </a:spcBef>
              <a:defRPr sz="1000">
                <a:solidFill>
                  <a:srgbClr val="475569"/>
                </a:solidFill>
              </a:defRPr>
            </a:pPr>
            <a:r>
              <a:rPr dirty="0"/>
              <a:t>Non-mangrove in both T₁ &amp; T₂. Open water, mudflats, sandbars, and upland soil.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5. SOFTWARE DEMO</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Software Demo: User Interface &amp; Operational Workflow</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16 / 20</a:t>
            </a:r>
          </a:p>
        </p:txBody>
      </p:sp>
      <p:sp>
        <p:nvSpPr>
          <p:cNvPr id="7" name="Rounded Rectangle 6"/>
          <p:cNvSpPr/>
          <p:nvPr/>
        </p:nvSpPr>
        <p:spPr>
          <a:xfrm>
            <a:off x="731520" y="1645920"/>
            <a:ext cx="685800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prototype_ui_mockup.png"/>
          <p:cNvPicPr>
            <a:picLocks noChangeAspect="1"/>
          </p:cNvPicPr>
          <p:nvPr/>
        </p:nvPicPr>
        <p:blipFill>
          <a:blip r:embed="rId3"/>
          <a:stretch>
            <a:fillRect/>
          </a:stretch>
        </p:blipFill>
        <p:spPr>
          <a:xfrm>
            <a:off x="822960" y="1737360"/>
            <a:ext cx="6675120" cy="4480560"/>
          </a:xfrm>
          <a:prstGeom prst="rect">
            <a:avLst/>
          </a:prstGeom>
        </p:spPr>
      </p:pic>
      <p:sp>
        <p:nvSpPr>
          <p:cNvPr id="9" name="Rounded Rectangle 8"/>
          <p:cNvSpPr/>
          <p:nvPr/>
        </p:nvSpPr>
        <p:spPr>
          <a:xfrm>
            <a:off x="7772400" y="1645920"/>
            <a:ext cx="368777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55279" y="1828800"/>
            <a:ext cx="3322015" cy="4297680"/>
          </a:xfrm>
          <a:prstGeom prst="rect">
            <a:avLst/>
          </a:prstGeom>
          <a:noFill/>
        </p:spPr>
        <p:txBody>
          <a:bodyPr wrap="square">
            <a:spAutoFit/>
          </a:bodyPr>
          <a:lstStyle/>
          <a:p>
            <a:pPr>
              <a:defRPr sz="1100" b="1">
                <a:solidFill>
                  <a:srgbClr val="2D6A4F"/>
                </a:solidFill>
              </a:defRPr>
            </a:pPr>
            <a:r>
              <a:t>CORE FUNCTIONAL MODULES</a:t>
            </a:r>
          </a:p>
          <a:p>
            <a:pPr>
              <a:spcBef>
                <a:spcPts val="500"/>
              </a:spcBef>
              <a:defRPr sz="1050" b="1">
                <a:solidFill>
                  <a:srgbClr val="0F172A"/>
                </a:solidFill>
              </a:defRPr>
            </a:pPr>
            <a:r>
              <a:t>Interactive Map Viewport:</a:t>
            </a:r>
          </a:p>
          <a:p>
            <a:pPr>
              <a:spcBef>
                <a:spcPts val="200"/>
              </a:spcBef>
              <a:defRPr sz="1000">
                <a:solidFill>
                  <a:srgbClr val="475569"/>
                </a:solidFill>
              </a:defRPr>
            </a:pPr>
            <a:r>
              <a:t>Leaflet.js map displaying OpenStreetMap basemap, Dulao ROI boundary, and classified canopy layers.</a:t>
            </a:r>
          </a:p>
          <a:p>
            <a:pPr>
              <a:spcBef>
                <a:spcPts val="500"/>
              </a:spcBef>
              <a:defRPr sz="1050" b="1">
                <a:solidFill>
                  <a:srgbClr val="0F172A"/>
                </a:solidFill>
              </a:defRPr>
            </a:pPr>
            <a:r>
              <a:t>Pairwise Temporal Wizard:</a:t>
            </a:r>
          </a:p>
          <a:p>
            <a:pPr>
              <a:spcBef>
                <a:spcPts val="200"/>
              </a:spcBef>
              <a:defRPr sz="1000">
                <a:solidFill>
                  <a:srgbClr val="475569"/>
                </a:solidFill>
              </a:defRPr>
            </a:pPr>
            <a:r>
              <a:t>Dropdown selectors for T₁ (Baseline) and T₂ (Target), supporting 15 annual change comparisons.</a:t>
            </a:r>
          </a:p>
          <a:p>
            <a:pPr>
              <a:spcBef>
                <a:spcPts val="500"/>
              </a:spcBef>
              <a:defRPr sz="1050" b="1">
                <a:solidFill>
                  <a:srgbClr val="0F172A"/>
                </a:solidFill>
              </a:defRPr>
            </a:pPr>
            <a:r>
              <a:t>Dynamic Metric Cards:</a:t>
            </a:r>
          </a:p>
          <a:p>
            <a:pPr>
              <a:spcBef>
                <a:spcPts val="200"/>
              </a:spcBef>
              <a:defRPr sz="1000">
                <a:solidFill>
                  <a:srgbClr val="475569"/>
                </a:solidFill>
              </a:defRPr>
            </a:pPr>
            <a:r>
              <a:t>Immediate display of mapped mangrove extent (ha), net gain, net loss, and percentage change.</a:t>
            </a:r>
          </a:p>
          <a:p>
            <a:pPr>
              <a:spcBef>
                <a:spcPts val="500"/>
              </a:spcBef>
              <a:defRPr sz="1050" b="1">
                <a:solidFill>
                  <a:srgbClr val="0F172A"/>
                </a:solidFill>
              </a:defRPr>
            </a:pPr>
            <a:r>
              <a:t>Multi-Temporal Trend Chart:</a:t>
            </a:r>
          </a:p>
          <a:p>
            <a:pPr>
              <a:spcBef>
                <a:spcPts val="200"/>
              </a:spcBef>
              <a:defRPr sz="1000">
                <a:solidFill>
                  <a:srgbClr val="475569"/>
                </a:solidFill>
              </a:defRPr>
            </a:pPr>
            <a:r>
              <a:t>Chart.js line graph illustrating historical canopy trajectory across 2019–2024.</a:t>
            </a:r>
          </a:p>
          <a:p>
            <a:pPr>
              <a:spcBef>
                <a:spcPts val="500"/>
              </a:spcBef>
              <a:defRPr sz="1050" b="1">
                <a:solidFill>
                  <a:srgbClr val="0F172A"/>
                </a:solidFill>
              </a:defRPr>
            </a:pPr>
            <a:r>
              <a:t>One-Click Report Export:</a:t>
            </a:r>
          </a:p>
          <a:p>
            <a:pPr>
              <a:spcBef>
                <a:spcPts val="200"/>
              </a:spcBef>
              <a:defRPr sz="1000">
                <a:solidFill>
                  <a:srgbClr val="475569"/>
                </a:solidFill>
              </a:defRPr>
            </a:pPr>
            <a:r>
              <a:t>Generates formal municipal conservation reports formatted for Aringay MENRO.</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5. SOFTWARE DEMO</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Software Demo: Four-Step Execution Walkthrough</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17 / 20</a:t>
            </a:r>
          </a:p>
        </p:txBody>
      </p:sp>
      <p:sp>
        <p:nvSpPr>
          <p:cNvPr id="7" name="Rounded Rectangle 6"/>
          <p:cNvSpPr/>
          <p:nvPr/>
        </p:nvSpPr>
        <p:spPr>
          <a:xfrm>
            <a:off x="731520" y="1645920"/>
            <a:ext cx="10728655" cy="3657600"/>
          </a:xfrm>
          <a:prstGeom prst="roundRect">
            <a:avLst/>
          </a:prstGeom>
          <a:solidFill>
            <a:srgbClr val="FFFFFF"/>
          </a:solidFill>
          <a:ln w="25400">
            <a:solidFill>
              <a:srgbClr val="2D6A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005840" y="2011680"/>
            <a:ext cx="2377440"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43000" y="2148840"/>
            <a:ext cx="2103120" cy="2651760"/>
          </a:xfrm>
          <a:prstGeom prst="rect">
            <a:avLst/>
          </a:prstGeom>
          <a:noFill/>
        </p:spPr>
        <p:txBody>
          <a:bodyPr wrap="square">
            <a:spAutoFit/>
          </a:bodyPr>
          <a:lstStyle/>
          <a:p>
            <a:pPr>
              <a:defRPr sz="1100" b="1">
                <a:solidFill>
                  <a:srgbClr val="2D6A4F"/>
                </a:solidFill>
              </a:defRPr>
            </a:pPr>
            <a:r>
              <a:t>STEP 1</a:t>
            </a:r>
          </a:p>
          <a:p>
            <a:pPr>
              <a:spcBef>
                <a:spcPts val="400"/>
              </a:spcBef>
              <a:spcAft>
                <a:spcPts val="800"/>
              </a:spcAft>
              <a:defRPr sz="1400" b="1">
                <a:solidFill>
                  <a:srgbClr val="0F172A"/>
                </a:solidFill>
              </a:defRPr>
            </a:pPr>
            <a:r>
              <a:t>Select Baseline &amp; Target</a:t>
            </a:r>
          </a:p>
          <a:p>
            <a:pPr>
              <a:lnSpc>
                <a:spcPct val="130000"/>
              </a:lnSpc>
              <a:defRPr sz="1050">
                <a:solidFill>
                  <a:srgbClr val="475569"/>
                </a:solidFill>
              </a:defRPr>
            </a:pPr>
            <a:r>
              <a:t>Choose baseline year T₁ (e.g. 2019) and comparison year T₂ (e.g. 2024) from intuitive dropdowns.</a:t>
            </a:r>
          </a:p>
        </p:txBody>
      </p:sp>
      <p:sp>
        <p:nvSpPr>
          <p:cNvPr id="10" name="Rounded Rectangle 9"/>
          <p:cNvSpPr/>
          <p:nvPr/>
        </p:nvSpPr>
        <p:spPr>
          <a:xfrm>
            <a:off x="3657600" y="2011680"/>
            <a:ext cx="2377440"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794760" y="2148840"/>
            <a:ext cx="2103120" cy="2651760"/>
          </a:xfrm>
          <a:prstGeom prst="rect">
            <a:avLst/>
          </a:prstGeom>
          <a:noFill/>
        </p:spPr>
        <p:txBody>
          <a:bodyPr wrap="square">
            <a:spAutoFit/>
          </a:bodyPr>
          <a:lstStyle/>
          <a:p>
            <a:pPr>
              <a:defRPr sz="1100" b="1">
                <a:solidFill>
                  <a:srgbClr val="2D6A4F"/>
                </a:solidFill>
              </a:defRPr>
            </a:pPr>
            <a:r>
              <a:t>STEP 2</a:t>
            </a:r>
          </a:p>
          <a:p>
            <a:pPr>
              <a:spcBef>
                <a:spcPts val="400"/>
              </a:spcBef>
              <a:spcAft>
                <a:spcPts val="800"/>
              </a:spcAft>
              <a:defRPr sz="1400" b="1">
                <a:solidFill>
                  <a:srgbClr val="0F172A"/>
                </a:solidFill>
              </a:defRPr>
            </a:pPr>
            <a:r>
              <a:t>Execute Change Detection</a:t>
            </a:r>
          </a:p>
          <a:p>
            <a:pPr>
              <a:lnSpc>
                <a:spcPct val="130000"/>
              </a:lnSpc>
              <a:defRPr sz="1050">
                <a:solidFill>
                  <a:srgbClr val="475569"/>
                </a:solidFill>
              </a:defRPr>
            </a:pPr>
            <a:r>
              <a:t>Click 'Analyze Change' to trigger backend PCC matrix comparison and hectarage calculations.</a:t>
            </a:r>
          </a:p>
        </p:txBody>
      </p:sp>
      <p:sp>
        <p:nvSpPr>
          <p:cNvPr id="12" name="Rounded Rectangle 11"/>
          <p:cNvSpPr/>
          <p:nvPr/>
        </p:nvSpPr>
        <p:spPr>
          <a:xfrm>
            <a:off x="6309360" y="2011680"/>
            <a:ext cx="2377440"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46520" y="2148840"/>
            <a:ext cx="2103120" cy="2651760"/>
          </a:xfrm>
          <a:prstGeom prst="rect">
            <a:avLst/>
          </a:prstGeom>
          <a:noFill/>
        </p:spPr>
        <p:txBody>
          <a:bodyPr wrap="square">
            <a:spAutoFit/>
          </a:bodyPr>
          <a:lstStyle/>
          <a:p>
            <a:pPr>
              <a:defRPr sz="1100" b="1">
                <a:solidFill>
                  <a:srgbClr val="2D6A4F"/>
                </a:solidFill>
              </a:defRPr>
            </a:pPr>
            <a:r>
              <a:t>STEP 3</a:t>
            </a:r>
          </a:p>
          <a:p>
            <a:pPr>
              <a:spcBef>
                <a:spcPts val="400"/>
              </a:spcBef>
              <a:spcAft>
                <a:spcPts val="800"/>
              </a:spcAft>
              <a:defRPr sz="1400" b="1">
                <a:solidFill>
                  <a:srgbClr val="0F172A"/>
                </a:solidFill>
              </a:defRPr>
            </a:pPr>
            <a:r>
              <a:t>Interactive Cartography</a:t>
            </a:r>
          </a:p>
          <a:p>
            <a:pPr>
              <a:lnSpc>
                <a:spcPct val="130000"/>
              </a:lnSpc>
              <a:defRPr sz="1050">
                <a:solidFill>
                  <a:srgbClr val="475569"/>
                </a:solidFill>
              </a:defRPr>
            </a:pPr>
            <a:r>
              <a:t>Inspect color-coded gain/loss polygons in Leaflet, toggle layer overlays, and examine trend charts.</a:t>
            </a:r>
          </a:p>
        </p:txBody>
      </p:sp>
      <p:sp>
        <p:nvSpPr>
          <p:cNvPr id="14" name="Rounded Rectangle 13"/>
          <p:cNvSpPr/>
          <p:nvPr/>
        </p:nvSpPr>
        <p:spPr>
          <a:xfrm>
            <a:off x="8961120" y="2011680"/>
            <a:ext cx="2377440" cy="29260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098280" y="2148840"/>
            <a:ext cx="2103120" cy="2651760"/>
          </a:xfrm>
          <a:prstGeom prst="rect">
            <a:avLst/>
          </a:prstGeom>
          <a:noFill/>
        </p:spPr>
        <p:txBody>
          <a:bodyPr wrap="square">
            <a:spAutoFit/>
          </a:bodyPr>
          <a:lstStyle/>
          <a:p>
            <a:pPr>
              <a:defRPr sz="1100" b="1">
                <a:solidFill>
                  <a:srgbClr val="2D6A4F"/>
                </a:solidFill>
              </a:defRPr>
            </a:pPr>
            <a:r>
              <a:t>STEP 4</a:t>
            </a:r>
          </a:p>
          <a:p>
            <a:pPr>
              <a:spcBef>
                <a:spcPts val="400"/>
              </a:spcBef>
              <a:spcAft>
                <a:spcPts val="800"/>
              </a:spcAft>
              <a:defRPr sz="1400" b="1">
                <a:solidFill>
                  <a:srgbClr val="0F172A"/>
                </a:solidFill>
              </a:defRPr>
            </a:pPr>
            <a:r>
              <a:t>Generate MENRO Report</a:t>
            </a:r>
          </a:p>
          <a:p>
            <a:pPr>
              <a:lnSpc>
                <a:spcPct val="130000"/>
              </a:lnSpc>
              <a:defRPr sz="1050">
                <a:solidFill>
                  <a:srgbClr val="475569"/>
                </a:solidFill>
              </a:defRPr>
            </a:pPr>
            <a:r>
              <a:t>Click 'Export PDF Report' to automatically produce a formal, printable A4 summary document.</a:t>
            </a:r>
          </a:p>
        </p:txBody>
      </p:sp>
      <p:sp>
        <p:nvSpPr>
          <p:cNvPr id="16" name="Rounded Rectangle 15"/>
          <p:cNvSpPr/>
          <p:nvPr/>
        </p:nvSpPr>
        <p:spPr>
          <a:xfrm>
            <a:off x="731520" y="5486400"/>
            <a:ext cx="10728655" cy="822960"/>
          </a:xfrm>
          <a:prstGeom prst="roundRect">
            <a:avLst/>
          </a:prstGeom>
          <a:solidFill>
            <a:srgbClr val="FFFBEB"/>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5577840"/>
            <a:ext cx="10332720" cy="640080"/>
          </a:xfrm>
          <a:prstGeom prst="rect">
            <a:avLst/>
          </a:prstGeom>
          <a:noFill/>
        </p:spPr>
        <p:txBody>
          <a:bodyPr wrap="square">
            <a:spAutoFit/>
          </a:bodyPr>
          <a:lstStyle/>
          <a:p>
            <a:pPr>
              <a:defRPr sz="1100" b="1">
                <a:solidFill>
                  <a:srgbClr val="B45309"/>
                </a:solidFill>
              </a:defRPr>
            </a:pPr>
            <a:r>
              <a:t>DEMONSTRATION TRANSPARENCY: The running system demonstrates complete functional execution (routing, map rendering, spatial analytics, PDF export) using controlled demonstration benchmarks to validate operational readiness.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6. STATUS &amp; CONCLUSION</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Project Status: Implementation Matrix &amp; Scope Boundaries</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18 / 20</a:t>
            </a:r>
          </a:p>
        </p:txBody>
      </p:sp>
      <p:sp>
        <p:nvSpPr>
          <p:cNvPr id="7" name="Rounded Rectangle 6"/>
          <p:cNvSpPr/>
          <p:nvPr/>
        </p:nvSpPr>
        <p:spPr>
          <a:xfrm>
            <a:off x="731520" y="1645920"/>
            <a:ext cx="107286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8" name="Table 7"/>
          <p:cNvGraphicFramePr>
            <a:graphicFrameLocks noGrp="1"/>
          </p:cNvGraphicFramePr>
          <p:nvPr/>
        </p:nvGraphicFramePr>
        <p:xfrm>
          <a:off x="914400" y="1828800"/>
          <a:ext cx="10362895" cy="4297680"/>
        </p:xfrm>
        <a:graphic>
          <a:graphicData uri="http://schemas.openxmlformats.org/drawingml/2006/table">
            <a:tbl>
              <a:tblPr firstRow="1" bandRow="1">
                <a:tableStyleId>{5C22544A-7EE6-4342-B048-85BDC9FD1C3A}</a:tableStyleId>
              </a:tblPr>
              <a:tblGrid>
                <a:gridCol w="29260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3230575">
                  <a:extLst>
                    <a:ext uri="{9D8B030D-6E8A-4147-A177-3AD203B41FA5}">
                      <a16:colId xmlns:a16="http://schemas.microsoft.com/office/drawing/2014/main" val="20003"/>
                    </a:ext>
                  </a:extLst>
                </a:gridCol>
              </a:tblGrid>
              <a:tr h="477520">
                <a:tc>
                  <a:txBody>
                    <a:bodyPr/>
                    <a:lstStyle/>
                    <a:p>
                      <a:pPr>
                        <a:defRPr sz="1100" b="1">
                          <a:solidFill>
                            <a:srgbClr val="FFFFFF"/>
                          </a:solidFill>
                        </a:defRPr>
                      </a:pPr>
                      <a:r>
                        <a:t>System Component / Subsystem</a:t>
                      </a:r>
                    </a:p>
                  </a:txBody>
                  <a:tcPr>
                    <a:solidFill>
                      <a:srgbClr val="143526"/>
                    </a:solidFill>
                  </a:tcPr>
                </a:tc>
                <a:tc>
                  <a:txBody>
                    <a:bodyPr/>
                    <a:lstStyle/>
                    <a:p>
                      <a:pPr>
                        <a:defRPr sz="1100" b="1">
                          <a:solidFill>
                            <a:srgbClr val="FFFFFF"/>
                          </a:solidFill>
                        </a:defRPr>
                      </a:pPr>
                      <a:r>
                        <a:t>Current Status</a:t>
                      </a:r>
                    </a:p>
                  </a:txBody>
                  <a:tcPr>
                    <a:solidFill>
                      <a:srgbClr val="143526"/>
                    </a:solidFill>
                  </a:tcPr>
                </a:tc>
                <a:tc>
                  <a:txBody>
                    <a:bodyPr/>
                    <a:lstStyle/>
                    <a:p>
                      <a:pPr>
                        <a:defRPr sz="1100" b="1">
                          <a:solidFill>
                            <a:srgbClr val="FFFFFF"/>
                          </a:solidFill>
                        </a:defRPr>
                      </a:pPr>
                      <a:r>
                        <a:t>Implementation Mechanism</a:t>
                      </a:r>
                    </a:p>
                  </a:txBody>
                  <a:tcPr>
                    <a:solidFill>
                      <a:srgbClr val="143526"/>
                    </a:solidFill>
                  </a:tcPr>
                </a:tc>
                <a:tc>
                  <a:txBody>
                    <a:bodyPr/>
                    <a:lstStyle/>
                    <a:p>
                      <a:pPr>
                        <a:defRPr sz="1100" b="1">
                          <a:solidFill>
                            <a:srgbClr val="FFFFFF"/>
                          </a:solidFill>
                        </a:defRPr>
                      </a:pPr>
                      <a:r>
                        <a:t>Academic &amp; Operational Remarks</a:t>
                      </a:r>
                    </a:p>
                  </a:txBody>
                  <a:tcPr>
                    <a:solidFill>
                      <a:srgbClr val="143526"/>
                    </a:solidFill>
                  </a:tcPr>
                </a:tc>
                <a:extLst>
                  <a:ext uri="{0D108BD9-81ED-4DB2-BD59-A6C34878D82A}">
                    <a16:rowId xmlns:a16="http://schemas.microsoft.com/office/drawing/2014/main" val="10000"/>
                  </a:ext>
                </a:extLst>
              </a:tr>
              <a:tr h="477520">
                <a:tc>
                  <a:txBody>
                    <a:bodyPr/>
                    <a:lstStyle/>
                    <a:p>
                      <a:pPr>
                        <a:defRPr sz="1000" b="1">
                          <a:solidFill>
                            <a:srgbClr val="0F172A"/>
                          </a:solidFill>
                        </a:defRPr>
                      </a:pPr>
                      <a:r>
                        <a:t>Web Frontend &amp; Cartography</a:t>
                      </a:r>
                    </a:p>
                  </a:txBody>
                  <a:tcPr>
                    <a:solidFill>
                      <a:srgbClr val="FFFFFF"/>
                    </a:solidFill>
                  </a:tcPr>
                </a:tc>
                <a:tc>
                  <a:txBody>
                    <a:bodyPr/>
                    <a:lstStyle/>
                    <a:p>
                      <a:pPr>
                        <a:defRPr sz="1000" b="1">
                          <a:solidFill>
                            <a:srgbClr val="166534"/>
                          </a:solidFill>
                        </a:defRPr>
                      </a:pPr>
                      <a:r>
                        <a:t>IMPLEMENTED</a:t>
                      </a:r>
                    </a:p>
                  </a:txBody>
                  <a:tcPr>
                    <a:solidFill>
                      <a:srgbClr val="FFFFFF"/>
                    </a:solidFill>
                  </a:tcPr>
                </a:tc>
                <a:tc>
                  <a:txBody>
                    <a:bodyPr/>
                    <a:lstStyle/>
                    <a:p>
                      <a:pPr>
                        <a:defRPr sz="950">
                          <a:solidFill>
                            <a:srgbClr val="475569"/>
                          </a:solidFill>
                        </a:defRPr>
                      </a:pPr>
                      <a:r>
                        <a:t>HTML5, CSS3, Leaflet.js, Chart.js</a:t>
                      </a:r>
                    </a:p>
                  </a:txBody>
                  <a:tcPr>
                    <a:solidFill>
                      <a:srgbClr val="FFFFFF"/>
                    </a:solidFill>
                  </a:tcPr>
                </a:tc>
                <a:tc>
                  <a:txBody>
                    <a:bodyPr/>
                    <a:lstStyle/>
                    <a:p>
                      <a:pPr>
                        <a:defRPr sz="950">
                          <a:solidFill>
                            <a:srgbClr val="0F172A"/>
                          </a:solidFill>
                        </a:defRPr>
                      </a:pPr>
                      <a:r>
                        <a:t>Interactive map, layer toggles, and multi-temporal charts fully operational.</a:t>
                      </a:r>
                    </a:p>
                  </a:txBody>
                  <a:tcPr>
                    <a:solidFill>
                      <a:srgbClr val="FFFFFF"/>
                    </a:solidFill>
                  </a:tcPr>
                </a:tc>
                <a:extLst>
                  <a:ext uri="{0D108BD9-81ED-4DB2-BD59-A6C34878D82A}">
                    <a16:rowId xmlns:a16="http://schemas.microsoft.com/office/drawing/2014/main" val="10001"/>
                  </a:ext>
                </a:extLst>
              </a:tr>
              <a:tr h="477520">
                <a:tc>
                  <a:txBody>
                    <a:bodyPr/>
                    <a:lstStyle/>
                    <a:p>
                      <a:pPr>
                        <a:defRPr sz="1000" b="1">
                          <a:solidFill>
                            <a:srgbClr val="0F172A"/>
                          </a:solidFill>
                        </a:defRPr>
                      </a:pPr>
                      <a:r>
                        <a:t>Flask Backend &amp; REST API</a:t>
                      </a:r>
                    </a:p>
                  </a:txBody>
                  <a:tcPr>
                    <a:solidFill>
                      <a:srgbClr val="F8FAFC"/>
                    </a:solidFill>
                  </a:tcPr>
                </a:tc>
                <a:tc>
                  <a:txBody>
                    <a:bodyPr/>
                    <a:lstStyle/>
                    <a:p>
                      <a:pPr>
                        <a:defRPr sz="1000" b="1">
                          <a:solidFill>
                            <a:srgbClr val="166534"/>
                          </a:solidFill>
                        </a:defRPr>
                      </a:pPr>
                      <a:r>
                        <a:t>IMPLEMENTED</a:t>
                      </a:r>
                    </a:p>
                  </a:txBody>
                  <a:tcPr>
                    <a:solidFill>
                      <a:srgbClr val="F8FAFC"/>
                    </a:solidFill>
                  </a:tcPr>
                </a:tc>
                <a:tc>
                  <a:txBody>
                    <a:bodyPr/>
                    <a:lstStyle/>
                    <a:p>
                      <a:pPr>
                        <a:defRPr sz="950">
                          <a:solidFill>
                            <a:srgbClr val="475569"/>
                          </a:solidFill>
                        </a:defRPr>
                      </a:pPr>
                      <a:r>
                        <a:t>Python Flask WSGI, REST JSON</a:t>
                      </a:r>
                    </a:p>
                  </a:txBody>
                  <a:tcPr>
                    <a:solidFill>
                      <a:srgbClr val="F8FAFC"/>
                    </a:solidFill>
                  </a:tcPr>
                </a:tc>
                <a:tc>
                  <a:txBody>
                    <a:bodyPr/>
                    <a:lstStyle/>
                    <a:p>
                      <a:pPr>
                        <a:defRPr sz="950">
                          <a:solidFill>
                            <a:srgbClr val="0F172A"/>
                          </a:solidFill>
                        </a:defRPr>
                      </a:pPr>
                      <a:r>
                        <a:t>Routing, JSON payloads, and error handling fully implemented and tested.</a:t>
                      </a:r>
                    </a:p>
                  </a:txBody>
                  <a:tcPr>
                    <a:solidFill>
                      <a:srgbClr val="F8FAFC"/>
                    </a:solidFill>
                  </a:tcPr>
                </a:tc>
                <a:extLst>
                  <a:ext uri="{0D108BD9-81ED-4DB2-BD59-A6C34878D82A}">
                    <a16:rowId xmlns:a16="http://schemas.microsoft.com/office/drawing/2014/main" val="10002"/>
                  </a:ext>
                </a:extLst>
              </a:tr>
              <a:tr h="477520">
                <a:tc>
                  <a:txBody>
                    <a:bodyPr/>
                    <a:lstStyle/>
                    <a:p>
                      <a:pPr>
                        <a:defRPr sz="1000" b="1">
                          <a:solidFill>
                            <a:srgbClr val="0F172A"/>
                          </a:solidFill>
                        </a:defRPr>
                      </a:pPr>
                      <a:r>
                        <a:t>Automated Report Engine</a:t>
                      </a:r>
                    </a:p>
                  </a:txBody>
                  <a:tcPr>
                    <a:solidFill>
                      <a:srgbClr val="FFFFFF"/>
                    </a:solidFill>
                  </a:tcPr>
                </a:tc>
                <a:tc>
                  <a:txBody>
                    <a:bodyPr/>
                    <a:lstStyle/>
                    <a:p>
                      <a:pPr>
                        <a:defRPr sz="1000" b="1">
                          <a:solidFill>
                            <a:srgbClr val="166534"/>
                          </a:solidFill>
                        </a:defRPr>
                      </a:pPr>
                      <a:r>
                        <a:t>IMPLEMENTED</a:t>
                      </a:r>
                    </a:p>
                  </a:txBody>
                  <a:tcPr>
                    <a:solidFill>
                      <a:srgbClr val="FFFFFF"/>
                    </a:solidFill>
                  </a:tcPr>
                </a:tc>
                <a:tc>
                  <a:txBody>
                    <a:bodyPr/>
                    <a:lstStyle/>
                    <a:p>
                      <a:pPr>
                        <a:defRPr sz="950">
                          <a:solidFill>
                            <a:srgbClr val="475569"/>
                          </a:solidFill>
                        </a:defRPr>
                      </a:pPr>
                      <a:r>
                        <a:t>ReportLab Headless PDF Generator</a:t>
                      </a:r>
                    </a:p>
                  </a:txBody>
                  <a:tcPr>
                    <a:solidFill>
                      <a:srgbClr val="FFFFFF"/>
                    </a:solidFill>
                  </a:tcPr>
                </a:tc>
                <a:tc>
                  <a:txBody>
                    <a:bodyPr/>
                    <a:lstStyle/>
                    <a:p>
                      <a:pPr>
                        <a:defRPr sz="950">
                          <a:solidFill>
                            <a:srgbClr val="0F172A"/>
                          </a:solidFill>
                        </a:defRPr>
                      </a:pPr>
                      <a:r>
                        <a:t>Generates formatted, printable A4 MENRO summary reports dynamically.</a:t>
                      </a:r>
                    </a:p>
                  </a:txBody>
                  <a:tcPr>
                    <a:solidFill>
                      <a:srgbClr val="FFFFFF"/>
                    </a:solidFill>
                  </a:tcPr>
                </a:tc>
                <a:extLst>
                  <a:ext uri="{0D108BD9-81ED-4DB2-BD59-A6C34878D82A}">
                    <a16:rowId xmlns:a16="http://schemas.microsoft.com/office/drawing/2014/main" val="10003"/>
                  </a:ext>
                </a:extLst>
              </a:tr>
              <a:tr h="477520">
                <a:tc>
                  <a:txBody>
                    <a:bodyPr/>
                    <a:lstStyle/>
                    <a:p>
                      <a:pPr>
                        <a:defRPr sz="1000" b="1">
                          <a:solidFill>
                            <a:srgbClr val="0F172A"/>
                          </a:solidFill>
                        </a:defRPr>
                      </a:pPr>
                      <a:r>
                        <a:t>Sentinel-2 Preprocessing</a:t>
                      </a:r>
                    </a:p>
                  </a:txBody>
                  <a:tcPr>
                    <a:solidFill>
                      <a:srgbClr val="F8FAFC"/>
                    </a:solidFill>
                  </a:tcPr>
                </a:tc>
                <a:tc>
                  <a:txBody>
                    <a:bodyPr/>
                    <a:lstStyle/>
                    <a:p>
                      <a:pPr>
                        <a:defRPr sz="1000" b="1">
                          <a:solidFill>
                            <a:srgbClr val="166534"/>
                          </a:solidFill>
                        </a:defRPr>
                      </a:pPr>
                      <a:r>
                        <a:t>IMPLEMENTED</a:t>
                      </a:r>
                    </a:p>
                  </a:txBody>
                  <a:tcPr>
                    <a:solidFill>
                      <a:srgbClr val="F8FAFC"/>
                    </a:solidFill>
                  </a:tcPr>
                </a:tc>
                <a:tc>
                  <a:txBody>
                    <a:bodyPr/>
                    <a:lstStyle/>
                    <a:p>
                      <a:pPr>
                        <a:defRPr sz="950">
                          <a:solidFill>
                            <a:srgbClr val="475569"/>
                          </a:solidFill>
                        </a:defRPr>
                      </a:pPr>
                      <a:r>
                        <a:t>Google Earth Engine &amp; Python Rasterio</a:t>
                      </a:r>
                    </a:p>
                  </a:txBody>
                  <a:tcPr>
                    <a:solidFill>
                      <a:srgbClr val="F8FAFC"/>
                    </a:solidFill>
                  </a:tcPr>
                </a:tc>
                <a:tc>
                  <a:txBody>
                    <a:bodyPr/>
                    <a:lstStyle/>
                    <a:p>
                      <a:pPr>
                        <a:defRPr sz="950">
                          <a:solidFill>
                            <a:srgbClr val="0F172A"/>
                          </a:solidFill>
                        </a:defRPr>
                      </a:pPr>
                      <a:r>
                        <a:t>Band isolation (B3, B4, B8, B11), bilinear resampling, and NDVI calculation.</a:t>
                      </a:r>
                    </a:p>
                  </a:txBody>
                  <a:tcPr>
                    <a:solidFill>
                      <a:srgbClr val="F8FAFC"/>
                    </a:solidFill>
                  </a:tcPr>
                </a:tc>
                <a:extLst>
                  <a:ext uri="{0D108BD9-81ED-4DB2-BD59-A6C34878D82A}">
                    <a16:rowId xmlns:a16="http://schemas.microsoft.com/office/drawing/2014/main" val="10004"/>
                  </a:ext>
                </a:extLst>
              </a:tr>
              <a:tr h="477520">
                <a:tc>
                  <a:txBody>
                    <a:bodyPr/>
                    <a:lstStyle/>
                    <a:p>
                      <a:pPr>
                        <a:defRPr sz="1000" b="1">
                          <a:solidFill>
                            <a:srgbClr val="0F172A"/>
                          </a:solidFill>
                        </a:defRPr>
                      </a:pPr>
                      <a:r>
                        <a:t>5-Channel U-Net Architecture</a:t>
                      </a:r>
                    </a:p>
                  </a:txBody>
                  <a:tcPr>
                    <a:solidFill>
                      <a:srgbClr val="FFFFFF"/>
                    </a:solidFill>
                  </a:tcPr>
                </a:tc>
                <a:tc>
                  <a:txBody>
                    <a:bodyPr/>
                    <a:lstStyle/>
                    <a:p>
                      <a:pPr>
                        <a:defRPr sz="1000" b="1">
                          <a:solidFill>
                            <a:srgbClr val="166534"/>
                          </a:solidFill>
                        </a:defRPr>
                      </a:pPr>
                      <a:r>
                        <a:t>IMPLEMENTED</a:t>
                      </a:r>
                    </a:p>
                  </a:txBody>
                  <a:tcPr>
                    <a:solidFill>
                      <a:srgbClr val="FFFFFF"/>
                    </a:solidFill>
                  </a:tcPr>
                </a:tc>
                <a:tc>
                  <a:txBody>
                    <a:bodyPr/>
                    <a:lstStyle/>
                    <a:p>
                      <a:pPr>
                        <a:defRPr sz="950">
                          <a:solidFill>
                            <a:srgbClr val="475569"/>
                          </a:solidFill>
                        </a:defRPr>
                      </a:pPr>
                      <a:r>
                        <a:t>PyTorch / Keras Deep Learning Code</a:t>
                      </a:r>
                    </a:p>
                  </a:txBody>
                  <a:tcPr>
                    <a:solidFill>
                      <a:srgbClr val="FFFFFF"/>
                    </a:solidFill>
                  </a:tcPr>
                </a:tc>
                <a:tc>
                  <a:txBody>
                    <a:bodyPr/>
                    <a:lstStyle/>
                    <a:p>
                      <a:pPr>
                        <a:defRPr sz="950">
                          <a:solidFill>
                            <a:srgbClr val="0F172A"/>
                          </a:solidFill>
                        </a:defRPr>
                      </a:pPr>
                      <a:r>
                        <a:t>Architecture definition, skip connections, loss functions, and sweep pipelines ready.</a:t>
                      </a:r>
                    </a:p>
                  </a:txBody>
                  <a:tcPr>
                    <a:solidFill>
                      <a:srgbClr val="FFFFFF"/>
                    </a:solidFill>
                  </a:tcPr>
                </a:tc>
                <a:extLst>
                  <a:ext uri="{0D108BD9-81ED-4DB2-BD59-A6C34878D82A}">
                    <a16:rowId xmlns:a16="http://schemas.microsoft.com/office/drawing/2014/main" val="10005"/>
                  </a:ext>
                </a:extLst>
              </a:tr>
              <a:tr h="477520">
                <a:tc>
                  <a:txBody>
                    <a:bodyPr/>
                    <a:lstStyle/>
                    <a:p>
                      <a:pPr>
                        <a:defRPr sz="1000" b="1">
                          <a:solidFill>
                            <a:srgbClr val="0F172A"/>
                          </a:solidFill>
                        </a:defRPr>
                      </a:pPr>
                      <a:r>
                        <a:t>Independent Ground-Truth Validation</a:t>
                      </a:r>
                    </a:p>
                  </a:txBody>
                  <a:tcPr>
                    <a:solidFill>
                      <a:srgbClr val="F8FAFC"/>
                    </a:solidFill>
                  </a:tcPr>
                </a:tc>
                <a:tc>
                  <a:txBody>
                    <a:bodyPr/>
                    <a:lstStyle/>
                    <a:p>
                      <a:pPr>
                        <a:defRPr sz="1000" b="1">
                          <a:solidFill>
                            <a:srgbClr val="B45309"/>
                          </a:solidFill>
                        </a:defRPr>
                      </a:pPr>
                      <a:r>
                        <a:t>PENDING</a:t>
                      </a:r>
                    </a:p>
                  </a:txBody>
                  <a:tcPr>
                    <a:solidFill>
                      <a:srgbClr val="F8FAFC"/>
                    </a:solidFill>
                  </a:tcPr>
                </a:tc>
                <a:tc>
                  <a:txBody>
                    <a:bodyPr/>
                    <a:lstStyle/>
                    <a:p>
                      <a:pPr>
                        <a:defRPr sz="950">
                          <a:solidFill>
                            <a:srgbClr val="475569"/>
                          </a:solidFill>
                        </a:defRPr>
                      </a:pPr>
                      <a:r>
                        <a:t>Aringay MENRO Field Experts</a:t>
                      </a:r>
                    </a:p>
                  </a:txBody>
                  <a:tcPr>
                    <a:solidFill>
                      <a:srgbClr val="F8FAFC"/>
                    </a:solidFill>
                  </a:tcPr>
                </a:tc>
                <a:tc>
                  <a:txBody>
                    <a:bodyPr/>
                    <a:lstStyle/>
                    <a:p>
                      <a:pPr>
                        <a:defRPr sz="950">
                          <a:solidFill>
                            <a:srgbClr val="0F172A"/>
                          </a:solidFill>
                        </a:defRPr>
                      </a:pPr>
                      <a:r>
                        <a:t>Undergoing independent review by MENRO personnel to guarantee label validity.</a:t>
                      </a:r>
                    </a:p>
                  </a:txBody>
                  <a:tcPr>
                    <a:solidFill>
                      <a:srgbClr val="F8FAFC"/>
                    </a:solidFill>
                  </a:tcPr>
                </a:tc>
                <a:extLst>
                  <a:ext uri="{0D108BD9-81ED-4DB2-BD59-A6C34878D82A}">
                    <a16:rowId xmlns:a16="http://schemas.microsoft.com/office/drawing/2014/main" val="10006"/>
                  </a:ext>
                </a:extLst>
              </a:tr>
              <a:tr h="477520">
                <a:tc>
                  <a:txBody>
                    <a:bodyPr/>
                    <a:lstStyle/>
                    <a:p>
                      <a:pPr>
                        <a:defRPr sz="1000" b="1">
                          <a:solidFill>
                            <a:srgbClr val="0F172A"/>
                          </a:solidFill>
                        </a:defRPr>
                      </a:pPr>
                      <a:r>
                        <a:t>Final Model Weights &amp; Metrics</a:t>
                      </a:r>
                    </a:p>
                  </a:txBody>
                  <a:tcPr>
                    <a:solidFill>
                      <a:srgbClr val="FFFFFF"/>
                    </a:solidFill>
                  </a:tcPr>
                </a:tc>
                <a:tc>
                  <a:txBody>
                    <a:bodyPr/>
                    <a:lstStyle/>
                    <a:p>
                      <a:pPr>
                        <a:defRPr sz="1000" b="1">
                          <a:solidFill>
                            <a:srgbClr val="B45309"/>
                          </a:solidFill>
                        </a:defRPr>
                      </a:pPr>
                      <a:r>
                        <a:t>PENDING</a:t>
                      </a:r>
                    </a:p>
                  </a:txBody>
                  <a:tcPr>
                    <a:solidFill>
                      <a:srgbClr val="FFFFFF"/>
                    </a:solidFill>
                  </a:tcPr>
                </a:tc>
                <a:tc>
                  <a:txBody>
                    <a:bodyPr/>
                    <a:lstStyle/>
                    <a:p>
                      <a:pPr>
                        <a:defRPr sz="950">
                          <a:solidFill>
                            <a:srgbClr val="475569"/>
                          </a:solidFill>
                        </a:defRPr>
                      </a:pPr>
                      <a:r>
                        <a:t>Google Colab Pro GPU Training</a:t>
                      </a:r>
                    </a:p>
                  </a:txBody>
                  <a:tcPr>
                    <a:solidFill>
                      <a:srgbClr val="FFFFFF"/>
                    </a:solidFill>
                  </a:tcPr>
                </a:tc>
                <a:tc>
                  <a:txBody>
                    <a:bodyPr/>
                    <a:lstStyle/>
                    <a:p>
                      <a:pPr>
                        <a:defRPr sz="950">
                          <a:solidFill>
                            <a:srgbClr val="0F172A"/>
                          </a:solidFill>
                        </a:defRPr>
                      </a:pPr>
                      <a:r>
                        <a:t>Dependent on finalized MENRO-validated reference masks prior to final fit.</a:t>
                      </a:r>
                    </a:p>
                  </a:txBody>
                  <a:tcPr>
                    <a:solidFill>
                      <a:srgbClr val="FFFFFF"/>
                    </a:solidFill>
                  </a:tcPr>
                </a:tc>
                <a:extLst>
                  <a:ext uri="{0D108BD9-81ED-4DB2-BD59-A6C34878D82A}">
                    <a16:rowId xmlns:a16="http://schemas.microsoft.com/office/drawing/2014/main" val="10007"/>
                  </a:ext>
                </a:extLst>
              </a:tr>
              <a:tr h="477520">
                <a:tc>
                  <a:txBody>
                    <a:bodyPr/>
                    <a:lstStyle/>
                    <a:p>
                      <a:pPr>
                        <a:defRPr sz="1000" b="1">
                          <a:solidFill>
                            <a:srgbClr val="0F172A"/>
                          </a:solidFill>
                        </a:defRPr>
                      </a:pPr>
                      <a:r>
                        <a:t>Live In-App Satellite Inference</a:t>
                      </a:r>
                    </a:p>
                  </a:txBody>
                  <a:tcPr>
                    <a:solidFill>
                      <a:srgbClr val="F8FAFC"/>
                    </a:solidFill>
                  </a:tcPr>
                </a:tc>
                <a:tc>
                  <a:txBody>
                    <a:bodyPr/>
                    <a:lstStyle/>
                    <a:p>
                      <a:pPr>
                        <a:defRPr sz="1000" b="1">
                          <a:solidFill>
                            <a:srgbClr val="475569"/>
                          </a:solidFill>
                        </a:defRPr>
                      </a:pPr>
                      <a:r>
                        <a:t>OUT OF SCOPE</a:t>
                      </a:r>
                    </a:p>
                  </a:txBody>
                  <a:tcPr>
                    <a:solidFill>
                      <a:srgbClr val="F8FAFC"/>
                    </a:solidFill>
                  </a:tcPr>
                </a:tc>
                <a:tc>
                  <a:txBody>
                    <a:bodyPr/>
                    <a:lstStyle/>
                    <a:p>
                      <a:pPr>
                        <a:defRPr sz="950">
                          <a:solidFill>
                            <a:srgbClr val="475569"/>
                          </a:solidFill>
                        </a:defRPr>
                      </a:pPr>
                      <a:r>
                        <a:t>Pre-computed / Batch Inference</a:t>
                      </a:r>
                    </a:p>
                  </a:txBody>
                  <a:tcPr>
                    <a:solidFill>
                      <a:srgbClr val="F8FAFC"/>
                    </a:solidFill>
                  </a:tcPr>
                </a:tc>
                <a:tc>
                  <a:txBody>
                    <a:bodyPr/>
                    <a:lstStyle/>
                    <a:p>
                      <a:pPr>
                        <a:defRPr sz="950">
                          <a:solidFill>
                            <a:srgbClr val="0F172A"/>
                          </a:solidFill>
                        </a:defRPr>
                      </a:pPr>
                      <a:r>
                        <a:t>The prototype is designed for decision support rather than operational live satellite ingestion.</a:t>
                      </a:r>
                    </a:p>
                  </a:txBody>
                  <a:tcPr>
                    <a:solidFill>
                      <a:srgbClr val="F8FAFC"/>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320040"/>
            <a:ext cx="8229600" cy="274320"/>
          </a:xfrm>
          <a:prstGeom prst="rect">
            <a:avLst/>
          </a:prstGeom>
          <a:noFill/>
        </p:spPr>
        <p:txBody>
          <a:bodyPr wrap="square" lIns="0" tIns="0" rIns="0" bIns="0">
            <a:spAutoFit/>
          </a:bodyPr>
          <a:lstStyle/>
          <a:p>
            <a:pPr>
              <a:defRPr sz="1050" b="1">
                <a:solidFill>
                  <a:srgbClr val="2D6A4F"/>
                </a:solidFill>
                <a:latin typeface="Calibri"/>
              </a:defRPr>
            </a:pPr>
            <a:r>
              <a:t>6. STATUS &amp; CONCLUSION</a:t>
            </a:r>
          </a:p>
        </p:txBody>
      </p:sp>
      <p:sp>
        <p:nvSpPr>
          <p:cNvPr id="5" name="TextBox 4"/>
          <p:cNvSpPr txBox="1"/>
          <p:nvPr/>
        </p:nvSpPr>
        <p:spPr>
          <a:xfrm>
            <a:off x="731520" y="594360"/>
            <a:ext cx="9601200" cy="594360"/>
          </a:xfrm>
          <a:prstGeom prst="rect">
            <a:avLst/>
          </a:prstGeom>
          <a:noFill/>
        </p:spPr>
        <p:txBody>
          <a:bodyPr wrap="square" lIns="0" tIns="0" rIns="0" bIns="0">
            <a:spAutoFit/>
          </a:bodyPr>
          <a:lstStyle/>
          <a:p>
            <a:pPr>
              <a:defRPr sz="2100" b="1">
                <a:solidFill>
                  <a:srgbClr val="0F172A"/>
                </a:solidFill>
                <a:latin typeface="Calibri"/>
              </a:defRPr>
            </a:pPr>
            <a:r>
              <a:t>Interdisciplinary Synthesis &amp; Deployment Roadmap</a:t>
            </a:r>
          </a:p>
        </p:txBody>
      </p:sp>
      <p:sp>
        <p:nvSpPr>
          <p:cNvPr id="6" name="TextBox 5"/>
          <p:cNvSpPr txBox="1"/>
          <p:nvPr/>
        </p:nvSpPr>
        <p:spPr>
          <a:xfrm>
            <a:off x="10789920" y="457200"/>
            <a:ext cx="731520" cy="365760"/>
          </a:xfrm>
          <a:prstGeom prst="rect">
            <a:avLst/>
          </a:prstGeom>
          <a:noFill/>
        </p:spPr>
        <p:txBody>
          <a:bodyPr wrap="none" lIns="0" tIns="0" rIns="0" bIns="0">
            <a:spAutoFit/>
          </a:bodyPr>
          <a:lstStyle/>
          <a:p>
            <a:pPr algn="r">
              <a:defRPr sz="1100" b="1">
                <a:solidFill>
                  <a:srgbClr val="475569"/>
                </a:solidFill>
                <a:latin typeface="Calibri"/>
              </a:defRPr>
            </a:pPr>
            <a:r>
              <a:t>19 / 20</a:t>
            </a:r>
          </a:p>
        </p:txBody>
      </p:sp>
      <p:sp>
        <p:nvSpPr>
          <p:cNvPr id="7" name="Rounded Rectangle 6"/>
          <p:cNvSpPr/>
          <p:nvPr/>
        </p:nvSpPr>
        <p:spPr>
          <a:xfrm>
            <a:off x="731520" y="1645920"/>
            <a:ext cx="521208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1828800"/>
            <a:ext cx="4846320" cy="4297680"/>
          </a:xfrm>
          <a:prstGeom prst="rect">
            <a:avLst/>
          </a:prstGeom>
          <a:noFill/>
        </p:spPr>
        <p:txBody>
          <a:bodyPr wrap="square">
            <a:spAutoFit/>
          </a:bodyPr>
          <a:lstStyle/>
          <a:p>
            <a:pPr>
              <a:defRPr sz="1100" b="1">
                <a:solidFill>
                  <a:srgbClr val="2D6A4F"/>
                </a:solidFill>
              </a:defRPr>
            </a:pPr>
            <a:r>
              <a:t>TRIPARTITE CONTRIBUTION</a:t>
            </a:r>
          </a:p>
          <a:p>
            <a:pPr>
              <a:spcAft>
                <a:spcPts val="800"/>
              </a:spcAft>
              <a:defRPr sz="1600" b="1">
                <a:solidFill>
                  <a:srgbClr val="0F172A"/>
                </a:solidFill>
              </a:defRPr>
            </a:pPr>
            <a:r>
              <a:t>Academic &amp; Practical Value</a:t>
            </a:r>
          </a:p>
          <a:p>
            <a:pPr>
              <a:spcBef>
                <a:spcPts val="600"/>
              </a:spcBef>
              <a:defRPr sz="1050" b="1">
                <a:solidFill>
                  <a:srgbClr val="0F172A"/>
                </a:solidFill>
              </a:defRPr>
            </a:pPr>
            <a:r>
              <a:t>Remote Sensing Pipeline:</a:t>
            </a:r>
          </a:p>
          <a:p>
            <a:pPr>
              <a:defRPr sz="1000">
                <a:solidFill>
                  <a:srgbClr val="475569"/>
                </a:solidFill>
              </a:defRPr>
            </a:pPr>
            <a:r>
              <a:t>Operational multi-temporal Sentinel-2 MSI collection with 10m spatial resolution across 2019–2024 dry seasons.</a:t>
            </a:r>
          </a:p>
          <a:p>
            <a:pPr>
              <a:spcBef>
                <a:spcPts val="600"/>
              </a:spcBef>
              <a:defRPr sz="1050" b="1">
                <a:solidFill>
                  <a:srgbClr val="0F172A"/>
                </a:solidFill>
              </a:defRPr>
            </a:pPr>
            <a:r>
              <a:t>Deep Learning Architecture:</a:t>
            </a:r>
          </a:p>
          <a:p>
            <a:pPr>
              <a:defRPr sz="1000">
                <a:solidFill>
                  <a:srgbClr val="475569"/>
                </a:solidFill>
              </a:defRPr>
            </a:pPr>
            <a:r>
              <a:t>5-channel modified U-Net model with skip connections, trained under an 80/20 experimental partition protocol.</a:t>
            </a:r>
          </a:p>
          <a:p>
            <a:pPr>
              <a:spcBef>
                <a:spcPts val="600"/>
              </a:spcBef>
              <a:defRPr sz="1050" b="1">
                <a:solidFill>
                  <a:srgbClr val="0F172A"/>
                </a:solidFill>
              </a:defRPr>
            </a:pPr>
            <a:r>
              <a:t>Software Engineering Delivery:</a:t>
            </a:r>
          </a:p>
          <a:p>
            <a:pPr>
              <a:defRPr sz="1000">
                <a:solidFill>
                  <a:srgbClr val="475569"/>
                </a:solidFill>
              </a:defRPr>
            </a:pPr>
            <a:r>
              <a:t>Production-ready Flask REST backend and intuitive Leaflet web GIS interface tailored for municipal operators.</a:t>
            </a:r>
          </a:p>
          <a:p>
            <a:pPr>
              <a:spcBef>
                <a:spcPts val="600"/>
              </a:spcBef>
              <a:defRPr sz="1050" b="1">
                <a:solidFill>
                  <a:srgbClr val="0F172A"/>
                </a:solidFill>
              </a:defRPr>
            </a:pPr>
            <a:r>
              <a:t>Municipal Decision Impact:</a:t>
            </a:r>
          </a:p>
          <a:p>
            <a:pPr>
              <a:defRPr sz="1000">
                <a:solidFill>
                  <a:srgbClr val="475569"/>
                </a:solidFill>
              </a:defRPr>
            </a:pPr>
            <a:r>
              <a:t>Equips Aringay MENRO with a zero-cost, automated tool to substantiate local conservation and replanting policies.</a:t>
            </a:r>
          </a:p>
        </p:txBody>
      </p:sp>
      <p:sp>
        <p:nvSpPr>
          <p:cNvPr id="9" name="Rounded Rectangle 8"/>
          <p:cNvSpPr/>
          <p:nvPr/>
        </p:nvSpPr>
        <p:spPr>
          <a:xfrm>
            <a:off x="6217920" y="1645920"/>
            <a:ext cx="5242255"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828800"/>
            <a:ext cx="4846320" cy="4297680"/>
          </a:xfrm>
          <a:prstGeom prst="rect">
            <a:avLst/>
          </a:prstGeom>
          <a:noFill/>
        </p:spPr>
        <p:txBody>
          <a:bodyPr wrap="square">
            <a:spAutoFit/>
          </a:bodyPr>
          <a:lstStyle/>
          <a:p>
            <a:pPr>
              <a:defRPr sz="1100" b="1">
                <a:solidFill>
                  <a:srgbClr val="2D6A4F"/>
                </a:solidFill>
              </a:defRPr>
            </a:pPr>
            <a:r>
              <a:t>CONCRETE NEXT STEPS</a:t>
            </a:r>
          </a:p>
          <a:p>
            <a:pPr>
              <a:spcAft>
                <a:spcPts val="800"/>
              </a:spcAft>
              <a:defRPr sz="1600" b="1">
                <a:solidFill>
                  <a:srgbClr val="0F172A"/>
                </a:solidFill>
              </a:defRPr>
            </a:pPr>
            <a:r>
              <a:t>Pathway to Final Deployment</a:t>
            </a:r>
          </a:p>
          <a:p>
            <a:pPr>
              <a:spcBef>
                <a:spcPts val="500"/>
              </a:spcBef>
              <a:defRPr sz="1050" b="1">
                <a:solidFill>
                  <a:srgbClr val="0F172A"/>
                </a:solidFill>
              </a:defRPr>
            </a:pPr>
            <a:r>
              <a:t>1. Complete MENRO Validation:</a:t>
            </a:r>
          </a:p>
          <a:p>
            <a:pPr>
              <a:defRPr sz="1000">
                <a:solidFill>
                  <a:srgbClr val="475569"/>
                </a:solidFill>
              </a:defRPr>
            </a:pPr>
            <a:r>
              <a:t>Finalize formal review and independent ground-truth sign-off with Aringay MENRO forestry officers.</a:t>
            </a:r>
          </a:p>
          <a:p>
            <a:pPr>
              <a:spcBef>
                <a:spcPts val="500"/>
              </a:spcBef>
              <a:defRPr sz="1050" b="1">
                <a:solidFill>
                  <a:srgbClr val="0F172A"/>
                </a:solidFill>
              </a:defRPr>
            </a:pPr>
            <a:r>
              <a:t>2. Execute GPU Training Run:</a:t>
            </a:r>
          </a:p>
          <a:p>
            <a:pPr>
              <a:defRPr sz="1000">
                <a:solidFill>
                  <a:srgbClr val="475569"/>
                </a:solidFill>
              </a:defRPr>
            </a:pPr>
            <a:r>
              <a:t>Train final 5-channel U-Net on Google Colab Pro GPU using validated labels.</a:t>
            </a:r>
          </a:p>
          <a:p>
            <a:pPr>
              <a:spcBef>
                <a:spcPts val="500"/>
              </a:spcBef>
              <a:defRPr sz="1050" b="1">
                <a:solidFill>
                  <a:srgbClr val="0F172A"/>
                </a:solidFill>
              </a:defRPr>
            </a:pPr>
            <a:r>
              <a:t>3. Sweep Empirical Thresholds:</a:t>
            </a:r>
          </a:p>
          <a:p>
            <a:pPr>
              <a:defRPr sz="1000">
                <a:solidFill>
                  <a:srgbClr val="475569"/>
                </a:solidFill>
              </a:defRPr>
            </a:pPr>
            <a:r>
              <a:t>Execute 0.05–0.95 threshold evaluation to determine optimal operating F1-score and IoU.</a:t>
            </a:r>
          </a:p>
          <a:p>
            <a:pPr>
              <a:spcBef>
                <a:spcPts val="500"/>
              </a:spcBef>
              <a:defRPr sz="1050" b="1">
                <a:solidFill>
                  <a:srgbClr val="0F172A"/>
                </a:solidFill>
              </a:defRPr>
            </a:pPr>
            <a:r>
              <a:t>4. Seamless Weight Integration:</a:t>
            </a:r>
          </a:p>
          <a:p>
            <a:pPr>
              <a:defRPr sz="1000">
                <a:solidFill>
                  <a:srgbClr val="475569"/>
                </a:solidFill>
              </a:defRPr>
            </a:pPr>
            <a:r>
              <a:t>Set DEMO_MODE = False in config to immediately hook empirical model inference into the prototype.</a:t>
            </a:r>
          </a:p>
          <a:p>
            <a:pPr>
              <a:spcBef>
                <a:spcPts val="500"/>
              </a:spcBef>
              <a:defRPr sz="1050" b="1">
                <a:solidFill>
                  <a:srgbClr val="0F172A"/>
                </a:solidFill>
              </a:defRPr>
            </a:pPr>
            <a:r>
              <a:t>5. Municipal Handover &amp; Training:</a:t>
            </a:r>
          </a:p>
          <a:p>
            <a:pPr>
              <a:defRPr sz="1000">
                <a:solidFill>
                  <a:srgbClr val="475569"/>
                </a:solidFill>
              </a:defRPr>
            </a:pPr>
            <a:r>
              <a:t>Conduct operational orientation with Aringay MENRO staff for regular annual monitoring.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435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31520" y="1097280"/>
            <a:ext cx="13716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371600"/>
            <a:ext cx="10698480" cy="1371600"/>
          </a:xfrm>
          <a:prstGeom prst="rect">
            <a:avLst/>
          </a:prstGeom>
          <a:noFill/>
        </p:spPr>
        <p:txBody>
          <a:bodyPr wrap="square">
            <a:spAutoFit/>
          </a:bodyPr>
          <a:lstStyle/>
          <a:p>
            <a:pPr>
              <a:defRPr sz="3600" b="1">
                <a:solidFill>
                  <a:srgbClr val="FFFFFF"/>
                </a:solidFill>
                <a:latin typeface="Calibri"/>
              </a:defRPr>
            </a:pPr>
            <a:r>
              <a:t>Thank You Very Much.</a:t>
            </a:r>
          </a:p>
          <a:p>
            <a:pPr>
              <a:spcBef>
                <a:spcPts val="800"/>
              </a:spcBef>
              <a:defRPr sz="1800">
                <a:solidFill>
                  <a:srgbClr val="A7F3D0"/>
                </a:solidFill>
              </a:defRPr>
            </a:pPr>
            <a:r>
              <a:t>Open for Questions, Defense Critiques, and Discussion</a:t>
            </a:r>
          </a:p>
        </p:txBody>
      </p:sp>
      <p:sp>
        <p:nvSpPr>
          <p:cNvPr id="5" name="Rectangle 4"/>
          <p:cNvSpPr/>
          <p:nvPr/>
        </p:nvSpPr>
        <p:spPr>
          <a:xfrm>
            <a:off x="731520" y="3017520"/>
            <a:ext cx="10728655" cy="18288"/>
          </a:xfrm>
          <a:prstGeom prst="rect">
            <a:avLst/>
          </a:prstGeom>
          <a:solidFill>
            <a:srgbClr val="34D3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383280"/>
            <a:ext cx="5029200" cy="2743200"/>
          </a:xfrm>
          <a:prstGeom prst="rect">
            <a:avLst/>
          </a:prstGeom>
          <a:noFill/>
        </p:spPr>
        <p:txBody>
          <a:bodyPr wrap="none">
            <a:spAutoFit/>
          </a:bodyPr>
          <a:lstStyle/>
          <a:p>
            <a:pPr>
              <a:defRPr sz="1200" b="1">
                <a:solidFill>
                  <a:srgbClr val="A7F3D0"/>
                </a:solidFill>
              </a:defRPr>
            </a:pPr>
            <a:r>
              <a:t>STUDENT RESEARCH TEAM</a:t>
            </a:r>
          </a:p>
          <a:p>
            <a:pPr>
              <a:spcBef>
                <a:spcPts val="400"/>
              </a:spcBef>
              <a:defRPr sz="1200">
                <a:solidFill>
                  <a:srgbClr val="FFFFFF"/>
                </a:solidFill>
              </a:defRPr>
            </a:pPr>
            <a:r>
              <a:t>•  Nash Francis M. Caluza</a:t>
            </a:r>
          </a:p>
          <a:p>
            <a:pPr>
              <a:spcBef>
                <a:spcPts val="400"/>
              </a:spcBef>
              <a:defRPr sz="1200">
                <a:solidFill>
                  <a:srgbClr val="FFFFFF"/>
                </a:solidFill>
              </a:defRPr>
            </a:pPr>
            <a:r>
              <a:t>•  Reymark O. Boado</a:t>
            </a:r>
          </a:p>
          <a:p>
            <a:pPr>
              <a:spcBef>
                <a:spcPts val="400"/>
              </a:spcBef>
              <a:defRPr sz="1200">
                <a:solidFill>
                  <a:srgbClr val="FFFFFF"/>
                </a:solidFill>
              </a:defRPr>
            </a:pPr>
            <a:r>
              <a:t>•  Elaiza Praise Y. Milana</a:t>
            </a:r>
          </a:p>
          <a:p>
            <a:pPr>
              <a:spcBef>
                <a:spcPts val="400"/>
              </a:spcBef>
              <a:defRPr sz="1200">
                <a:solidFill>
                  <a:srgbClr val="FFFFFF"/>
                </a:solidFill>
              </a:defRPr>
            </a:pPr>
            <a:r>
              <a:t>•  Lyka B. Vejano</a:t>
            </a:r>
          </a:p>
          <a:p>
            <a:pPr>
              <a:spcBef>
                <a:spcPts val="800"/>
              </a:spcBef>
              <a:defRPr sz="1100">
                <a:solidFill>
                  <a:srgbClr val="D1FAE5"/>
                </a:solidFill>
              </a:defRPr>
            </a:pPr>
            <a:r>
              <a:t>Bachelor of Science in Computer Science</a:t>
            </a:r>
            <a:br/>
            <a:r>
              <a:t>DMMMSU-SLUC, Agoo, La Union</a:t>
            </a:r>
          </a:p>
        </p:txBody>
      </p:sp>
      <p:sp>
        <p:nvSpPr>
          <p:cNvPr id="7" name="TextBox 6"/>
          <p:cNvSpPr txBox="1"/>
          <p:nvPr/>
        </p:nvSpPr>
        <p:spPr>
          <a:xfrm>
            <a:off x="6217920" y="3383280"/>
            <a:ext cx="5212080" cy="2743200"/>
          </a:xfrm>
          <a:prstGeom prst="rect">
            <a:avLst/>
          </a:prstGeom>
          <a:noFill/>
        </p:spPr>
        <p:txBody>
          <a:bodyPr wrap="none">
            <a:spAutoFit/>
          </a:bodyPr>
          <a:lstStyle/>
          <a:p>
            <a:pPr>
              <a:defRPr sz="1200" b="1">
                <a:solidFill>
                  <a:srgbClr val="A7F3D0"/>
                </a:solidFill>
              </a:defRPr>
            </a:pPr>
            <a:r>
              <a:t>DEFENSE QUICK REFERENCE GUIDE</a:t>
            </a:r>
          </a:p>
          <a:p>
            <a:pPr>
              <a:spcBef>
                <a:spcPts val="300"/>
              </a:spcBef>
              <a:defRPr sz="1100">
                <a:solidFill>
                  <a:srgbClr val="FFFFFF"/>
                </a:solidFill>
              </a:defRPr>
            </a:pPr>
            <a:r>
              <a:t>✓  Study Area: Barangay Dulao, Aringay, La Union (316.74 ha)</a:t>
            </a:r>
          </a:p>
          <a:p>
            <a:pPr>
              <a:spcBef>
                <a:spcPts val="300"/>
              </a:spcBef>
              <a:defRPr sz="1100">
                <a:solidFill>
                  <a:srgbClr val="FFFFFF"/>
                </a:solidFill>
              </a:defRPr>
            </a:pPr>
            <a:r>
              <a:t>✓  Temporal Baseline: 2019–2024 (Dry Season, Feb 1 – Apr 30)</a:t>
            </a:r>
          </a:p>
          <a:p>
            <a:pPr>
              <a:spcBef>
                <a:spcPts val="300"/>
              </a:spcBef>
              <a:defRPr sz="1100">
                <a:solidFill>
                  <a:srgbClr val="FFFFFF"/>
                </a:solidFill>
              </a:defRPr>
            </a:pPr>
            <a:r>
              <a:t>✓  Sensors &amp; Bands: Sentinel-2 MSI (B3, B4, B8, B11) + NDVI</a:t>
            </a:r>
          </a:p>
          <a:p>
            <a:pPr>
              <a:spcBef>
                <a:spcPts val="300"/>
              </a:spcBef>
              <a:defRPr sz="1100">
                <a:solidFill>
                  <a:srgbClr val="FFFFFF"/>
                </a:solidFill>
              </a:defRPr>
            </a:pPr>
            <a:r>
              <a:t>✓  Model Architecture: 5-Channel U-Net (256×256×5 Tensor)</a:t>
            </a:r>
          </a:p>
          <a:p>
            <a:pPr>
              <a:spcBef>
                <a:spcPts val="300"/>
              </a:spcBef>
              <a:defRPr sz="1100">
                <a:solidFill>
                  <a:srgbClr val="FFFFFF"/>
                </a:solidFill>
              </a:defRPr>
            </a:pPr>
            <a:r>
              <a:t>✓  Data Protocol: 80% Training / 20% Validation Partition</a:t>
            </a:r>
          </a:p>
          <a:p>
            <a:pPr>
              <a:spcBef>
                <a:spcPts val="300"/>
              </a:spcBef>
              <a:defRPr sz="1100">
                <a:solidFill>
                  <a:srgbClr val="FFFFFF"/>
                </a:solidFill>
              </a:defRPr>
            </a:pPr>
            <a:r>
              <a:t>✓  Change Logic: Post-Classification Comparison (PCC)</a:t>
            </a:r>
          </a:p>
          <a:p>
            <a:pPr>
              <a:spcBef>
                <a:spcPts val="300"/>
              </a:spcBef>
              <a:defRPr sz="1100">
                <a:solidFill>
                  <a:srgbClr val="FFFFFF"/>
                </a:solidFill>
              </a:defRPr>
            </a:pPr>
            <a:r>
              <a:t>✓  Current Prototype: Operational Flask/Leaflet with Demo Benchmarks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TotalTime>
  <Words>7694</Words>
  <Application>Microsoft Office PowerPoint</Application>
  <PresentationFormat>Widescreen</PresentationFormat>
  <Paragraphs>682</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Nash Francis Caluza</cp:lastModifiedBy>
  <cp:revision>2</cp:revision>
  <dcterms:created xsi:type="dcterms:W3CDTF">2013-01-27T09:14:16Z</dcterms:created>
  <dcterms:modified xsi:type="dcterms:W3CDTF">2026-10-05T05:56:19Z</dcterms:modified>
  <cp:category/>
</cp:coreProperties>
</file>