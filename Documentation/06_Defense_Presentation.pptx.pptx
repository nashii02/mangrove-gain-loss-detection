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70" r:id="rId4"/>
    <p:sldId id="260" r:id="rId5"/>
    <p:sldId id="259" r:id="rId6"/>
    <p:sldId id="261" r:id="rId7"/>
    <p:sldId id="271" r:id="rId8"/>
    <p:sldId id="272" r:id="rId9"/>
    <p:sldId id="262" r:id="rId10"/>
    <p:sldId id="263" r:id="rId11"/>
    <p:sldId id="264" r:id="rId12"/>
    <p:sldId id="273" r:id="rId13"/>
    <p:sldId id="274" r:id="rId14"/>
    <p:sldId id="265" r:id="rId15"/>
    <p:sldId id="266" r:id="rId16"/>
    <p:sldId id="267" r:id="rId17"/>
    <p:sldId id="275" r:id="rId18"/>
    <p:sldId id="269"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B4332"/>
    <a:srgbClr val="D8F3DC"/>
    <a:srgbClr val="FBFBF9"/>
    <a:srgbClr val="0F2318"/>
    <a:srgbClr val="FDFDF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559" autoAdjust="0"/>
    <p:restoredTop sz="81307" autoAdjust="0"/>
  </p:normalViewPr>
  <p:slideViewPr>
    <p:cSldViewPr snapToGrid="0" snapToObjects="1">
      <p:cViewPr>
        <p:scale>
          <a:sx n="66" d="100"/>
          <a:sy n="66" d="100"/>
        </p:scale>
        <p:origin x="1579"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712F044-7EC0-4D81-BAFA-05A1D96E0671}" type="datetimeFigureOut">
              <a:rPr lang="en-PH" smtClean="0"/>
              <a:t>9/14/2026</a:t>
            </a:fld>
            <a:endParaRPr lang="en-P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DC798B-3871-464D-93A7-C050EC936EB3}" type="slidenum">
              <a:rPr lang="en-PH" smtClean="0"/>
              <a:t>‹#›</a:t>
            </a:fld>
            <a:endParaRPr lang="en-PH"/>
          </a:p>
        </p:txBody>
      </p:sp>
    </p:spTree>
    <p:extLst>
      <p:ext uri="{BB962C8B-B14F-4D97-AF65-F5344CB8AC3E}">
        <p14:creationId xmlns:p14="http://schemas.microsoft.com/office/powerpoint/2010/main" val="30238016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H" dirty="0"/>
              <a:t>Before we begin, may we kindly request everyone to rise as Erica Meneses leads us in prayer.</a:t>
            </a:r>
          </a:p>
          <a:p>
            <a:r>
              <a:rPr lang="en-PH" dirty="0"/>
              <a:t>"Good afternoon, dear panelist. We present our thesis proposal, 'Deep Learning-Based Detection of Mangrove Gain and Loss in </a:t>
            </a:r>
            <a:r>
              <a:rPr lang="en-PH" dirty="0" err="1"/>
              <a:t>Aringay</a:t>
            </a:r>
            <a:r>
              <a:rPr lang="en-PH" dirty="0"/>
              <a:t>, La Union.’ . We are Caluza, Boado, Meneses, Milana, and </a:t>
            </a:r>
            <a:r>
              <a:rPr lang="en-PH" dirty="0" err="1"/>
              <a:t>Vejano</a:t>
            </a:r>
            <a:r>
              <a:rPr lang="en-PH" dirty="0"/>
              <a:t>, and our adviser is Dr. Fernan H. Mendoza."</a:t>
            </a:r>
          </a:p>
        </p:txBody>
      </p:sp>
      <p:sp>
        <p:nvSpPr>
          <p:cNvPr id="4" name="Slide Number Placeholder 3"/>
          <p:cNvSpPr>
            <a:spLocks noGrp="1"/>
          </p:cNvSpPr>
          <p:nvPr>
            <p:ph type="sldNum" sz="quarter" idx="5"/>
          </p:nvPr>
        </p:nvSpPr>
        <p:spPr/>
        <p:txBody>
          <a:bodyPr/>
          <a:lstStyle/>
          <a:p>
            <a:fld id="{65DC798B-3871-464D-93A7-C050EC936EB3}" type="slidenum">
              <a:rPr lang="en-PH" smtClean="0"/>
              <a:t>1</a:t>
            </a:fld>
            <a:endParaRPr lang="en-PH"/>
          </a:p>
        </p:txBody>
      </p:sp>
    </p:spTree>
    <p:extLst>
      <p:ext uri="{BB962C8B-B14F-4D97-AF65-F5344CB8AC3E}">
        <p14:creationId xmlns:p14="http://schemas.microsoft.com/office/powerpoint/2010/main" val="42831819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dirty="0"/>
              <a:t>Why </a:t>
            </a:r>
            <a:r>
              <a:rPr lang="en-PH" dirty="0" err="1"/>
              <a:t>Magrove</a:t>
            </a:r>
            <a:r>
              <a:rPr lang="en-PH" dirty="0"/>
              <a:t> Matter? Mangrove are important because it protects the coastline from the waves and erosion, it is also become a habitat for different species, and it stores carbon, which contributes </a:t>
            </a:r>
            <a:r>
              <a:rPr lang="en-PH" dirty="0" err="1"/>
              <a:t>tp</a:t>
            </a:r>
            <a:r>
              <a:rPr lang="en-PH" dirty="0"/>
              <a:t> climate change mitigation. </a:t>
            </a:r>
          </a:p>
          <a:p>
            <a:endParaRPr lang="en-PH" dirty="0"/>
          </a:p>
          <a:p>
            <a:r>
              <a:rPr lang="en-PH" dirty="0"/>
              <a:t>However, according to Food and </a:t>
            </a:r>
            <a:r>
              <a:rPr lang="en-PH" dirty="0" err="1"/>
              <a:t>Angriculture</a:t>
            </a:r>
            <a:r>
              <a:rPr lang="en-PH" dirty="0"/>
              <a:t> Organization in United Nations and Lomeo and Singh, global mangrove cover has been significantly decreasing, especially in South East Asia. In the Philippine context, historical estimates place between 400,000 to 500,000 hectares, with considerable reductions reported since, cause by aquaculture expansion, land reclamation, and land use change that vary by regional context.</a:t>
            </a:r>
          </a:p>
          <a:p>
            <a:endParaRPr lang="en-PH" dirty="0"/>
          </a:p>
          <a:p>
            <a:r>
              <a:rPr lang="en-PH" dirty="0"/>
              <a:t>At the same time, Deep Learning combines with remote sensing has become the standard for environmental monitoring, where Convolutional Neural Network established as the leading methodology supported by multispectral imagery from Sentinel-2</a:t>
            </a:r>
            <a:br>
              <a:rPr lang="en-PH" dirty="0"/>
            </a:br>
            <a:br>
              <a:rPr lang="en-PH" dirty="0"/>
            </a:br>
            <a:r>
              <a:rPr lang="en-PH" dirty="0"/>
              <a:t>Sentinel 2 = European Space Agency</a:t>
            </a:r>
          </a:p>
        </p:txBody>
      </p:sp>
      <p:sp>
        <p:nvSpPr>
          <p:cNvPr id="4" name="Slide Number Placeholder 3"/>
          <p:cNvSpPr>
            <a:spLocks noGrp="1"/>
          </p:cNvSpPr>
          <p:nvPr>
            <p:ph type="sldNum" sz="quarter" idx="5"/>
          </p:nvPr>
        </p:nvSpPr>
        <p:spPr/>
        <p:txBody>
          <a:bodyPr/>
          <a:lstStyle/>
          <a:p>
            <a:fld id="{65DC798B-3871-464D-93A7-C050EC936EB3}" type="slidenum">
              <a:rPr lang="en-PH" smtClean="0"/>
              <a:t>2</a:t>
            </a:fld>
            <a:endParaRPr lang="en-PH"/>
          </a:p>
        </p:txBody>
      </p:sp>
    </p:spTree>
    <p:extLst>
      <p:ext uri="{BB962C8B-B14F-4D97-AF65-F5344CB8AC3E}">
        <p14:creationId xmlns:p14="http://schemas.microsoft.com/office/powerpoint/2010/main" val="30942117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sz="1200" b="0" i="0" kern="1200" dirty="0">
                <a:solidFill>
                  <a:schemeClr val="tx1"/>
                </a:solidFill>
                <a:effectLst/>
                <a:latin typeface="+mn-lt"/>
                <a:ea typeface="+mn-ea"/>
                <a:cs typeface="+mn-cs"/>
              </a:rPr>
              <a:t>Existing global and national products—like the Global Mangrove Watch and the 2023 Philippine Mangrove Map—rely on coarse resolutions and generalized methods. Because of this, they often miss fine-grained localized transitions, patch fragmentation, and the narrow coastal strips specific to Barangay </a:t>
            </a:r>
            <a:r>
              <a:rPr lang="en-PH" sz="1200" b="0" i="0" kern="1200" dirty="0" err="1">
                <a:solidFill>
                  <a:schemeClr val="tx1"/>
                </a:solidFill>
                <a:effectLst/>
                <a:latin typeface="+mn-lt"/>
                <a:ea typeface="+mn-ea"/>
                <a:cs typeface="+mn-cs"/>
              </a:rPr>
              <a:t>Dulao</a:t>
            </a:r>
            <a:r>
              <a:rPr lang="en-PH" sz="1200" b="0" i="0" kern="1200" dirty="0">
                <a:solidFill>
                  <a:schemeClr val="tx1"/>
                </a:solidFill>
                <a:effectLst/>
                <a:latin typeface="+mn-lt"/>
                <a:ea typeface="+mn-ea"/>
                <a:cs typeface="+mn-cs"/>
              </a:rPr>
              <a:t>. While combining U-Net with Sentinel-2 imagery has proven successful in places like Myanmar, Florida, and locally in Bohol, there is currently no localized, ground-verified dataset for our specific study area. Now, we acknowledge that transformer-based models have surpassed U-Net in some recent mangrove-monitoring studies. However, transformers demand massive, highly diverse training datasets—far beyond what is available for a small, localized site like ours. This brings us to our research gap: creating a localized mangrove dataset coupled with a gain-and-loss detection approach for Barangay </a:t>
            </a:r>
            <a:r>
              <a:rPr lang="en-PH" sz="1200" b="0" i="0" kern="1200" dirty="0" err="1">
                <a:solidFill>
                  <a:schemeClr val="tx1"/>
                </a:solidFill>
                <a:effectLst/>
                <a:latin typeface="+mn-lt"/>
                <a:ea typeface="+mn-ea"/>
                <a:cs typeface="+mn-cs"/>
              </a:rPr>
              <a:t>Dulao</a:t>
            </a:r>
            <a:r>
              <a:rPr lang="en-PH" sz="1200" b="0" i="0" kern="1200" dirty="0">
                <a:solidFill>
                  <a:schemeClr val="tx1"/>
                </a:solidFill>
                <a:effectLst/>
                <a:latin typeface="+mn-lt"/>
                <a:ea typeface="+mn-ea"/>
                <a:cs typeface="+mn-cs"/>
              </a:rPr>
              <a:t>, </a:t>
            </a:r>
            <a:r>
              <a:rPr lang="en-PH" sz="1200" b="0" i="0" kern="1200" dirty="0" err="1">
                <a:solidFill>
                  <a:schemeClr val="tx1"/>
                </a:solidFill>
                <a:effectLst/>
                <a:latin typeface="+mn-lt"/>
                <a:ea typeface="+mn-ea"/>
                <a:cs typeface="+mn-cs"/>
              </a:rPr>
              <a:t>Aringay</a:t>
            </a:r>
            <a:r>
              <a:rPr lang="en-PH" sz="1200" b="0" i="0" kern="1200" dirty="0">
                <a:solidFill>
                  <a:schemeClr val="tx1"/>
                </a:solidFill>
                <a:effectLst/>
                <a:latin typeface="+mn-lt"/>
                <a:ea typeface="+mn-ea"/>
                <a:cs typeface="+mn-cs"/>
              </a:rPr>
              <a:t>, La Union. U-Net remains the ideal choice here—it is proven effective in similar Philippine coastal settings and perfectly right-sized for our data and computational constraints." </a:t>
            </a:r>
            <a:br>
              <a:rPr lang="en-PH" dirty="0"/>
            </a:br>
            <a:endParaRPr lang="en-PH" dirty="0"/>
          </a:p>
        </p:txBody>
      </p:sp>
      <p:sp>
        <p:nvSpPr>
          <p:cNvPr id="4" name="Slide Number Placeholder 3"/>
          <p:cNvSpPr>
            <a:spLocks noGrp="1"/>
          </p:cNvSpPr>
          <p:nvPr>
            <p:ph type="sldNum" sz="quarter" idx="5"/>
          </p:nvPr>
        </p:nvSpPr>
        <p:spPr/>
        <p:txBody>
          <a:bodyPr/>
          <a:lstStyle/>
          <a:p>
            <a:fld id="{65DC798B-3871-464D-93A7-C050EC936EB3}" type="slidenum">
              <a:rPr lang="en-PH" smtClean="0"/>
              <a:t>3</a:t>
            </a:fld>
            <a:endParaRPr lang="en-PH"/>
          </a:p>
        </p:txBody>
      </p:sp>
    </p:spTree>
    <p:extLst>
      <p:ext uri="{BB962C8B-B14F-4D97-AF65-F5344CB8AC3E}">
        <p14:creationId xmlns:p14="http://schemas.microsoft.com/office/powerpoint/2010/main" val="31417181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PH" dirty="0"/>
              <a:t>"Our study supports three global goals. SDG 13, Climate Action — mangroves store a lot of carbon, so tracking their loss helps monitor climate impact. SDG 14, Life Below Water — mangroves protect coastlines and give fish a place to live and breed. And SDG 15, Life on Land — our study helps monitor and protect coastal forests.</a:t>
            </a:r>
          </a:p>
          <a:p>
            <a:pPr rtl="0"/>
            <a:r>
              <a:rPr lang="en-PH" dirty="0"/>
              <a:t>We also support a Philippine law called the PENCAS Act, which requires the government to keep track of natural resources like forests and mangroves — almost like counting them as assets. Our system helps with this directly, because it produces exactly what's needed: yearly maps and area numbers showing how much mangrove was gained or lost, in hectares."</a:t>
            </a:r>
          </a:p>
        </p:txBody>
      </p:sp>
      <p:sp>
        <p:nvSpPr>
          <p:cNvPr id="4" name="Slide Number Placeholder 3"/>
          <p:cNvSpPr>
            <a:spLocks noGrp="1"/>
          </p:cNvSpPr>
          <p:nvPr>
            <p:ph type="sldNum" sz="quarter" idx="5"/>
          </p:nvPr>
        </p:nvSpPr>
        <p:spPr/>
        <p:txBody>
          <a:bodyPr/>
          <a:lstStyle/>
          <a:p>
            <a:fld id="{65DC798B-3871-464D-93A7-C050EC936EB3}" type="slidenum">
              <a:rPr lang="en-PH" smtClean="0"/>
              <a:t>4</a:t>
            </a:fld>
            <a:endParaRPr lang="en-PH"/>
          </a:p>
        </p:txBody>
      </p:sp>
    </p:spTree>
    <p:extLst>
      <p:ext uri="{BB962C8B-B14F-4D97-AF65-F5344CB8AC3E}">
        <p14:creationId xmlns:p14="http://schemas.microsoft.com/office/powerpoint/2010/main" val="3138417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dirty="0"/>
              <a:t>This study contributes an automated monitoring capability that detects and quantifies mangrove cover change without manual, on-screen digitization. It directly supports the </a:t>
            </a:r>
            <a:r>
              <a:rPr lang="en-PH" dirty="0" err="1"/>
              <a:t>Aringay</a:t>
            </a:r>
            <a:r>
              <a:rPr lang="en-PH" dirty="0"/>
              <a:t> MENRO's decision-making by enabling systematic tracking of mangrove cover changes over time. Because the dataset and model are localized to Barangay </a:t>
            </a:r>
            <a:r>
              <a:rPr lang="en-PH" dirty="0" err="1"/>
              <a:t>Dulao</a:t>
            </a:r>
            <a:r>
              <a:rPr lang="en-PH" dirty="0"/>
              <a:t>, the resulting spatial information captures barangay-scale detail that national and global databases cannot resolve. Beyond its immediate application, this study establishes a reusable local framework and dataset that can serve as a foundation for future research applying deep learning and remote sensing to coastal resource management in the region."</a:t>
            </a:r>
          </a:p>
        </p:txBody>
      </p:sp>
      <p:sp>
        <p:nvSpPr>
          <p:cNvPr id="4" name="Slide Number Placeholder 3"/>
          <p:cNvSpPr>
            <a:spLocks noGrp="1"/>
          </p:cNvSpPr>
          <p:nvPr>
            <p:ph type="sldNum" sz="quarter" idx="5"/>
          </p:nvPr>
        </p:nvSpPr>
        <p:spPr/>
        <p:txBody>
          <a:bodyPr/>
          <a:lstStyle/>
          <a:p>
            <a:fld id="{65DC798B-3871-464D-93A7-C050EC936EB3}" type="slidenum">
              <a:rPr lang="en-PH" smtClean="0"/>
              <a:t>5</a:t>
            </a:fld>
            <a:endParaRPr lang="en-PH"/>
          </a:p>
        </p:txBody>
      </p:sp>
    </p:spTree>
    <p:extLst>
      <p:ext uri="{BB962C8B-B14F-4D97-AF65-F5344CB8AC3E}">
        <p14:creationId xmlns:p14="http://schemas.microsoft.com/office/powerpoint/2010/main" val="4895810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dirty="0"/>
              <a:t>Our general objective is to develop an image processing system that automatically detects and quantifies mangrove cover change over time in </a:t>
            </a:r>
            <a:r>
              <a:rPr lang="en-PH" dirty="0" err="1"/>
              <a:t>Aringay</a:t>
            </a:r>
            <a:r>
              <a:rPr lang="en-PH" dirty="0"/>
              <a:t>, La Union, using satellite imagery and deep learning-based segmentation. Specifically, this study aims to: one, collect a localized mangrove dataset; two, train the mangrove gain-and-loss detection model using the U-Net architecture; and three, evaluate model performance in terms of F1-score, Intersection over Union, and mean Average Precision."</a:t>
            </a:r>
          </a:p>
        </p:txBody>
      </p:sp>
      <p:sp>
        <p:nvSpPr>
          <p:cNvPr id="4" name="Slide Number Placeholder 3"/>
          <p:cNvSpPr>
            <a:spLocks noGrp="1"/>
          </p:cNvSpPr>
          <p:nvPr>
            <p:ph type="sldNum" sz="quarter" idx="5"/>
          </p:nvPr>
        </p:nvSpPr>
        <p:spPr/>
        <p:txBody>
          <a:bodyPr/>
          <a:lstStyle/>
          <a:p>
            <a:fld id="{65DC798B-3871-464D-93A7-C050EC936EB3}" type="slidenum">
              <a:rPr lang="en-PH" smtClean="0"/>
              <a:t>6</a:t>
            </a:fld>
            <a:endParaRPr lang="en-PH"/>
          </a:p>
        </p:txBody>
      </p:sp>
    </p:spTree>
    <p:extLst>
      <p:ext uri="{BB962C8B-B14F-4D97-AF65-F5344CB8AC3E}">
        <p14:creationId xmlns:p14="http://schemas.microsoft.com/office/powerpoint/2010/main" val="15319170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8BF29-71F1-9D61-DF8B-01AC023C38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212C3E-ED70-75FA-232E-C56429D1C1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04C4AD-6D5B-ABF1-2712-5AFB72E08132}"/>
              </a:ext>
            </a:extLst>
          </p:cNvPr>
          <p:cNvSpPr>
            <a:spLocks noGrp="1"/>
          </p:cNvSpPr>
          <p:nvPr>
            <p:ph type="body" idx="1"/>
          </p:nvPr>
        </p:nvSpPr>
        <p:spPr/>
        <p:txBody>
          <a:bodyPr/>
          <a:lstStyle/>
          <a:p>
            <a:r>
              <a:rPr lang="en-PH" dirty="0"/>
              <a:t>Here, we can see sample Sentinel-2 satellite imagery of Barangay </a:t>
            </a:r>
            <a:r>
              <a:rPr lang="en-PH" dirty="0" err="1"/>
              <a:t>Dulao</a:t>
            </a:r>
            <a:r>
              <a:rPr lang="en-PH" dirty="0"/>
              <a:t> for the years 2019 and 2024.</a:t>
            </a:r>
          </a:p>
          <a:p>
            <a:r>
              <a:rPr lang="en-PH" dirty="0"/>
              <a:t>At first glance, the two images appear relatively similar, and the changes in mangrove cover are not immediately obvious through visual inspection alone.</a:t>
            </a:r>
          </a:p>
          <a:p>
            <a:r>
              <a:rPr lang="en-PH" dirty="0"/>
              <a:t>This is one of the challenges of using conventional visual inspection. Some changes in vegetation may not be easily distinguished because satellite images contain information beyond what we can see through their true-color appearance.</a:t>
            </a:r>
          </a:p>
          <a:p>
            <a:pPr marL="0" marR="0" lvl="0" indent="0" algn="l" defTabSz="914400" rtl="0" eaLnBrk="1" fontAlgn="auto" latinLnBrk="0" hangingPunct="1">
              <a:lnSpc>
                <a:spcPct val="100000"/>
              </a:lnSpc>
              <a:spcBef>
                <a:spcPts val="0"/>
              </a:spcBef>
              <a:spcAft>
                <a:spcPts val="0"/>
              </a:spcAft>
              <a:buClrTx/>
              <a:buSzTx/>
              <a:buFontTx/>
              <a:buNone/>
              <a:tabLst/>
              <a:defRPr/>
            </a:pPr>
            <a:r>
              <a:rPr lang="en-PH" dirty="0"/>
              <a:t>However, when we use the different spectral bands and NDVI, we can better distinguish vegetation and identify differences that may not be easily visible in the true-color imagery.</a:t>
            </a:r>
          </a:p>
          <a:p>
            <a:r>
              <a:rPr lang="en-PH" b="1" dirty="0"/>
              <a:t>To better visualize this, we will now look at these inputs one by one and see how each one reveals different information from the same area.</a:t>
            </a:r>
            <a:r>
              <a:rPr lang="en-PH" dirty="0"/>
              <a:t>”</a:t>
            </a:r>
          </a:p>
        </p:txBody>
      </p:sp>
      <p:sp>
        <p:nvSpPr>
          <p:cNvPr id="4" name="Slide Number Placeholder 3">
            <a:extLst>
              <a:ext uri="{FF2B5EF4-FFF2-40B4-BE49-F238E27FC236}">
                <a16:creationId xmlns:a16="http://schemas.microsoft.com/office/drawing/2014/main" id="{9187CF12-C2B5-4748-3D00-88ED9EC60EEC}"/>
              </a:ext>
            </a:extLst>
          </p:cNvPr>
          <p:cNvSpPr>
            <a:spLocks noGrp="1"/>
          </p:cNvSpPr>
          <p:nvPr>
            <p:ph type="sldNum" sz="quarter" idx="5"/>
          </p:nvPr>
        </p:nvSpPr>
        <p:spPr/>
        <p:txBody>
          <a:bodyPr/>
          <a:lstStyle/>
          <a:p>
            <a:fld id="{65DC798B-3871-464D-93A7-C050EC936EB3}" type="slidenum">
              <a:rPr lang="en-PH" smtClean="0"/>
              <a:t>7</a:t>
            </a:fld>
            <a:endParaRPr lang="en-PH"/>
          </a:p>
        </p:txBody>
      </p:sp>
    </p:spTree>
    <p:extLst>
      <p:ext uri="{BB962C8B-B14F-4D97-AF65-F5344CB8AC3E}">
        <p14:creationId xmlns:p14="http://schemas.microsoft.com/office/powerpoint/2010/main" val="3788253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5EF514-84A2-A791-B564-3FF05D4A8F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F88AD0-5012-99EC-AF6D-6D200EEC10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50F741-49A3-F178-F050-A2F0FFF9B5AE}"/>
              </a:ext>
            </a:extLst>
          </p:cNvPr>
          <p:cNvSpPr>
            <a:spLocks noGrp="1"/>
          </p:cNvSpPr>
          <p:nvPr>
            <p:ph type="body" idx="1"/>
          </p:nvPr>
        </p:nvSpPr>
        <p:spPr/>
        <p:txBody>
          <a:bodyPr/>
          <a:lstStyle/>
          <a:p>
            <a:r>
              <a:rPr lang="en-PH" dirty="0"/>
              <a:t>“First, we have the 2019 image, followed by the 2024 image.</a:t>
            </a:r>
          </a:p>
          <a:p>
            <a:r>
              <a:rPr lang="en-PH" dirty="0"/>
              <a:t>Now, we can apply the same visualization to the spectral inputs used in our study.</a:t>
            </a:r>
          </a:p>
          <a:p>
            <a:r>
              <a:rPr lang="en-PH" dirty="0"/>
              <a:t>Here, we can start to see more differences between the two years. The purple or bluish areas may represent possible mangrove vegetation, while the darker areas may correspond to other land-cover features such as ponds, grass, or other surrounding areas.</a:t>
            </a:r>
          </a:p>
          <a:p>
            <a:r>
              <a:rPr lang="en-PH" dirty="0"/>
              <a:t>When we compare 2019 and 2024, some areas appear to have differences in their vegetation patterns and coverage. However, these visual differences alone are not enough to accurately determine whether an area is actually mangrove or whether it represents mangrove gain or loss.</a:t>
            </a:r>
          </a:p>
          <a:p>
            <a:r>
              <a:rPr lang="en-PH" dirty="0"/>
              <a:t>This is where our deep learning approach comes in. The spectral information will be used as input to the U-Net model to help identify mangrove and non-mangrove areas more systematically. The resulting maps can then be compared across the different years to identify possible areas of mangrove gain, loss, or stability.”</a:t>
            </a:r>
          </a:p>
        </p:txBody>
      </p:sp>
      <p:sp>
        <p:nvSpPr>
          <p:cNvPr id="4" name="Slide Number Placeholder 3">
            <a:extLst>
              <a:ext uri="{FF2B5EF4-FFF2-40B4-BE49-F238E27FC236}">
                <a16:creationId xmlns:a16="http://schemas.microsoft.com/office/drawing/2014/main" id="{9246AA04-CF0C-AE72-47E0-9D1BFA513C9A}"/>
              </a:ext>
            </a:extLst>
          </p:cNvPr>
          <p:cNvSpPr>
            <a:spLocks noGrp="1"/>
          </p:cNvSpPr>
          <p:nvPr>
            <p:ph type="sldNum" sz="quarter" idx="5"/>
          </p:nvPr>
        </p:nvSpPr>
        <p:spPr/>
        <p:txBody>
          <a:bodyPr/>
          <a:lstStyle/>
          <a:p>
            <a:fld id="{65DC798B-3871-464D-93A7-C050EC936EB3}" type="slidenum">
              <a:rPr lang="en-PH" smtClean="0"/>
              <a:t>8</a:t>
            </a:fld>
            <a:endParaRPr lang="en-PH"/>
          </a:p>
        </p:txBody>
      </p:sp>
    </p:spTree>
    <p:extLst>
      <p:ext uri="{BB962C8B-B14F-4D97-AF65-F5344CB8AC3E}">
        <p14:creationId xmlns:p14="http://schemas.microsoft.com/office/powerpoint/2010/main" val="31002149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sz="1200" b="0" i="0" kern="1200" dirty="0">
                <a:solidFill>
                  <a:schemeClr val="tx1"/>
                </a:solidFill>
                <a:effectLst/>
                <a:latin typeface="+mn-lt"/>
                <a:ea typeface="+mn-ea"/>
                <a:cs typeface="+mn-cs"/>
              </a:rPr>
              <a:t>For our methodology, we employ a hybrid experimental-descriptive research design. The experimental phase covers dataset preparation using Sentinel-2 imagery and reference masks, training our U-Net model for pixel-level binary segmentation, and evaluating overall accuracy using standard metrics like </a:t>
            </a:r>
            <a:r>
              <a:rPr lang="en-PH" sz="1200" b="0" i="0" kern="1200" dirty="0" err="1">
                <a:solidFill>
                  <a:schemeClr val="tx1"/>
                </a:solidFill>
                <a:effectLst/>
                <a:latin typeface="+mn-lt"/>
                <a:ea typeface="+mn-ea"/>
                <a:cs typeface="+mn-cs"/>
              </a:rPr>
              <a:t>IoU</a:t>
            </a:r>
            <a:r>
              <a:rPr lang="en-PH" sz="1200" b="0" i="0" kern="1200" dirty="0">
                <a:solidFill>
                  <a:schemeClr val="tx1"/>
                </a:solidFill>
                <a:effectLst/>
                <a:latin typeface="+mn-lt"/>
                <a:ea typeface="+mn-ea"/>
                <a:cs typeface="+mn-cs"/>
              </a:rPr>
              <a:t>, F1-score, and </a:t>
            </a:r>
            <a:r>
              <a:rPr lang="en-PH" sz="1200" b="0" i="0" kern="1200" dirty="0" err="1">
                <a:solidFill>
                  <a:schemeClr val="tx1"/>
                </a:solidFill>
                <a:effectLst/>
                <a:latin typeface="+mn-lt"/>
                <a:ea typeface="+mn-ea"/>
                <a:cs typeface="+mn-cs"/>
              </a:rPr>
              <a:t>mAP</a:t>
            </a:r>
            <a:r>
              <a:rPr lang="en-PH" sz="1200" b="0" i="0" kern="1200" dirty="0">
                <a:solidFill>
                  <a:schemeClr val="tx1"/>
                </a:solidFill>
                <a:effectLst/>
                <a:latin typeface="+mn-lt"/>
                <a:ea typeface="+mn-ea"/>
                <a:cs typeface="+mn-cs"/>
              </a:rPr>
              <a:t>. Once the model is finalized, we transition to the descriptive phase. Here, we generate and compare annual mangrove maps from 2019 to 2024 to report total area, stability, gains, and losses over time. To maintain strict methodological consistency across all six years, model refinements are restricted entirely to the development phase—meaning the model configuration and classification thresholds are completely locked before multi-temporal application. "Finally, mapped changes are classified as probable land-cover shifts, not confirmed ecological causes. Because factors like high tides or erosion can alter image data, we only claim definitive causes when backed by local records or ground-truth evidence."</a:t>
            </a:r>
            <a:endParaRPr lang="en-PH" dirty="0"/>
          </a:p>
        </p:txBody>
      </p:sp>
      <p:sp>
        <p:nvSpPr>
          <p:cNvPr id="4" name="Slide Number Placeholder 3"/>
          <p:cNvSpPr>
            <a:spLocks noGrp="1"/>
          </p:cNvSpPr>
          <p:nvPr>
            <p:ph type="sldNum" sz="quarter" idx="5"/>
          </p:nvPr>
        </p:nvSpPr>
        <p:spPr/>
        <p:txBody>
          <a:bodyPr/>
          <a:lstStyle/>
          <a:p>
            <a:fld id="{65DC798B-3871-464D-93A7-C050EC936EB3}" type="slidenum">
              <a:rPr lang="en-PH" smtClean="0"/>
              <a:t>9</a:t>
            </a:fld>
            <a:endParaRPr lang="en-PH"/>
          </a:p>
        </p:txBody>
      </p:sp>
    </p:spTree>
    <p:extLst>
      <p:ext uri="{BB962C8B-B14F-4D97-AF65-F5344CB8AC3E}">
        <p14:creationId xmlns:p14="http://schemas.microsoft.com/office/powerpoint/2010/main" val="8985147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dirty="0"/>
              <a:t>"Our development process follows the Iterative and Incremental Development framework (Larman &amp; Basili, 2003; Ibrahim et al., 2020). The principal iteration loop occurs among Phases 3 through 5 — dataset labeling, model training, and model validation — and repeats until validation metrics stop improving relative to our baseline. The iterative component specifically governs label correction in Phase 3, preprocessing adjustments in Phase 2, and training-parameter refinement in Phase 4, while the incremental component governs the progressive build-out of the full system: from data preparation, to the trained model, to change detection, to the final working prototype."</a:t>
            </a:r>
          </a:p>
        </p:txBody>
      </p:sp>
      <p:sp>
        <p:nvSpPr>
          <p:cNvPr id="4" name="Slide Number Placeholder 3"/>
          <p:cNvSpPr>
            <a:spLocks noGrp="1"/>
          </p:cNvSpPr>
          <p:nvPr>
            <p:ph type="sldNum" sz="quarter" idx="5"/>
          </p:nvPr>
        </p:nvSpPr>
        <p:spPr/>
        <p:txBody>
          <a:bodyPr/>
          <a:lstStyle/>
          <a:p>
            <a:fld id="{65DC798B-3871-464D-93A7-C050EC936EB3}" type="slidenum">
              <a:rPr lang="en-PH" smtClean="0"/>
              <a:t>10</a:t>
            </a:fld>
            <a:endParaRPr lang="en-PH"/>
          </a:p>
        </p:txBody>
      </p:sp>
    </p:spTree>
    <p:extLst>
      <p:ext uri="{BB962C8B-B14F-4D97-AF65-F5344CB8AC3E}">
        <p14:creationId xmlns:p14="http://schemas.microsoft.com/office/powerpoint/2010/main" val="42424721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dirty="0"/>
              <a:t>"Our primary dataset consists of Sentinel-2 multispectral imagery of Barangay </a:t>
            </a:r>
            <a:r>
              <a:rPr lang="en-PH" dirty="0" err="1"/>
              <a:t>Dulao's</a:t>
            </a:r>
            <a:r>
              <a:rPr lang="en-PH" dirty="0"/>
              <a:t> mangrove area, spanning 2019 to 2024. The input configuration comprises Bands 3, 4, 8, and 11 — green, red, near-infrared, and short-wave infrared, respectively — together with the derived Normalized Difference Vegetation Index, calculated as NDVI equals B8 minus B4, over B8 plus B4. Scene selection prioritizes full geographic coverage, minimal cloud cover, and low shading. Preprocessing includes cloud and cloud-shadow masking, boundary clipping, spatial grid alignment, normalization, and no-data handling. Since Band 11's native resolution is 20 meters versus the 10-meter resolution of Bands 3, 4, and 8, Band 11 is resampled using bilinear interpolation to produce a unified five-channel input stack, subsequently divided into 256-by-256 pixel patches. Reference labels are binary — one for mangrove, zero for non-mangrove — constructed from the Global Mangrove Watch, the 2023 Philippine Mangrove Map, and </a:t>
            </a:r>
            <a:r>
              <a:rPr lang="en-PH" dirty="0" err="1"/>
              <a:t>Aringay</a:t>
            </a:r>
            <a:r>
              <a:rPr lang="en-PH" dirty="0"/>
              <a:t> MENRO records, treated as guidance rather than assumed ground truth. To avoid a conflict of interest, since the researchers themselves prepare the initial labels, these labels are independently validated by the </a:t>
            </a:r>
            <a:r>
              <a:rPr lang="en-PH" dirty="0" err="1"/>
              <a:t>Aringay</a:t>
            </a:r>
            <a:r>
              <a:rPr lang="en-PH" dirty="0"/>
              <a:t> MENRO's core officers before the dataset is partitioned into an 80 percent training set and a 20 percent validation set."</a:t>
            </a:r>
          </a:p>
        </p:txBody>
      </p:sp>
      <p:sp>
        <p:nvSpPr>
          <p:cNvPr id="4" name="Slide Number Placeholder 3"/>
          <p:cNvSpPr>
            <a:spLocks noGrp="1"/>
          </p:cNvSpPr>
          <p:nvPr>
            <p:ph type="sldNum" sz="quarter" idx="5"/>
          </p:nvPr>
        </p:nvSpPr>
        <p:spPr/>
        <p:txBody>
          <a:bodyPr/>
          <a:lstStyle/>
          <a:p>
            <a:fld id="{65DC798B-3871-464D-93A7-C050EC936EB3}" type="slidenum">
              <a:rPr lang="en-PH" smtClean="0"/>
              <a:t>11</a:t>
            </a:fld>
            <a:endParaRPr lang="en-PH"/>
          </a:p>
        </p:txBody>
      </p:sp>
    </p:spTree>
    <p:extLst>
      <p:ext uri="{BB962C8B-B14F-4D97-AF65-F5344CB8AC3E}">
        <p14:creationId xmlns:p14="http://schemas.microsoft.com/office/powerpoint/2010/main" val="30484178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0F18B8-34DA-2A9B-45ED-3AACD260E2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170BFB-F0F4-7148-EB62-FDE073FEB4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55CBAA-27FB-C167-C2BF-C7D12F95A181}"/>
              </a:ext>
            </a:extLst>
          </p:cNvPr>
          <p:cNvSpPr>
            <a:spLocks noGrp="1"/>
          </p:cNvSpPr>
          <p:nvPr>
            <p:ph type="body" idx="1"/>
          </p:nvPr>
        </p:nvSpPr>
        <p:spPr/>
        <p:txBody>
          <a:bodyPr/>
          <a:lstStyle/>
          <a:p>
            <a:r>
              <a:rPr lang="en-PH" dirty="0"/>
              <a:t>"Our primary dataset consists of Sentinel-2 multispectral imagery of Barangay </a:t>
            </a:r>
            <a:r>
              <a:rPr lang="en-PH" dirty="0" err="1"/>
              <a:t>Dulao's</a:t>
            </a:r>
            <a:r>
              <a:rPr lang="en-PH" dirty="0"/>
              <a:t> mangrove area, spanning 2019 to 2024. The input configuration comprises Bands 3, 4, 8, and 11 — green, red, near-infrared, and short-wave infrared, respectively — together with the derived Normalized Difference Vegetation Index, calculated as NDVI equals B8 minus B4, over B8 plus B4. Scene selection prioritizes full geographic coverage, minimal cloud cover, and low shading. Preprocessing includes cloud and cloud-shadow masking, boundary clipping, spatial grid alignment, normalization, and no-data handling. Since Band 11's native resolution is 20 meters versus the 10-meter resolution of Bands 3, 4, and 8, Band 11 is resampled using bilinear interpolation to produce a unified five-channel input stack, subsequently divided into 256-by-256 pixel patches. Reference labels are binary — one for mangrove, zero for non-mangrove — constructed from the Global Mangrove Watch, the 2023 Philippine Mangrove Map, and </a:t>
            </a:r>
            <a:r>
              <a:rPr lang="en-PH" dirty="0" err="1"/>
              <a:t>Aringay</a:t>
            </a:r>
            <a:r>
              <a:rPr lang="en-PH" dirty="0"/>
              <a:t> MENRO records, treated as guidance rather than assumed ground truth. To avoid a conflict of interest, since the researchers themselves prepare the initial labels, these labels are independently validated by the </a:t>
            </a:r>
            <a:r>
              <a:rPr lang="en-PH" dirty="0" err="1"/>
              <a:t>Aringay</a:t>
            </a:r>
            <a:r>
              <a:rPr lang="en-PH" dirty="0"/>
              <a:t> MENRO's core officers before the dataset is partitioned into an 80 percent training set and a 20 percent validation set."</a:t>
            </a:r>
          </a:p>
        </p:txBody>
      </p:sp>
      <p:sp>
        <p:nvSpPr>
          <p:cNvPr id="4" name="Slide Number Placeholder 3">
            <a:extLst>
              <a:ext uri="{FF2B5EF4-FFF2-40B4-BE49-F238E27FC236}">
                <a16:creationId xmlns:a16="http://schemas.microsoft.com/office/drawing/2014/main" id="{BB10EC2E-7272-123A-CAB7-33E02681E825}"/>
              </a:ext>
            </a:extLst>
          </p:cNvPr>
          <p:cNvSpPr>
            <a:spLocks noGrp="1"/>
          </p:cNvSpPr>
          <p:nvPr>
            <p:ph type="sldNum" sz="quarter" idx="5"/>
          </p:nvPr>
        </p:nvSpPr>
        <p:spPr/>
        <p:txBody>
          <a:bodyPr/>
          <a:lstStyle/>
          <a:p>
            <a:fld id="{65DC798B-3871-464D-93A7-C050EC936EB3}" type="slidenum">
              <a:rPr lang="en-PH" smtClean="0"/>
              <a:t>12</a:t>
            </a:fld>
            <a:endParaRPr lang="en-PH"/>
          </a:p>
        </p:txBody>
      </p:sp>
    </p:spTree>
    <p:extLst>
      <p:ext uri="{BB962C8B-B14F-4D97-AF65-F5344CB8AC3E}">
        <p14:creationId xmlns:p14="http://schemas.microsoft.com/office/powerpoint/2010/main" val="13409769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B5189-E472-4505-CE7F-8FFB1F5C99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373768-0787-77AE-CCD0-0DC8BC0F07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BBC32F-CC94-0D11-92AB-012BE7CB3424}"/>
              </a:ext>
            </a:extLst>
          </p:cNvPr>
          <p:cNvSpPr>
            <a:spLocks noGrp="1"/>
          </p:cNvSpPr>
          <p:nvPr>
            <p:ph type="body" idx="1"/>
          </p:nvPr>
        </p:nvSpPr>
        <p:spPr/>
        <p:txBody>
          <a:bodyPr/>
          <a:lstStyle/>
          <a:p>
            <a:pPr rtl="0"/>
            <a:r>
              <a:rPr lang="en-PH" dirty="0"/>
              <a:t>"Every pixel is labeled 1 for mangrove, 0 for non-mangrove, using available datasets, local records, and imagery — with extra care on fragmented stands, narrow strips, and mangrove-water boundaries.</a:t>
            </a:r>
          </a:p>
          <a:p>
            <a:pPr rtl="0"/>
            <a:r>
              <a:rPr lang="en-PH" dirty="0"/>
              <a:t>Since we're the ones both labeling the data and training the model, that's a conflict of interest. To fix this, our labels will be independently validated by the </a:t>
            </a:r>
            <a:r>
              <a:rPr lang="en-PH" dirty="0" err="1"/>
              <a:t>Aringay</a:t>
            </a:r>
            <a:r>
              <a:rPr lang="en-PH" dirty="0"/>
              <a:t> MENRO's core officers, who are separate from our team and know the area firsthand."</a:t>
            </a:r>
          </a:p>
        </p:txBody>
      </p:sp>
      <p:sp>
        <p:nvSpPr>
          <p:cNvPr id="4" name="Slide Number Placeholder 3">
            <a:extLst>
              <a:ext uri="{FF2B5EF4-FFF2-40B4-BE49-F238E27FC236}">
                <a16:creationId xmlns:a16="http://schemas.microsoft.com/office/drawing/2014/main" id="{99F4C515-43B6-7B81-2F35-23415CF77AA1}"/>
              </a:ext>
            </a:extLst>
          </p:cNvPr>
          <p:cNvSpPr>
            <a:spLocks noGrp="1"/>
          </p:cNvSpPr>
          <p:nvPr>
            <p:ph type="sldNum" sz="quarter" idx="5"/>
          </p:nvPr>
        </p:nvSpPr>
        <p:spPr/>
        <p:txBody>
          <a:bodyPr/>
          <a:lstStyle/>
          <a:p>
            <a:fld id="{65DC798B-3871-464D-93A7-C050EC936EB3}" type="slidenum">
              <a:rPr lang="en-PH" smtClean="0"/>
              <a:t>13</a:t>
            </a:fld>
            <a:endParaRPr lang="en-PH"/>
          </a:p>
        </p:txBody>
      </p:sp>
    </p:spTree>
    <p:extLst>
      <p:ext uri="{BB962C8B-B14F-4D97-AF65-F5344CB8AC3E}">
        <p14:creationId xmlns:p14="http://schemas.microsoft.com/office/powerpoint/2010/main" val="3642725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dirty="0"/>
              <a:t>This diagram illustrates the U-Net convolutional neural network architecture used in our study.</a:t>
            </a:r>
          </a:p>
          <a:p>
            <a:r>
              <a:rPr lang="en-PH" dirty="0"/>
              <a:t>U-Net uses the encoder-decoder architecture and skip connections and is design to classify images at the pixel level</a:t>
            </a:r>
          </a:p>
          <a:p>
            <a:endParaRPr lang="en-PH" dirty="0"/>
          </a:p>
          <a:p>
            <a:r>
              <a:rPr lang="en-PH" dirty="0"/>
              <a:t>This architecture is appropriate to our study because we need to identify the specific pixel that represents mangrove areas rather than simply classifying an entire image</a:t>
            </a:r>
          </a:p>
          <a:p>
            <a:endParaRPr lang="en-PH" dirty="0"/>
          </a:p>
          <a:p>
            <a:r>
              <a:rPr lang="en-PH" dirty="0"/>
              <a:t>Our model receives an input image 256x256 pixel patch with 5 input channels.</a:t>
            </a:r>
            <a:br>
              <a:rPr lang="en-PH" dirty="0"/>
            </a:br>
            <a:r>
              <a:rPr lang="en-PH" dirty="0"/>
              <a:t>This channels will provide satellite information that the model will use to distinguish mangrove and non-mangrove areas</a:t>
            </a:r>
          </a:p>
          <a:p>
            <a:endParaRPr lang="en-PH" dirty="0"/>
          </a:p>
          <a:p>
            <a:r>
              <a:rPr lang="en-PH" dirty="0"/>
              <a:t>According to </a:t>
            </a:r>
            <a:r>
              <a:rPr lang="en-PH" dirty="0" err="1"/>
              <a:t>Ronneberger</a:t>
            </a:r>
            <a:r>
              <a:rPr lang="en-PH" dirty="0"/>
              <a:t> et al. the encoder gradually decreases the spatial size of the image through repeated </a:t>
            </a:r>
            <a:r>
              <a:rPr lang="en-PH" dirty="0" err="1"/>
              <a:t>downsampling</a:t>
            </a:r>
            <a:r>
              <a:rPr lang="en-PH" dirty="0"/>
              <a:t>, while increasing the number of feature channels.</a:t>
            </a:r>
          </a:p>
          <a:p>
            <a:r>
              <a:rPr lang="en-PH" dirty="0"/>
              <a:t>The image goes from 256x256 pixel patch down to 16x16. We can also see that the number of features channels are increasing from 64 to 1024. As the encoder compresses the image, it trades away fine spatial detail in exchange for learning increasingly abstract, higher-level patterns.</a:t>
            </a:r>
          </a:p>
          <a:p>
            <a:endParaRPr lang="en-PH" dirty="0"/>
          </a:p>
          <a:p>
            <a:r>
              <a:rPr lang="en-PH" dirty="0"/>
              <a:t>The bottleneck allows the model to process the deeper patterns that it has learned from the input. This is where the model holds its most abstract understanding of the image's content, right before the decoder begins reconstructing spatial detail.</a:t>
            </a:r>
          </a:p>
          <a:p>
            <a:endParaRPr lang="en-PH" dirty="0"/>
          </a:p>
          <a:p>
            <a:r>
              <a:rPr lang="en-PH" dirty="0"/>
              <a:t>The decoder does the opposite of the encoder it gradually increases the spatial size of the image through repeated </a:t>
            </a:r>
            <a:r>
              <a:rPr lang="en-PH" dirty="0" err="1"/>
              <a:t>upsampling</a:t>
            </a:r>
            <a:r>
              <a:rPr lang="en-PH" dirty="0"/>
              <a:t>, while decreasing the number of feature channels. This way the image will reconstruct and determine the location mangrove area.</a:t>
            </a:r>
          </a:p>
          <a:p>
            <a:endParaRPr lang="en-PH" dirty="0"/>
          </a:p>
          <a:p>
            <a:r>
              <a:rPr lang="en-PH" dirty="0"/>
              <a:t>Skip connection is very important because it transfer information from encoder directly to its corresponding decoder. This helps return fine spatial detail that would otherwise be lost during compression, which is especially useful for preserving mangrove boundaries and small, fragmented areas.</a:t>
            </a:r>
          </a:p>
          <a:p>
            <a:endParaRPr lang="en-PH" dirty="0"/>
          </a:p>
          <a:p>
            <a:r>
              <a:rPr lang="en-PH" dirty="0"/>
              <a:t>Output layer uses a sigmoid activation function to produce a 256x256x1 probability map, where each pixel will receives 0 and 1</a:t>
            </a:r>
          </a:p>
          <a:p>
            <a:endParaRPr lang="en-PH" dirty="0"/>
          </a:p>
          <a:p>
            <a:r>
              <a:rPr lang="en-PH" dirty="0"/>
              <a:t>"We train using the Adam optimizer with a learning rate of 0.001, and binary cross-entropy as our loss function, since this is standard for pixel-by-pixel binary classification. During training, we record parameters like batch size, epochs, augmentation, and class-imbalance handling for every iteration, so we know exactly what to adjust if a model underperforms. We also monitor training and validation loss together to catch overfitting or underfitting early, before we even reach formal evaluation with F1, </a:t>
            </a:r>
            <a:r>
              <a:rPr lang="en-PH" dirty="0" err="1"/>
              <a:t>IoU</a:t>
            </a:r>
            <a:r>
              <a:rPr lang="en-PH" dirty="0"/>
              <a:t>, and </a:t>
            </a:r>
            <a:r>
              <a:rPr lang="en-PH" dirty="0" err="1"/>
              <a:t>mAP</a:t>
            </a:r>
            <a:r>
              <a:rPr lang="en-PH" dirty="0"/>
              <a:t>."</a:t>
            </a:r>
          </a:p>
        </p:txBody>
      </p:sp>
      <p:sp>
        <p:nvSpPr>
          <p:cNvPr id="4" name="Slide Number Placeholder 3"/>
          <p:cNvSpPr>
            <a:spLocks noGrp="1"/>
          </p:cNvSpPr>
          <p:nvPr>
            <p:ph type="sldNum" sz="quarter" idx="5"/>
          </p:nvPr>
        </p:nvSpPr>
        <p:spPr/>
        <p:txBody>
          <a:bodyPr/>
          <a:lstStyle/>
          <a:p>
            <a:fld id="{65DC798B-3871-464D-93A7-C050EC936EB3}" type="slidenum">
              <a:rPr lang="en-PH" smtClean="0"/>
              <a:t>14</a:t>
            </a:fld>
            <a:endParaRPr lang="en-PH"/>
          </a:p>
        </p:txBody>
      </p:sp>
    </p:spTree>
    <p:extLst>
      <p:ext uri="{BB962C8B-B14F-4D97-AF65-F5344CB8AC3E}">
        <p14:creationId xmlns:p14="http://schemas.microsoft.com/office/powerpoint/2010/main" val="32254044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a:p>
            <a:r>
              <a:rPr lang="en-PH" dirty="0"/>
              <a:t>F1-score evaluates the harmonic balance between precision and recall, ensuring a balanced assessment that accounts for both false positives and false negatives.</a:t>
            </a:r>
            <a:br>
              <a:rPr lang="en-PH" sz="1200" b="1" kern="1200" dirty="0">
                <a:solidFill>
                  <a:schemeClr val="tx1"/>
                </a:solidFill>
                <a:effectLst/>
                <a:latin typeface="+mn-lt"/>
                <a:ea typeface="+mn-ea"/>
                <a:cs typeface="+mn-cs"/>
              </a:rPr>
            </a:br>
            <a:r>
              <a:rPr lang="en-PH" dirty="0"/>
              <a:t>Intersection over Union, or </a:t>
            </a:r>
            <a:r>
              <a:rPr lang="en-PH" dirty="0" err="1"/>
              <a:t>IoU</a:t>
            </a:r>
            <a:r>
              <a:rPr lang="en-PH" dirty="0"/>
              <a:t>, evaluates spatial overlap by measuring the ratio of intersection over union between the predicted mangrove boundaries and the reference ground-truth masks — this metric, together with F1-score, is consistently used in comparable mangrove segmentation studies, including Maung et al. (2024) and Auxtero &amp; Villamor (2026).</a:t>
            </a:r>
            <a:br>
              <a:rPr lang="en-PH" sz="1200" i="1" kern="1200" dirty="0">
                <a:solidFill>
                  <a:schemeClr val="tx1"/>
                </a:solidFill>
                <a:effectLst/>
                <a:latin typeface="+mn-lt"/>
                <a:ea typeface="+mn-ea"/>
                <a:cs typeface="+mn-cs"/>
              </a:rPr>
            </a:br>
            <a:br>
              <a:rPr lang="en-PH" sz="1200" i="1" kern="1200" dirty="0">
                <a:solidFill>
                  <a:schemeClr val="tx1"/>
                </a:solidFill>
                <a:effectLst/>
                <a:latin typeface="+mn-lt"/>
                <a:ea typeface="+mn-ea"/>
                <a:cs typeface="+mn-cs"/>
              </a:rPr>
            </a:br>
            <a:r>
              <a:rPr lang="en-PH" dirty="0"/>
              <a:t>Mean Average Precision, or </a:t>
            </a:r>
            <a:r>
              <a:rPr lang="en-PH" dirty="0" err="1"/>
              <a:t>mAP</a:t>
            </a:r>
            <a:r>
              <a:rPr lang="en-PH" dirty="0"/>
              <a:t>, evaluates model confidence across different classification thresholds by computing the area under the precision-recall curve, following our own study-specific threshold-sweep procedure. In our single-class segmentation setup, </a:t>
            </a:r>
            <a:r>
              <a:rPr lang="en-PH" dirty="0" err="1"/>
              <a:t>mAP</a:t>
            </a:r>
            <a:r>
              <a:rPr lang="en-PH" dirty="0"/>
              <a:t> reduces to the Average Precision of the mangrove class specifically.</a:t>
            </a:r>
          </a:p>
        </p:txBody>
      </p:sp>
      <p:sp>
        <p:nvSpPr>
          <p:cNvPr id="4" name="Slide Number Placeholder 3"/>
          <p:cNvSpPr>
            <a:spLocks noGrp="1"/>
          </p:cNvSpPr>
          <p:nvPr>
            <p:ph type="sldNum" sz="quarter" idx="5"/>
          </p:nvPr>
        </p:nvSpPr>
        <p:spPr/>
        <p:txBody>
          <a:bodyPr/>
          <a:lstStyle/>
          <a:p>
            <a:fld id="{65DC798B-3871-464D-93A7-C050EC936EB3}" type="slidenum">
              <a:rPr lang="en-PH" smtClean="0"/>
              <a:t>15</a:t>
            </a:fld>
            <a:endParaRPr lang="en-PH"/>
          </a:p>
        </p:txBody>
      </p:sp>
    </p:spTree>
    <p:extLst>
      <p:ext uri="{BB962C8B-B14F-4D97-AF65-F5344CB8AC3E}">
        <p14:creationId xmlns:p14="http://schemas.microsoft.com/office/powerpoint/2010/main" val="10267576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H" dirty="0"/>
              <a:t>"After the model and threshold are locked, they are applied uniformly to preprocessed Sentinel-2 imagery for each observation year from 2019 to 2024, producing annual binary mangrove and non-mangrove maps. Consecutive-year pairs — 2019 to 2020 through 2023 to 2024 — are compared pixel-by-pixel to classify transitions into four categories: a pixel transitioning from non-mangrove to mangrove is classified as mapped mangrove gain; the reverse is mapped mangrove loss; and pixels retaining the same classification across both years are classified as stable mangrove or stable non-mangrove, respectively. Since the final classified imagery uses a 10-meter spatial grid, each pixel represents 100 square meters, so area in hectares is calculated as the pixel count N divided by 100. Because the same model configuration, five-channel input structure, preprocessing procedure, patch size, and classification threshold are applied consistently across every observation year, any observed temporal differences are attributable to actual land-cover change rather than methodological inconsistency."</a:t>
            </a:r>
          </a:p>
        </p:txBody>
      </p:sp>
      <p:sp>
        <p:nvSpPr>
          <p:cNvPr id="4" name="Slide Number Placeholder 3"/>
          <p:cNvSpPr>
            <a:spLocks noGrp="1"/>
          </p:cNvSpPr>
          <p:nvPr>
            <p:ph type="sldNum" sz="quarter" idx="5"/>
          </p:nvPr>
        </p:nvSpPr>
        <p:spPr/>
        <p:txBody>
          <a:bodyPr/>
          <a:lstStyle/>
          <a:p>
            <a:fld id="{65DC798B-3871-464D-93A7-C050EC936EB3}" type="slidenum">
              <a:rPr lang="en-PH" smtClean="0"/>
              <a:t>16</a:t>
            </a:fld>
            <a:endParaRPr lang="en-PH"/>
          </a:p>
        </p:txBody>
      </p:sp>
    </p:spTree>
    <p:extLst>
      <p:ext uri="{BB962C8B-B14F-4D97-AF65-F5344CB8AC3E}">
        <p14:creationId xmlns:p14="http://schemas.microsoft.com/office/powerpoint/2010/main" val="1808245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PH" dirty="0"/>
              <a:t>"Once the model is finalized, we integrate it into a working prototype covering four stages: preprocessing, segmentation, change mapping, and reporting. It automatically processes imagery, generates annual maps, identifies gain and loss, computes area in hectares, and displays the results.</a:t>
            </a:r>
          </a:p>
          <a:p>
            <a:pPr rtl="0"/>
            <a:r>
              <a:rPr lang="en-PH" dirty="0"/>
              <a:t>Phase 8 is not more model training — it's a functional check, confirming the system runs correctly and that area calculations match the actual pixel counts. The end goal is a practical tool </a:t>
            </a:r>
            <a:r>
              <a:rPr lang="en-PH" dirty="0" err="1"/>
              <a:t>Aringay</a:t>
            </a:r>
            <a:r>
              <a:rPr lang="en-PH" dirty="0"/>
              <a:t> MENRO can actually use."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53392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sv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ounded Rectangle 2">
            <a:extLst>
              <a:ext uri="{FF2B5EF4-FFF2-40B4-BE49-F238E27FC236}">
                <a16:creationId xmlns:a16="http://schemas.microsoft.com/office/drawing/2014/main" id="{1FA652A6-5FE9-5DB1-A563-73CF0819CCF4}"/>
              </a:ext>
            </a:extLst>
          </p:cNvPr>
          <p:cNvSpPr/>
          <p:nvPr/>
        </p:nvSpPr>
        <p:spPr>
          <a:xfrm>
            <a:off x="-724637" y="-274320"/>
            <a:ext cx="3108960" cy="1463040"/>
          </a:xfrm>
          <a:prstGeom prst="roundRect">
            <a:avLst>
              <a:gd name="adj" fmla="val 12000"/>
            </a:avLst>
          </a:prstGeom>
          <a:solidFill>
            <a:srgbClr val="EEF7F0"/>
          </a:solidFill>
          <a:ln>
            <a:solidFill>
              <a:srgbClr val="EEF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 name="Rectangle 1"/>
          <p:cNvSpPr/>
          <p:nvPr/>
        </p:nvSpPr>
        <p:spPr>
          <a:xfrm>
            <a:off x="0" y="0"/>
            <a:ext cx="12191695" cy="73152"/>
          </a:xfrm>
          <a:prstGeom prst="rect">
            <a:avLst/>
          </a:prstGeom>
          <a:solidFill>
            <a:srgbClr val="2D6A4F"/>
          </a:solidFill>
          <a:ln>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ounded Rectangle 2"/>
          <p:cNvSpPr/>
          <p:nvPr/>
        </p:nvSpPr>
        <p:spPr>
          <a:xfrm>
            <a:off x="9692640" y="5394960"/>
            <a:ext cx="3108960" cy="1463040"/>
          </a:xfrm>
          <a:prstGeom prst="roundRect">
            <a:avLst>
              <a:gd name="adj" fmla="val 12000"/>
            </a:avLst>
          </a:prstGeom>
          <a:solidFill>
            <a:srgbClr val="EEF7F0"/>
          </a:solidFill>
          <a:ln>
            <a:solidFill>
              <a:srgbClr val="EEF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6" name="TextBox 5"/>
          <p:cNvSpPr txBox="1"/>
          <p:nvPr/>
        </p:nvSpPr>
        <p:spPr>
          <a:xfrm>
            <a:off x="914400" y="1783080"/>
            <a:ext cx="10332720" cy="1323439"/>
          </a:xfrm>
          <a:prstGeom prst="rect">
            <a:avLst/>
          </a:prstGeom>
          <a:noFill/>
        </p:spPr>
        <p:txBody>
          <a:bodyPr wrap="square" anchor="t">
            <a:spAutoFit/>
          </a:bodyPr>
          <a:lstStyle/>
          <a:p>
            <a:pPr algn="ctr"/>
            <a:r>
              <a:rPr sz="4000" b="1" dirty="0">
                <a:solidFill>
                  <a:srgbClr val="1B4332"/>
                </a:solidFill>
                <a:latin typeface="Aptos"/>
              </a:rPr>
              <a:t>Deep Learning-Based Detection of Mangrove Gain and Loss in </a:t>
            </a:r>
            <a:r>
              <a:rPr lang="en-US" sz="4000" b="1" dirty="0" err="1">
                <a:solidFill>
                  <a:srgbClr val="1B4332"/>
                </a:solidFill>
                <a:latin typeface="Aptos"/>
              </a:rPr>
              <a:t>Aringay</a:t>
            </a:r>
            <a:r>
              <a:rPr lang="en-US" sz="4000" b="1" dirty="0">
                <a:solidFill>
                  <a:srgbClr val="1B4332"/>
                </a:solidFill>
                <a:latin typeface="Aptos"/>
              </a:rPr>
              <a:t> La Union</a:t>
            </a:r>
            <a:endParaRPr sz="4000" b="1" dirty="0">
              <a:solidFill>
                <a:srgbClr val="1B4332"/>
              </a:solidFill>
              <a:latin typeface="Aptos"/>
            </a:endParaRPr>
          </a:p>
        </p:txBody>
      </p:sp>
      <p:sp>
        <p:nvSpPr>
          <p:cNvPr id="8" name="TextBox 7"/>
          <p:cNvSpPr txBox="1"/>
          <p:nvPr/>
        </p:nvSpPr>
        <p:spPr>
          <a:xfrm>
            <a:off x="1805940" y="5200642"/>
            <a:ext cx="8549640" cy="777240"/>
          </a:xfrm>
          <a:prstGeom prst="rect">
            <a:avLst/>
          </a:prstGeom>
          <a:noFill/>
        </p:spPr>
        <p:txBody>
          <a:bodyPr wrap="square" anchor="t">
            <a:spAutoFit/>
          </a:bodyPr>
          <a:lstStyle/>
          <a:p>
            <a:pPr algn="ctr"/>
            <a:r>
              <a:rPr sz="1450" b="0" dirty="0">
                <a:solidFill>
                  <a:srgbClr val="41604F"/>
                </a:solidFill>
                <a:latin typeface="Aptos"/>
              </a:rPr>
              <a:t>Adviser: Fernan H. Mendoza, DIT
Bachelor of Science in Computer Science
Don Mariano Marcos Memorial State University – South La Union Campus · College of Computer Science</a:t>
            </a:r>
          </a:p>
        </p:txBody>
      </p:sp>
      <p:sp>
        <p:nvSpPr>
          <p:cNvPr id="12" name="TextBox 11">
            <a:extLst>
              <a:ext uri="{FF2B5EF4-FFF2-40B4-BE49-F238E27FC236}">
                <a16:creationId xmlns:a16="http://schemas.microsoft.com/office/drawing/2014/main" id="{25C364CC-22E1-BF1E-F5F1-FF670672C11A}"/>
              </a:ext>
            </a:extLst>
          </p:cNvPr>
          <p:cNvSpPr txBox="1"/>
          <p:nvPr/>
        </p:nvSpPr>
        <p:spPr>
          <a:xfrm>
            <a:off x="1821027" y="3725640"/>
            <a:ext cx="8549640" cy="1208023"/>
          </a:xfrm>
          <a:prstGeom prst="rect">
            <a:avLst/>
          </a:prstGeom>
          <a:noFill/>
        </p:spPr>
        <p:txBody>
          <a:bodyPr wrap="square" anchor="t">
            <a:spAutoFit/>
          </a:bodyPr>
          <a:lstStyle/>
          <a:p>
            <a:pPr algn="ctr"/>
            <a:r>
              <a:rPr lang="en-US" sz="1450" dirty="0">
                <a:solidFill>
                  <a:srgbClr val="41604F"/>
                </a:solidFill>
                <a:latin typeface="Aptos"/>
              </a:rPr>
              <a:t>Nash Francis M. Caluza</a:t>
            </a:r>
          </a:p>
          <a:p>
            <a:pPr algn="ctr"/>
            <a:r>
              <a:rPr lang="en-US" sz="1450" b="0" dirty="0" err="1">
                <a:solidFill>
                  <a:srgbClr val="41604F"/>
                </a:solidFill>
                <a:latin typeface="Aptos"/>
              </a:rPr>
              <a:t>Reymark</a:t>
            </a:r>
            <a:r>
              <a:rPr lang="en-US" sz="1450" b="0" dirty="0">
                <a:solidFill>
                  <a:srgbClr val="41604F"/>
                </a:solidFill>
                <a:latin typeface="Aptos"/>
              </a:rPr>
              <a:t> O. </a:t>
            </a:r>
            <a:r>
              <a:rPr lang="en-US" sz="1450" dirty="0">
                <a:solidFill>
                  <a:srgbClr val="41604F"/>
                </a:solidFill>
                <a:latin typeface="Aptos"/>
              </a:rPr>
              <a:t>Boado</a:t>
            </a:r>
          </a:p>
          <a:p>
            <a:pPr algn="ctr"/>
            <a:r>
              <a:rPr lang="en-US" sz="1450" b="0" dirty="0">
                <a:solidFill>
                  <a:srgbClr val="41604F"/>
                </a:solidFill>
                <a:latin typeface="Aptos"/>
              </a:rPr>
              <a:t>Erica Meneses</a:t>
            </a:r>
          </a:p>
          <a:p>
            <a:pPr algn="ctr"/>
            <a:r>
              <a:rPr lang="en-US" sz="1450" dirty="0">
                <a:solidFill>
                  <a:srgbClr val="41604F"/>
                </a:solidFill>
                <a:latin typeface="Aptos"/>
              </a:rPr>
              <a:t>Elaiza Praise Y. Milana</a:t>
            </a:r>
          </a:p>
          <a:p>
            <a:pPr algn="ctr"/>
            <a:r>
              <a:rPr lang="en-US" sz="1450" b="0" dirty="0">
                <a:solidFill>
                  <a:srgbClr val="41604F"/>
                </a:solidFill>
                <a:latin typeface="Aptos"/>
              </a:rPr>
              <a:t>Lyka </a:t>
            </a:r>
            <a:r>
              <a:rPr lang="en-US" sz="1450" dirty="0">
                <a:solidFill>
                  <a:srgbClr val="41604F"/>
                </a:solidFill>
                <a:latin typeface="Aptos"/>
              </a:rPr>
              <a:t>B. </a:t>
            </a:r>
            <a:r>
              <a:rPr lang="en-US" sz="1450" b="0" dirty="0" err="1">
                <a:solidFill>
                  <a:srgbClr val="41604F"/>
                </a:solidFill>
                <a:latin typeface="Aptos"/>
              </a:rPr>
              <a:t>Vejano</a:t>
            </a:r>
            <a:endParaRPr sz="1450" b="0" dirty="0">
              <a:solidFill>
                <a:srgbClr val="41604F"/>
              </a:solidFill>
              <a:latin typeface="Apto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2D6A4F"/>
          </a:solidFill>
          <a:ln>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310896"/>
            <a:ext cx="5029200" cy="228600"/>
          </a:xfrm>
          <a:prstGeom prst="rect">
            <a:avLst/>
          </a:prstGeom>
          <a:noFill/>
        </p:spPr>
        <p:txBody>
          <a:bodyPr wrap="square" anchor="t">
            <a:spAutoFit/>
          </a:bodyPr>
          <a:lstStyle/>
          <a:p>
            <a:pPr algn="l"/>
            <a:r>
              <a:rPr sz="1250" b="1">
                <a:solidFill>
                  <a:srgbClr val="2D6A4F"/>
                </a:solidFill>
                <a:latin typeface="Aptos"/>
              </a:rPr>
              <a:t>INTRODUCTION</a:t>
            </a:r>
          </a:p>
        </p:txBody>
      </p:sp>
      <p:sp>
        <p:nvSpPr>
          <p:cNvPr id="4" name="TextBox 3"/>
          <p:cNvSpPr txBox="1"/>
          <p:nvPr/>
        </p:nvSpPr>
        <p:spPr>
          <a:xfrm>
            <a:off x="530352" y="576072"/>
            <a:ext cx="10881360" cy="457200"/>
          </a:xfrm>
          <a:prstGeom prst="rect">
            <a:avLst/>
          </a:prstGeom>
          <a:noFill/>
        </p:spPr>
        <p:txBody>
          <a:bodyPr wrap="square" anchor="t">
            <a:spAutoFit/>
          </a:bodyPr>
          <a:lstStyle/>
          <a:p>
            <a:pPr algn="l"/>
            <a:r>
              <a:rPr sz="3100" b="1">
                <a:solidFill>
                  <a:srgbClr val="0F2318"/>
                </a:solidFill>
                <a:latin typeface="Aptos"/>
              </a:rPr>
              <a:t>Situation Analysis</a:t>
            </a:r>
          </a:p>
        </p:txBody>
      </p:sp>
      <p:sp>
        <p:nvSpPr>
          <p:cNvPr id="5" name="Rectangle 4"/>
          <p:cNvSpPr/>
          <p:nvPr/>
        </p:nvSpPr>
        <p:spPr>
          <a:xfrm>
            <a:off x="530352" y="1097280"/>
            <a:ext cx="640080" cy="41148"/>
          </a:xfrm>
          <a:prstGeom prst="rect">
            <a:avLst/>
          </a:prstGeom>
          <a:solidFill>
            <a:srgbClr val="2D6A4F"/>
          </a:solidFill>
          <a:ln>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30352" y="1417320"/>
            <a:ext cx="2903313" cy="4960332"/>
          </a:xfrm>
          <a:prstGeom prst="roundRect">
            <a:avLst>
              <a:gd name="adj" fmla="val 12000"/>
            </a:avLst>
          </a:prstGeom>
          <a:solidFill>
            <a:srgbClr val="EEF7F0"/>
          </a:solidFill>
          <a:ln>
            <a:solidFill>
              <a:srgbClr val="CF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94944" y="1545336"/>
            <a:ext cx="2514787" cy="1200329"/>
          </a:xfrm>
          <a:prstGeom prst="rect">
            <a:avLst/>
          </a:prstGeom>
          <a:noFill/>
        </p:spPr>
        <p:txBody>
          <a:bodyPr wrap="square" anchor="t">
            <a:spAutoFit/>
          </a:bodyPr>
          <a:lstStyle/>
          <a:p>
            <a:pPr algn="l"/>
            <a:r>
              <a:rPr sz="2400" b="1" dirty="0">
                <a:solidFill>
                  <a:srgbClr val="1B4332"/>
                </a:solidFill>
                <a:latin typeface="Aptos"/>
              </a:rPr>
              <a:t>WHY MANGROVES MATTER</a:t>
            </a:r>
          </a:p>
        </p:txBody>
      </p:sp>
      <p:sp>
        <p:nvSpPr>
          <p:cNvPr id="10" name="TextBox 9"/>
          <p:cNvSpPr txBox="1"/>
          <p:nvPr/>
        </p:nvSpPr>
        <p:spPr>
          <a:xfrm>
            <a:off x="648290" y="2745665"/>
            <a:ext cx="2608093" cy="2187778"/>
          </a:xfrm>
          <a:prstGeom prst="rect">
            <a:avLst/>
          </a:prstGeom>
          <a:noFill/>
        </p:spPr>
        <p:txBody>
          <a:bodyPr wrap="square">
            <a:spAutoFit/>
          </a:bodyPr>
          <a:lstStyle/>
          <a:p>
            <a:pPr>
              <a:spcAft>
                <a:spcPts val="500"/>
              </a:spcAft>
              <a:defRPr sz="1520">
                <a:solidFill>
                  <a:srgbClr val="0F2318"/>
                </a:solidFill>
                <a:latin typeface="Aptos"/>
              </a:defRPr>
            </a:pPr>
            <a:r>
              <a:rPr sz="2200" dirty="0"/>
              <a:t>▸ Coastal defense &amp; biodiversity habitat</a:t>
            </a:r>
          </a:p>
          <a:p>
            <a:pPr>
              <a:spcAft>
                <a:spcPts val="500"/>
              </a:spcAft>
              <a:defRPr sz="1520">
                <a:solidFill>
                  <a:srgbClr val="0F2318"/>
                </a:solidFill>
                <a:latin typeface="Aptos"/>
              </a:defRPr>
            </a:pPr>
            <a:r>
              <a:rPr sz="2200" dirty="0"/>
              <a:t>▸ Carbon storage &amp; environmental balance</a:t>
            </a:r>
          </a:p>
        </p:txBody>
      </p:sp>
      <p:sp>
        <p:nvSpPr>
          <p:cNvPr id="11" name="Rounded Rectangle 10"/>
          <p:cNvSpPr/>
          <p:nvPr/>
        </p:nvSpPr>
        <p:spPr>
          <a:xfrm>
            <a:off x="3713584" y="1417320"/>
            <a:ext cx="4674636" cy="4960332"/>
          </a:xfrm>
          <a:prstGeom prst="roundRect">
            <a:avLst>
              <a:gd name="adj" fmla="val 12000"/>
            </a:avLst>
          </a:prstGeom>
          <a:solidFill>
            <a:srgbClr val="EEF7F0"/>
          </a:solidFill>
          <a:ln>
            <a:solidFill>
              <a:srgbClr val="CF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969576" y="1563624"/>
            <a:ext cx="4002912" cy="461665"/>
          </a:xfrm>
          <a:prstGeom prst="rect">
            <a:avLst/>
          </a:prstGeom>
          <a:noFill/>
        </p:spPr>
        <p:txBody>
          <a:bodyPr wrap="square" anchor="t">
            <a:spAutoFit/>
          </a:bodyPr>
          <a:lstStyle/>
          <a:p>
            <a:pPr algn="l"/>
            <a:r>
              <a:rPr sz="2400" b="1" dirty="0">
                <a:solidFill>
                  <a:srgbClr val="1B4332"/>
                </a:solidFill>
                <a:latin typeface="Aptos"/>
              </a:rPr>
              <a:t>MANGROVES IN DECLINE</a:t>
            </a:r>
          </a:p>
        </p:txBody>
      </p:sp>
      <p:sp>
        <p:nvSpPr>
          <p:cNvPr id="13" name="TextBox 12"/>
          <p:cNvSpPr txBox="1"/>
          <p:nvPr/>
        </p:nvSpPr>
        <p:spPr>
          <a:xfrm>
            <a:off x="3842638" y="1947672"/>
            <a:ext cx="4439665" cy="3944670"/>
          </a:xfrm>
          <a:prstGeom prst="rect">
            <a:avLst/>
          </a:prstGeom>
          <a:noFill/>
        </p:spPr>
        <p:txBody>
          <a:bodyPr wrap="square">
            <a:spAutoFit/>
          </a:bodyPr>
          <a:lstStyle/>
          <a:p>
            <a:pPr>
              <a:spcAft>
                <a:spcPts val="500"/>
              </a:spcAft>
              <a:defRPr sz="1520">
                <a:solidFill>
                  <a:srgbClr val="0F2318"/>
                </a:solidFill>
                <a:latin typeface="Aptos"/>
              </a:defRPr>
            </a:pPr>
            <a:r>
              <a:rPr sz="2200" dirty="0"/>
              <a:t>▸ Global cover significantly decreased; loss acute in Southeast Asia (Worthington et al., 2020; FAO, 2023; Lomeo &amp; Singh, 2022)</a:t>
            </a:r>
          </a:p>
          <a:p>
            <a:pPr>
              <a:spcAft>
                <a:spcPts val="500"/>
              </a:spcAft>
              <a:defRPr sz="1520">
                <a:solidFill>
                  <a:srgbClr val="0F2318"/>
                </a:solidFill>
                <a:latin typeface="Aptos"/>
              </a:defRPr>
            </a:pPr>
            <a:r>
              <a:rPr sz="2200" dirty="0"/>
              <a:t>▸ Philippines: historically 400,000–500,000 ha; considerable reductions since (</a:t>
            </a:r>
            <a:r>
              <a:rPr sz="2200" dirty="0" err="1"/>
              <a:t>Pillodar</a:t>
            </a:r>
            <a:r>
              <a:rPr sz="2200" dirty="0"/>
              <a:t> et al., 2023; Sasi et al., 2025)</a:t>
            </a:r>
          </a:p>
          <a:p>
            <a:pPr>
              <a:spcAft>
                <a:spcPts val="500"/>
              </a:spcAft>
              <a:defRPr sz="1520">
                <a:solidFill>
                  <a:srgbClr val="0F2318"/>
                </a:solidFill>
                <a:latin typeface="Aptos"/>
              </a:defRPr>
            </a:pPr>
            <a:r>
              <a:rPr sz="2200" dirty="0"/>
              <a:t>▸ Drivers vary by region: aquaculture, reclamation, land-use change (Primavera, 2000)</a:t>
            </a:r>
          </a:p>
        </p:txBody>
      </p:sp>
      <p:sp>
        <p:nvSpPr>
          <p:cNvPr id="14" name="Rounded Rectangle 13"/>
          <p:cNvSpPr/>
          <p:nvPr/>
        </p:nvSpPr>
        <p:spPr>
          <a:xfrm>
            <a:off x="8691277" y="1417320"/>
            <a:ext cx="2903314" cy="4960332"/>
          </a:xfrm>
          <a:prstGeom prst="roundRect">
            <a:avLst>
              <a:gd name="adj" fmla="val 12000"/>
            </a:avLst>
          </a:prstGeom>
          <a:solidFill>
            <a:srgbClr val="EEF7F0"/>
          </a:solidFill>
          <a:ln>
            <a:solidFill>
              <a:srgbClr val="CF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855869" y="1552228"/>
            <a:ext cx="2621901" cy="830997"/>
          </a:xfrm>
          <a:prstGeom prst="rect">
            <a:avLst/>
          </a:prstGeom>
          <a:noFill/>
        </p:spPr>
        <p:txBody>
          <a:bodyPr wrap="square" anchor="t">
            <a:spAutoFit/>
          </a:bodyPr>
          <a:lstStyle/>
          <a:p>
            <a:pPr algn="l"/>
            <a:r>
              <a:rPr sz="2400" b="1" dirty="0">
                <a:solidFill>
                  <a:srgbClr val="1B4332"/>
                </a:solidFill>
                <a:latin typeface="Aptos"/>
              </a:rPr>
              <a:t>PROVEN TOOLS, FREE DATA</a:t>
            </a:r>
          </a:p>
        </p:txBody>
      </p:sp>
      <p:sp>
        <p:nvSpPr>
          <p:cNvPr id="16" name="TextBox 15"/>
          <p:cNvSpPr txBox="1"/>
          <p:nvPr/>
        </p:nvSpPr>
        <p:spPr>
          <a:xfrm>
            <a:off x="8789811" y="2432699"/>
            <a:ext cx="2621901" cy="3880549"/>
          </a:xfrm>
          <a:prstGeom prst="rect">
            <a:avLst/>
          </a:prstGeom>
          <a:noFill/>
        </p:spPr>
        <p:txBody>
          <a:bodyPr wrap="square">
            <a:spAutoFit/>
          </a:bodyPr>
          <a:lstStyle/>
          <a:p>
            <a:pPr>
              <a:spcAft>
                <a:spcPts val="500"/>
              </a:spcAft>
              <a:defRPr sz="1520">
                <a:solidFill>
                  <a:srgbClr val="0F2318"/>
                </a:solidFill>
                <a:latin typeface="Aptos"/>
              </a:defRPr>
            </a:pPr>
            <a:r>
              <a:rPr sz="2200" dirty="0"/>
              <a:t>▸ Deep learning + remote sensing now standard for environmental monitoring; CNNs lead (Zhang et al., 2025)</a:t>
            </a:r>
          </a:p>
          <a:p>
            <a:pPr>
              <a:spcAft>
                <a:spcPts val="500"/>
              </a:spcAft>
              <a:defRPr sz="1520">
                <a:solidFill>
                  <a:srgbClr val="0F2318"/>
                </a:solidFill>
                <a:latin typeface="Aptos"/>
              </a:defRPr>
            </a:pPr>
            <a:r>
              <a:rPr sz="2200" dirty="0"/>
              <a:t>▸ Sentinel-2: freely available, recurrent multispectral imaging (ESA, 2024)</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667AE-6244-92E1-9669-53AD4ACC43E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2252436-5E24-79DD-54FB-44276A9416A4}"/>
              </a:ext>
            </a:extLst>
          </p:cNvPr>
          <p:cNvSpPr/>
          <p:nvPr/>
        </p:nvSpPr>
        <p:spPr>
          <a:xfrm>
            <a:off x="0" y="0"/>
            <a:ext cx="12191695" cy="73152"/>
          </a:xfrm>
          <a:prstGeom prst="rect">
            <a:avLst/>
          </a:prstGeom>
          <a:solidFill>
            <a:srgbClr val="2D6A4F"/>
          </a:solidFill>
          <a:ln>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634673D2-A8D7-2D32-BA3F-4E1076D5A1C6}"/>
              </a:ext>
            </a:extLst>
          </p:cNvPr>
          <p:cNvSpPr txBox="1"/>
          <p:nvPr/>
        </p:nvSpPr>
        <p:spPr>
          <a:xfrm>
            <a:off x="530352" y="310896"/>
            <a:ext cx="5029200" cy="228600"/>
          </a:xfrm>
          <a:prstGeom prst="rect">
            <a:avLst/>
          </a:prstGeom>
          <a:noFill/>
        </p:spPr>
        <p:txBody>
          <a:bodyPr wrap="square" anchor="t">
            <a:spAutoFit/>
          </a:bodyPr>
          <a:lstStyle/>
          <a:p>
            <a:pPr algn="l"/>
            <a:r>
              <a:rPr sz="1250" b="1">
                <a:solidFill>
                  <a:srgbClr val="2D6A4F"/>
                </a:solidFill>
                <a:latin typeface="Aptos"/>
              </a:rPr>
              <a:t>RESEARCH GAP</a:t>
            </a:r>
          </a:p>
        </p:txBody>
      </p:sp>
      <p:sp>
        <p:nvSpPr>
          <p:cNvPr id="4" name="TextBox 3">
            <a:extLst>
              <a:ext uri="{FF2B5EF4-FFF2-40B4-BE49-F238E27FC236}">
                <a16:creationId xmlns:a16="http://schemas.microsoft.com/office/drawing/2014/main" id="{4E1DB898-0FEB-7740-4467-D82B819F88FE}"/>
              </a:ext>
            </a:extLst>
          </p:cNvPr>
          <p:cNvSpPr txBox="1"/>
          <p:nvPr/>
        </p:nvSpPr>
        <p:spPr>
          <a:xfrm>
            <a:off x="530352" y="576072"/>
            <a:ext cx="10881360" cy="457200"/>
          </a:xfrm>
          <a:prstGeom prst="rect">
            <a:avLst/>
          </a:prstGeom>
          <a:noFill/>
        </p:spPr>
        <p:txBody>
          <a:bodyPr wrap="square" anchor="t">
            <a:spAutoFit/>
          </a:bodyPr>
          <a:lstStyle/>
          <a:p>
            <a:pPr algn="l"/>
            <a:r>
              <a:rPr sz="3100" b="1">
                <a:solidFill>
                  <a:srgbClr val="0F2318"/>
                </a:solidFill>
                <a:latin typeface="Aptos"/>
              </a:rPr>
              <a:t>What Existing Work Does Not Cover</a:t>
            </a:r>
          </a:p>
        </p:txBody>
      </p:sp>
      <p:sp>
        <p:nvSpPr>
          <p:cNvPr id="5" name="Rectangle 4">
            <a:extLst>
              <a:ext uri="{FF2B5EF4-FFF2-40B4-BE49-F238E27FC236}">
                <a16:creationId xmlns:a16="http://schemas.microsoft.com/office/drawing/2014/main" id="{A89705C0-B2BD-9B88-D802-EA0D355BCEA9}"/>
              </a:ext>
            </a:extLst>
          </p:cNvPr>
          <p:cNvSpPr/>
          <p:nvPr/>
        </p:nvSpPr>
        <p:spPr>
          <a:xfrm>
            <a:off x="530352" y="1097280"/>
            <a:ext cx="640080" cy="41148"/>
          </a:xfrm>
          <a:prstGeom prst="rect">
            <a:avLst/>
          </a:prstGeom>
          <a:solidFill>
            <a:srgbClr val="2D6A4F"/>
          </a:solidFill>
          <a:ln>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5C1B1190-1478-D830-140A-31F7537B57C5}"/>
              </a:ext>
            </a:extLst>
          </p:cNvPr>
          <p:cNvSpPr txBox="1"/>
          <p:nvPr/>
        </p:nvSpPr>
        <p:spPr>
          <a:xfrm>
            <a:off x="685800" y="1417320"/>
            <a:ext cx="10789920" cy="1107996"/>
          </a:xfrm>
          <a:prstGeom prst="rect">
            <a:avLst/>
          </a:prstGeom>
          <a:noFill/>
        </p:spPr>
        <p:txBody>
          <a:bodyPr wrap="square">
            <a:spAutoFit/>
          </a:bodyPr>
          <a:lstStyle/>
          <a:p>
            <a:pPr>
              <a:spcAft>
                <a:spcPts val="500"/>
              </a:spcAft>
              <a:defRPr sz="1700">
                <a:solidFill>
                  <a:srgbClr val="0F2318"/>
                </a:solidFill>
                <a:latin typeface="Aptos"/>
              </a:defRPr>
            </a:pPr>
            <a:r>
              <a:rPr sz="2200" dirty="0"/>
              <a:t>▸ Coarse global &amp; national products — Global Mangrove Watch &amp; the 2023 Philippine Mangrove Map use low resolutions and generalized methods → may miss localized transitions, fragmentations, narrow coastlines</a:t>
            </a:r>
          </a:p>
        </p:txBody>
      </p:sp>
      <p:sp>
        <p:nvSpPr>
          <p:cNvPr id="9" name="Rounded Rectangle 8">
            <a:extLst>
              <a:ext uri="{FF2B5EF4-FFF2-40B4-BE49-F238E27FC236}">
                <a16:creationId xmlns:a16="http://schemas.microsoft.com/office/drawing/2014/main" id="{D5CA652E-1E27-84C6-15E3-AA2C61A82B45}"/>
              </a:ext>
            </a:extLst>
          </p:cNvPr>
          <p:cNvSpPr/>
          <p:nvPr/>
        </p:nvSpPr>
        <p:spPr>
          <a:xfrm>
            <a:off x="347472" y="5679799"/>
            <a:ext cx="11128248" cy="914400"/>
          </a:xfrm>
          <a:prstGeom prst="roundRect">
            <a:avLst>
              <a:gd name="adj" fmla="val 12000"/>
            </a:avLst>
          </a:prstGeom>
          <a:solidFill>
            <a:srgbClr val="D8F3DC"/>
          </a:solidFill>
          <a:ln>
            <a:solidFill>
              <a:srgbClr val="CF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a:extLst>
              <a:ext uri="{FF2B5EF4-FFF2-40B4-BE49-F238E27FC236}">
                <a16:creationId xmlns:a16="http://schemas.microsoft.com/office/drawing/2014/main" id="{6BCB8BAF-5749-FB14-8F7B-85017ECC094F}"/>
              </a:ext>
            </a:extLst>
          </p:cNvPr>
          <p:cNvSpPr/>
          <p:nvPr/>
        </p:nvSpPr>
        <p:spPr>
          <a:xfrm>
            <a:off x="347472" y="5679799"/>
            <a:ext cx="45719" cy="914400"/>
          </a:xfrm>
          <a:prstGeom prst="rect">
            <a:avLst/>
          </a:prstGeom>
          <a:solidFill>
            <a:srgbClr val="2D6A4F"/>
          </a:solidFill>
          <a:ln>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8CF911B9-3391-46CB-C0E6-B845DB585D55}"/>
              </a:ext>
            </a:extLst>
          </p:cNvPr>
          <p:cNvSpPr txBox="1"/>
          <p:nvPr/>
        </p:nvSpPr>
        <p:spPr>
          <a:xfrm>
            <a:off x="512064" y="5760720"/>
            <a:ext cx="10835640" cy="769441"/>
          </a:xfrm>
          <a:prstGeom prst="rect">
            <a:avLst/>
          </a:prstGeom>
          <a:noFill/>
        </p:spPr>
        <p:txBody>
          <a:bodyPr wrap="square" anchor="t">
            <a:spAutoFit/>
          </a:bodyPr>
          <a:lstStyle/>
          <a:p>
            <a:pPr algn="l"/>
            <a:r>
              <a:rPr sz="2200" b="0" dirty="0">
                <a:solidFill>
                  <a:srgbClr val="0F2318"/>
                </a:solidFill>
                <a:latin typeface="Aptos"/>
              </a:rPr>
              <a:t>The </a:t>
            </a:r>
            <a:r>
              <a:rPr lang="en-PH" sz="2200" dirty="0">
                <a:solidFill>
                  <a:srgbClr val="0F2318"/>
                </a:solidFill>
                <a:latin typeface="Aptos"/>
              </a:rPr>
              <a:t>solution</a:t>
            </a:r>
            <a:r>
              <a:rPr sz="2200" b="0" dirty="0">
                <a:solidFill>
                  <a:srgbClr val="0F2318"/>
                </a:solidFill>
                <a:latin typeface="Aptos"/>
              </a:rPr>
              <a:t>: a localized mangrove dataset + a combined gain-and-loss detection approach for Barangay </a:t>
            </a:r>
            <a:r>
              <a:rPr sz="2200" b="0" dirty="0" err="1">
                <a:solidFill>
                  <a:srgbClr val="0F2318"/>
                </a:solidFill>
                <a:latin typeface="Aptos"/>
              </a:rPr>
              <a:t>Dulao</a:t>
            </a:r>
            <a:r>
              <a:rPr sz="2200" b="0" dirty="0">
                <a:solidFill>
                  <a:srgbClr val="0F2318"/>
                </a:solidFill>
                <a:latin typeface="Aptos"/>
              </a:rPr>
              <a:t>, </a:t>
            </a:r>
            <a:r>
              <a:rPr sz="2200" b="0" dirty="0" err="1">
                <a:solidFill>
                  <a:srgbClr val="0F2318"/>
                </a:solidFill>
                <a:latin typeface="Aptos"/>
              </a:rPr>
              <a:t>Aringay</a:t>
            </a:r>
            <a:r>
              <a:rPr sz="2200" b="0" dirty="0">
                <a:solidFill>
                  <a:srgbClr val="0F2318"/>
                </a:solidFill>
                <a:latin typeface="Aptos"/>
              </a:rPr>
              <a:t>, La Union.</a:t>
            </a:r>
          </a:p>
        </p:txBody>
      </p:sp>
      <p:pic>
        <p:nvPicPr>
          <p:cNvPr id="7" name="Picture 6">
            <a:extLst>
              <a:ext uri="{FF2B5EF4-FFF2-40B4-BE49-F238E27FC236}">
                <a16:creationId xmlns:a16="http://schemas.microsoft.com/office/drawing/2014/main" id="{04A0BBB2-C439-9F21-CD7E-E49893A08C55}"/>
              </a:ext>
            </a:extLst>
          </p:cNvPr>
          <p:cNvPicPr>
            <a:picLocks noChangeAspect="1"/>
          </p:cNvPicPr>
          <p:nvPr/>
        </p:nvPicPr>
        <p:blipFill>
          <a:blip r:embed="rId3"/>
          <a:srcRect b="7541"/>
          <a:stretch>
            <a:fillRect/>
          </a:stretch>
        </p:blipFill>
        <p:spPr>
          <a:xfrm>
            <a:off x="850392" y="2578664"/>
            <a:ext cx="3023682" cy="1928312"/>
          </a:xfrm>
          <a:prstGeom prst="rect">
            <a:avLst/>
          </a:prstGeom>
        </p:spPr>
      </p:pic>
      <p:pic>
        <p:nvPicPr>
          <p:cNvPr id="16" name="Picture 15">
            <a:extLst>
              <a:ext uri="{FF2B5EF4-FFF2-40B4-BE49-F238E27FC236}">
                <a16:creationId xmlns:a16="http://schemas.microsoft.com/office/drawing/2014/main" id="{E4725F1F-94C8-3CF1-6F88-1C807A78BE4F}"/>
              </a:ext>
            </a:extLst>
          </p:cNvPr>
          <p:cNvPicPr>
            <a:picLocks noChangeAspect="1"/>
          </p:cNvPicPr>
          <p:nvPr/>
        </p:nvPicPr>
        <p:blipFill>
          <a:blip r:embed="rId4"/>
          <a:stretch>
            <a:fillRect/>
          </a:stretch>
        </p:blipFill>
        <p:spPr>
          <a:xfrm>
            <a:off x="4252785" y="2614869"/>
            <a:ext cx="3436493" cy="1929640"/>
          </a:xfrm>
          <a:prstGeom prst="rect">
            <a:avLst/>
          </a:prstGeom>
        </p:spPr>
      </p:pic>
      <p:pic>
        <p:nvPicPr>
          <p:cNvPr id="18" name="Picture 17">
            <a:extLst>
              <a:ext uri="{FF2B5EF4-FFF2-40B4-BE49-F238E27FC236}">
                <a16:creationId xmlns:a16="http://schemas.microsoft.com/office/drawing/2014/main" id="{9B165313-F894-F9EC-68B2-F1AEFB635D5C}"/>
              </a:ext>
            </a:extLst>
          </p:cNvPr>
          <p:cNvPicPr>
            <a:picLocks noChangeAspect="1"/>
          </p:cNvPicPr>
          <p:nvPr/>
        </p:nvPicPr>
        <p:blipFill>
          <a:blip r:embed="rId5"/>
          <a:stretch>
            <a:fillRect/>
          </a:stretch>
        </p:blipFill>
        <p:spPr>
          <a:xfrm>
            <a:off x="8067989" y="2608117"/>
            <a:ext cx="2932725" cy="1929640"/>
          </a:xfrm>
          <a:prstGeom prst="rect">
            <a:avLst/>
          </a:prstGeom>
        </p:spPr>
      </p:pic>
      <p:sp>
        <p:nvSpPr>
          <p:cNvPr id="20" name="TextBox 19">
            <a:extLst>
              <a:ext uri="{FF2B5EF4-FFF2-40B4-BE49-F238E27FC236}">
                <a16:creationId xmlns:a16="http://schemas.microsoft.com/office/drawing/2014/main" id="{97B2A168-7359-6B97-92FA-D494D5624129}"/>
              </a:ext>
            </a:extLst>
          </p:cNvPr>
          <p:cNvSpPr txBox="1"/>
          <p:nvPr/>
        </p:nvSpPr>
        <p:spPr>
          <a:xfrm>
            <a:off x="701040" y="4798031"/>
            <a:ext cx="10789920" cy="769441"/>
          </a:xfrm>
          <a:prstGeom prst="rect">
            <a:avLst/>
          </a:prstGeom>
          <a:noFill/>
        </p:spPr>
        <p:txBody>
          <a:bodyPr wrap="square">
            <a:spAutoFit/>
          </a:bodyPr>
          <a:lstStyle/>
          <a:p>
            <a:pPr>
              <a:spcAft>
                <a:spcPts val="500"/>
              </a:spcAft>
              <a:defRPr sz="1700">
                <a:solidFill>
                  <a:srgbClr val="0F2318"/>
                </a:solidFill>
                <a:latin typeface="Aptos"/>
              </a:defRPr>
            </a:pPr>
            <a:r>
              <a:rPr sz="2200" dirty="0"/>
              <a:t>▸ No localized dataset — U-Net + Sentinel-2 proven in Myanmar, Florida, and Bohol; no localized dataset exists for Barangay </a:t>
            </a:r>
            <a:r>
              <a:rPr sz="2200" dirty="0" err="1"/>
              <a:t>Dulao</a:t>
            </a:r>
            <a:endParaRPr sz="2200" dirty="0"/>
          </a:p>
        </p:txBody>
      </p:sp>
    </p:spTree>
    <p:extLst>
      <p:ext uri="{BB962C8B-B14F-4D97-AF65-F5344CB8AC3E}">
        <p14:creationId xmlns:p14="http://schemas.microsoft.com/office/powerpoint/2010/main" val="19046150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30146" y="1458153"/>
            <a:ext cx="2756985" cy="2743200"/>
          </a:xfrm>
          <a:custGeom>
            <a:avLst/>
            <a:gdLst/>
            <a:ahLst/>
            <a:cxnLst/>
            <a:rect l="l" t="t" r="r" b="b"/>
            <a:pathLst>
              <a:path w="4135477" h="4114800">
                <a:moveTo>
                  <a:pt x="0" y="0"/>
                </a:moveTo>
                <a:lnTo>
                  <a:pt x="4135477" y="0"/>
                </a:lnTo>
                <a:lnTo>
                  <a:pt x="4135477"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PH" sz="1200"/>
          </a:p>
        </p:txBody>
      </p:sp>
      <p:sp>
        <p:nvSpPr>
          <p:cNvPr id="3" name="Freeform 3"/>
          <p:cNvSpPr/>
          <p:nvPr/>
        </p:nvSpPr>
        <p:spPr>
          <a:xfrm>
            <a:off x="4717508" y="1458153"/>
            <a:ext cx="2756985" cy="2743200"/>
          </a:xfrm>
          <a:custGeom>
            <a:avLst/>
            <a:gdLst/>
            <a:ahLst/>
            <a:cxnLst/>
            <a:rect l="l" t="t" r="r" b="b"/>
            <a:pathLst>
              <a:path w="4135477" h="4114800">
                <a:moveTo>
                  <a:pt x="0" y="0"/>
                </a:moveTo>
                <a:lnTo>
                  <a:pt x="4135478" y="0"/>
                </a:lnTo>
                <a:lnTo>
                  <a:pt x="4135478"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PH" sz="1200"/>
          </a:p>
        </p:txBody>
      </p:sp>
      <p:sp>
        <p:nvSpPr>
          <p:cNvPr id="4" name="Freeform 4"/>
          <p:cNvSpPr/>
          <p:nvPr/>
        </p:nvSpPr>
        <p:spPr>
          <a:xfrm>
            <a:off x="8214231" y="1458153"/>
            <a:ext cx="2756985" cy="2743200"/>
          </a:xfrm>
          <a:custGeom>
            <a:avLst/>
            <a:gdLst/>
            <a:ahLst/>
            <a:cxnLst/>
            <a:rect l="l" t="t" r="r" b="b"/>
            <a:pathLst>
              <a:path w="4135477" h="4114800">
                <a:moveTo>
                  <a:pt x="0" y="0"/>
                </a:moveTo>
                <a:lnTo>
                  <a:pt x="4135478" y="0"/>
                </a:lnTo>
                <a:lnTo>
                  <a:pt x="4135478"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PH" sz="1200"/>
          </a:p>
        </p:txBody>
      </p:sp>
      <p:grpSp>
        <p:nvGrpSpPr>
          <p:cNvPr id="5" name="Group 5"/>
          <p:cNvGrpSpPr/>
          <p:nvPr/>
        </p:nvGrpSpPr>
        <p:grpSpPr>
          <a:xfrm>
            <a:off x="1230146" y="4845775"/>
            <a:ext cx="9741070" cy="1245088"/>
            <a:chOff x="0" y="0"/>
            <a:chExt cx="3848324" cy="491887"/>
          </a:xfrm>
        </p:grpSpPr>
        <p:sp>
          <p:nvSpPr>
            <p:cNvPr id="6" name="Freeform 6"/>
            <p:cNvSpPr/>
            <p:nvPr/>
          </p:nvSpPr>
          <p:spPr>
            <a:xfrm>
              <a:off x="0" y="0"/>
              <a:ext cx="3848324" cy="491887"/>
            </a:xfrm>
            <a:custGeom>
              <a:avLst/>
              <a:gdLst/>
              <a:ahLst/>
              <a:cxnLst/>
              <a:rect l="l" t="t" r="r" b="b"/>
              <a:pathLst>
                <a:path w="3848324" h="491887">
                  <a:moveTo>
                    <a:pt x="10067" y="0"/>
                  </a:moveTo>
                  <a:lnTo>
                    <a:pt x="3838257" y="0"/>
                  </a:lnTo>
                  <a:cubicBezTo>
                    <a:pt x="3840927" y="0"/>
                    <a:pt x="3843487" y="1061"/>
                    <a:pt x="3845375" y="2949"/>
                  </a:cubicBezTo>
                  <a:cubicBezTo>
                    <a:pt x="3847263" y="4837"/>
                    <a:pt x="3848324" y="7397"/>
                    <a:pt x="3848324" y="10067"/>
                  </a:cubicBezTo>
                  <a:lnTo>
                    <a:pt x="3848324" y="481820"/>
                  </a:lnTo>
                  <a:cubicBezTo>
                    <a:pt x="3848324" y="484490"/>
                    <a:pt x="3847263" y="487050"/>
                    <a:pt x="3845375" y="488938"/>
                  </a:cubicBezTo>
                  <a:cubicBezTo>
                    <a:pt x="3843487" y="490826"/>
                    <a:pt x="3840927" y="491887"/>
                    <a:pt x="3838257" y="491887"/>
                  </a:cubicBezTo>
                  <a:lnTo>
                    <a:pt x="10067" y="491887"/>
                  </a:lnTo>
                  <a:cubicBezTo>
                    <a:pt x="4507" y="491887"/>
                    <a:pt x="0" y="487380"/>
                    <a:pt x="0" y="481820"/>
                  </a:cubicBezTo>
                  <a:lnTo>
                    <a:pt x="0" y="10067"/>
                  </a:lnTo>
                  <a:cubicBezTo>
                    <a:pt x="0" y="7397"/>
                    <a:pt x="1061" y="4837"/>
                    <a:pt x="2949" y="2949"/>
                  </a:cubicBezTo>
                  <a:cubicBezTo>
                    <a:pt x="4837" y="1061"/>
                    <a:pt x="7397" y="0"/>
                    <a:pt x="10067" y="0"/>
                  </a:cubicBezTo>
                  <a:close/>
                </a:path>
              </a:pathLst>
            </a:custGeom>
            <a:solidFill>
              <a:srgbClr val="C8D1D9"/>
            </a:solidFill>
          </p:spPr>
          <p:txBody>
            <a:bodyPr/>
            <a:lstStyle/>
            <a:p>
              <a:endParaRPr lang="en-PH" sz="1200"/>
            </a:p>
          </p:txBody>
        </p:sp>
        <p:sp>
          <p:nvSpPr>
            <p:cNvPr id="7" name="TextBox 7"/>
            <p:cNvSpPr txBox="1"/>
            <p:nvPr/>
          </p:nvSpPr>
          <p:spPr>
            <a:xfrm>
              <a:off x="0" y="-57150"/>
              <a:ext cx="3848324" cy="549037"/>
            </a:xfrm>
            <a:prstGeom prst="rect">
              <a:avLst/>
            </a:prstGeom>
          </p:spPr>
          <p:txBody>
            <a:bodyPr lIns="33867" tIns="33867" rIns="33867" bIns="33867" rtlCol="0" anchor="ctr"/>
            <a:lstStyle/>
            <a:p>
              <a:pPr algn="ctr">
                <a:lnSpc>
                  <a:spcPts val="2239"/>
                </a:lnSpc>
              </a:pPr>
              <a:endParaRPr sz="1200"/>
            </a:p>
          </p:txBody>
        </p:sp>
      </p:grpSp>
      <p:sp>
        <p:nvSpPr>
          <p:cNvPr id="8" name="TextBox 8"/>
          <p:cNvSpPr txBox="1"/>
          <p:nvPr/>
        </p:nvSpPr>
        <p:spPr>
          <a:xfrm>
            <a:off x="1431577" y="4945926"/>
            <a:ext cx="9328847" cy="971420"/>
          </a:xfrm>
          <a:prstGeom prst="rect">
            <a:avLst/>
          </a:prstGeom>
        </p:spPr>
        <p:txBody>
          <a:bodyPr lIns="0" tIns="0" rIns="0" bIns="0" rtlCol="0" anchor="t">
            <a:spAutoFit/>
          </a:bodyPr>
          <a:lstStyle/>
          <a:p>
            <a:pPr algn="just">
              <a:lnSpc>
                <a:spcPts val="2613"/>
              </a:lnSpc>
              <a:spcBef>
                <a:spcPct val="0"/>
              </a:spcBef>
            </a:pPr>
            <a:r>
              <a:rPr lang="en-US" sz="1866" b="1" dirty="0">
                <a:solidFill>
                  <a:srgbClr val="453530"/>
                </a:solidFill>
                <a:latin typeface="Arial Bold"/>
                <a:ea typeface="Arial Bold"/>
                <a:cs typeface="Arial Bold"/>
                <a:sym typeface="Arial Bold"/>
              </a:rPr>
              <a:t>National Policy Alignment</a:t>
            </a:r>
            <a:r>
              <a:rPr lang="en-US" sz="1866" dirty="0">
                <a:solidFill>
                  <a:srgbClr val="453530"/>
                </a:solidFill>
                <a:latin typeface="Arial"/>
                <a:ea typeface="Arial"/>
                <a:cs typeface="Arial"/>
                <a:sym typeface="Arial"/>
              </a:rPr>
              <a:t> — Supports ecosystem accounting under the Philippine Ecosystem and Natural Capital Accounting System (PENCAS) Act, RA 11995, providing an objective monitoring tool for local environmental governance.</a:t>
            </a:r>
          </a:p>
        </p:txBody>
      </p:sp>
      <p:sp>
        <p:nvSpPr>
          <p:cNvPr id="10" name="Rectangle 9">
            <a:extLst>
              <a:ext uri="{FF2B5EF4-FFF2-40B4-BE49-F238E27FC236}">
                <a16:creationId xmlns:a16="http://schemas.microsoft.com/office/drawing/2014/main" id="{C0C339AA-82F2-92A4-1ADF-0B745E282972}"/>
              </a:ext>
            </a:extLst>
          </p:cNvPr>
          <p:cNvSpPr/>
          <p:nvPr/>
        </p:nvSpPr>
        <p:spPr>
          <a:xfrm>
            <a:off x="0" y="0"/>
            <a:ext cx="12191695" cy="73152"/>
          </a:xfrm>
          <a:prstGeom prst="rect">
            <a:avLst/>
          </a:prstGeom>
          <a:solidFill>
            <a:srgbClr val="2D6A4F"/>
          </a:solidFill>
          <a:ln>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p:cNvSpPr txBox="1"/>
          <p:nvPr/>
        </p:nvSpPr>
        <p:spPr>
          <a:xfrm>
            <a:off x="4477359" y="5122645"/>
            <a:ext cx="3236976" cy="1446550"/>
          </a:xfrm>
          <a:prstGeom prst="rect">
            <a:avLst/>
          </a:prstGeom>
          <a:noFill/>
        </p:spPr>
        <p:txBody>
          <a:bodyPr wrap="square">
            <a:spAutoFit/>
          </a:bodyPr>
          <a:lstStyle/>
          <a:p>
            <a:pPr>
              <a:spcAft>
                <a:spcPts val="500"/>
              </a:spcAft>
              <a:defRPr sz="1500">
                <a:solidFill>
                  <a:srgbClr val="0F2318"/>
                </a:solidFill>
                <a:latin typeface="Aptos"/>
              </a:defRPr>
            </a:pPr>
            <a:r>
              <a:rPr sz="2200" dirty="0"/>
              <a:t>▸ Basis for future studies; strengthens local use of DL + remote sensing.</a:t>
            </a:r>
          </a:p>
        </p:txBody>
      </p:sp>
      <p:pic>
        <p:nvPicPr>
          <p:cNvPr id="16" name="Picture 15">
            <a:extLst>
              <a:ext uri="{FF2B5EF4-FFF2-40B4-BE49-F238E27FC236}">
                <a16:creationId xmlns:a16="http://schemas.microsoft.com/office/drawing/2014/main" id="{2E7C87E6-4155-BD28-453E-1DC52EE44EC7}"/>
              </a:ext>
            </a:extLst>
          </p:cNvPr>
          <p:cNvPicPr>
            <a:picLocks noChangeAspect="1"/>
          </p:cNvPicPr>
          <p:nvPr/>
        </p:nvPicPr>
        <p:blipFill>
          <a:blip r:embed="rId3"/>
          <a:stretch>
            <a:fillRect/>
          </a:stretch>
        </p:blipFill>
        <p:spPr>
          <a:xfrm>
            <a:off x="0" y="0"/>
            <a:ext cx="12192000" cy="6858000"/>
          </a:xfrm>
          <a:prstGeom prst="rect">
            <a:avLst/>
          </a:prstGeom>
        </p:spPr>
      </p:pic>
      <p:sp>
        <p:nvSpPr>
          <p:cNvPr id="2" name="Rectangle 1"/>
          <p:cNvSpPr/>
          <p:nvPr/>
        </p:nvSpPr>
        <p:spPr>
          <a:xfrm>
            <a:off x="0" y="0"/>
            <a:ext cx="12191695" cy="73152"/>
          </a:xfrm>
          <a:prstGeom prst="rect">
            <a:avLst/>
          </a:prstGeom>
          <a:solidFill>
            <a:srgbClr val="2D6A4F"/>
          </a:solidFill>
          <a:ln>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310896"/>
            <a:ext cx="5029200" cy="228600"/>
          </a:xfrm>
          <a:prstGeom prst="rect">
            <a:avLst/>
          </a:prstGeom>
          <a:noFill/>
        </p:spPr>
        <p:txBody>
          <a:bodyPr wrap="square" anchor="t">
            <a:spAutoFit/>
          </a:bodyPr>
          <a:lstStyle/>
          <a:p>
            <a:pPr algn="l"/>
            <a:r>
              <a:rPr sz="1250" b="1">
                <a:solidFill>
                  <a:srgbClr val="2D6A4F"/>
                </a:solidFill>
                <a:latin typeface="Aptos"/>
              </a:rPr>
              <a:t>IMPACT</a:t>
            </a:r>
          </a:p>
        </p:txBody>
      </p:sp>
      <p:sp>
        <p:nvSpPr>
          <p:cNvPr id="5" name="Rectangle 4"/>
          <p:cNvSpPr/>
          <p:nvPr/>
        </p:nvSpPr>
        <p:spPr>
          <a:xfrm>
            <a:off x="530352" y="1097280"/>
            <a:ext cx="640080" cy="41148"/>
          </a:xfrm>
          <a:prstGeom prst="rect">
            <a:avLst/>
          </a:prstGeom>
          <a:solidFill>
            <a:srgbClr val="2D6A4F"/>
          </a:solidFill>
          <a:ln>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a:extLst>
              <a:ext uri="{FF2B5EF4-FFF2-40B4-BE49-F238E27FC236}">
                <a16:creationId xmlns:a16="http://schemas.microsoft.com/office/drawing/2014/main" id="{9180F9AE-14D1-E636-0874-40C49206241E}"/>
              </a:ext>
            </a:extLst>
          </p:cNvPr>
          <p:cNvSpPr/>
          <p:nvPr/>
        </p:nvSpPr>
        <p:spPr>
          <a:xfrm>
            <a:off x="1767840" y="103632"/>
            <a:ext cx="8707120" cy="1349248"/>
          </a:xfrm>
          <a:prstGeom prst="rect">
            <a:avLst/>
          </a:prstGeom>
          <a:solidFill>
            <a:srgbClr val="FDF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PH"/>
          </a:p>
        </p:txBody>
      </p:sp>
      <p:sp>
        <p:nvSpPr>
          <p:cNvPr id="4" name="TextBox 3"/>
          <p:cNvSpPr txBox="1"/>
          <p:nvPr/>
        </p:nvSpPr>
        <p:spPr>
          <a:xfrm>
            <a:off x="530352" y="576072"/>
            <a:ext cx="10881360" cy="457200"/>
          </a:xfrm>
          <a:prstGeom prst="rect">
            <a:avLst/>
          </a:prstGeom>
          <a:noFill/>
        </p:spPr>
        <p:txBody>
          <a:bodyPr wrap="square" anchor="t">
            <a:spAutoFit/>
          </a:bodyPr>
          <a:lstStyle/>
          <a:p>
            <a:pPr algn="l"/>
            <a:r>
              <a:rPr sz="3100" b="1" dirty="0">
                <a:solidFill>
                  <a:srgbClr val="0F2318"/>
                </a:solidFill>
                <a:latin typeface="Aptos"/>
              </a:rPr>
              <a:t>Significance of the Study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2D6A4F"/>
          </a:solidFill>
          <a:ln>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310896"/>
            <a:ext cx="5029200" cy="228600"/>
          </a:xfrm>
          <a:prstGeom prst="rect">
            <a:avLst/>
          </a:prstGeom>
          <a:noFill/>
        </p:spPr>
        <p:txBody>
          <a:bodyPr wrap="square" anchor="t">
            <a:spAutoFit/>
          </a:bodyPr>
          <a:lstStyle/>
          <a:p>
            <a:pPr algn="l"/>
            <a:r>
              <a:rPr sz="1250" b="1">
                <a:solidFill>
                  <a:srgbClr val="2D6A4F"/>
                </a:solidFill>
                <a:latin typeface="Aptos"/>
              </a:rPr>
              <a:t>OBJECTIVES</a:t>
            </a:r>
          </a:p>
        </p:txBody>
      </p:sp>
      <p:sp>
        <p:nvSpPr>
          <p:cNvPr id="4" name="TextBox 3"/>
          <p:cNvSpPr txBox="1"/>
          <p:nvPr/>
        </p:nvSpPr>
        <p:spPr>
          <a:xfrm>
            <a:off x="530352" y="576072"/>
            <a:ext cx="10881360" cy="457200"/>
          </a:xfrm>
          <a:prstGeom prst="rect">
            <a:avLst/>
          </a:prstGeom>
          <a:noFill/>
        </p:spPr>
        <p:txBody>
          <a:bodyPr wrap="square" anchor="t">
            <a:spAutoFit/>
          </a:bodyPr>
          <a:lstStyle/>
          <a:p>
            <a:pPr algn="l"/>
            <a:r>
              <a:rPr sz="3100" b="1">
                <a:solidFill>
                  <a:srgbClr val="0F2318"/>
                </a:solidFill>
                <a:latin typeface="Aptos"/>
              </a:rPr>
              <a:t>Statement of Objectives</a:t>
            </a:r>
          </a:p>
        </p:txBody>
      </p:sp>
      <p:sp>
        <p:nvSpPr>
          <p:cNvPr id="5" name="Rectangle 4"/>
          <p:cNvSpPr/>
          <p:nvPr/>
        </p:nvSpPr>
        <p:spPr>
          <a:xfrm>
            <a:off x="530352" y="1097280"/>
            <a:ext cx="640080" cy="41148"/>
          </a:xfrm>
          <a:prstGeom prst="rect">
            <a:avLst/>
          </a:prstGeom>
          <a:solidFill>
            <a:srgbClr val="2D6A4F"/>
          </a:solidFill>
          <a:ln>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30352" y="1371600"/>
            <a:ext cx="11128248" cy="1344168"/>
          </a:xfrm>
          <a:prstGeom prst="roundRect">
            <a:avLst>
              <a:gd name="adj" fmla="val 12000"/>
            </a:avLst>
          </a:prstGeom>
          <a:solidFill>
            <a:srgbClr val="D8F3DC"/>
          </a:solidFill>
          <a:ln>
            <a:solidFill>
              <a:srgbClr val="CF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30352" y="1371600"/>
            <a:ext cx="50292" cy="1344168"/>
          </a:xfrm>
          <a:prstGeom prst="rect">
            <a:avLst/>
          </a:prstGeom>
          <a:solidFill>
            <a:srgbClr val="2D6A4F"/>
          </a:solidFill>
          <a:ln>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94944" y="1472184"/>
            <a:ext cx="10835640" cy="1107996"/>
          </a:xfrm>
          <a:prstGeom prst="rect">
            <a:avLst/>
          </a:prstGeom>
          <a:noFill/>
        </p:spPr>
        <p:txBody>
          <a:bodyPr wrap="square" anchor="t">
            <a:spAutoFit/>
          </a:bodyPr>
          <a:lstStyle/>
          <a:p>
            <a:pPr algn="l"/>
            <a:r>
              <a:rPr sz="2200" b="0" dirty="0">
                <a:solidFill>
                  <a:srgbClr val="0F2318"/>
                </a:solidFill>
                <a:latin typeface="Aptos"/>
              </a:rPr>
              <a:t>General objective: To develop an image processing system that automatically detects and quantifies mangrove cover change over time in </a:t>
            </a:r>
            <a:r>
              <a:rPr sz="2200" b="0" dirty="0" err="1">
                <a:solidFill>
                  <a:srgbClr val="0F2318"/>
                </a:solidFill>
                <a:latin typeface="Aptos"/>
              </a:rPr>
              <a:t>Aringay</a:t>
            </a:r>
            <a:r>
              <a:rPr sz="2200" b="0" dirty="0">
                <a:solidFill>
                  <a:srgbClr val="0F2318"/>
                </a:solidFill>
                <a:latin typeface="Aptos"/>
              </a:rPr>
              <a:t>, La Union, using satellite imagery and deep learning–based segmentation.</a:t>
            </a:r>
          </a:p>
        </p:txBody>
      </p:sp>
      <p:sp>
        <p:nvSpPr>
          <p:cNvPr id="11" name="Rounded Rectangle 10"/>
          <p:cNvSpPr/>
          <p:nvPr/>
        </p:nvSpPr>
        <p:spPr>
          <a:xfrm>
            <a:off x="406908" y="3314699"/>
            <a:ext cx="11128248" cy="2852835"/>
          </a:xfrm>
          <a:prstGeom prst="roundRect">
            <a:avLst>
              <a:gd name="adj" fmla="val 12000"/>
            </a:avLst>
          </a:prstGeom>
          <a:solidFill>
            <a:srgbClr val="EEF7F0"/>
          </a:solidFill>
          <a:ln>
            <a:solidFill>
              <a:srgbClr val="CF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TextBox 11"/>
          <p:cNvSpPr txBox="1"/>
          <p:nvPr/>
        </p:nvSpPr>
        <p:spPr>
          <a:xfrm>
            <a:off x="825198" y="3555136"/>
            <a:ext cx="3662825" cy="430887"/>
          </a:xfrm>
          <a:prstGeom prst="rect">
            <a:avLst/>
          </a:prstGeom>
          <a:noFill/>
        </p:spPr>
        <p:txBody>
          <a:bodyPr wrap="square" anchor="t">
            <a:spAutoFit/>
          </a:bodyPr>
          <a:lstStyle/>
          <a:p>
            <a:pPr algn="l"/>
            <a:r>
              <a:rPr sz="2200" b="1" dirty="0">
                <a:solidFill>
                  <a:srgbClr val="1B4332"/>
                </a:solidFill>
                <a:latin typeface="Aptos"/>
              </a:rPr>
              <a:t>SPECIFIC OBJECTIVES</a:t>
            </a:r>
          </a:p>
        </p:txBody>
      </p:sp>
      <p:sp>
        <p:nvSpPr>
          <p:cNvPr id="13" name="Rounded Rectangle 12"/>
          <p:cNvSpPr/>
          <p:nvPr/>
        </p:nvSpPr>
        <p:spPr>
          <a:xfrm>
            <a:off x="841154" y="4104524"/>
            <a:ext cx="310896" cy="310896"/>
          </a:xfrm>
          <a:prstGeom prst="roundRect">
            <a:avLst>
              <a:gd name="adj" fmla="val 12000"/>
            </a:avLst>
          </a:prstGeom>
          <a:solidFill>
            <a:srgbClr val="2D6A4F"/>
          </a:solidFill>
          <a:ln>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1154" y="4140913"/>
            <a:ext cx="310896" cy="164592"/>
          </a:xfrm>
          <a:prstGeom prst="rect">
            <a:avLst/>
          </a:prstGeom>
          <a:noFill/>
        </p:spPr>
        <p:txBody>
          <a:bodyPr wrap="square" anchor="t">
            <a:spAutoFit/>
          </a:bodyPr>
          <a:lstStyle/>
          <a:p>
            <a:pPr algn="ctr"/>
            <a:r>
              <a:rPr sz="1100" b="1">
                <a:solidFill>
                  <a:srgbClr val="FFFFFF"/>
                </a:solidFill>
                <a:latin typeface="Aptos"/>
              </a:rPr>
              <a:t>1</a:t>
            </a:r>
          </a:p>
        </p:txBody>
      </p:sp>
      <p:sp>
        <p:nvSpPr>
          <p:cNvPr id="15" name="TextBox 14"/>
          <p:cNvSpPr txBox="1"/>
          <p:nvPr/>
        </p:nvSpPr>
        <p:spPr>
          <a:xfrm>
            <a:off x="1282399" y="4053484"/>
            <a:ext cx="9966960" cy="430887"/>
          </a:xfrm>
          <a:prstGeom prst="rect">
            <a:avLst/>
          </a:prstGeom>
          <a:noFill/>
        </p:spPr>
        <p:txBody>
          <a:bodyPr wrap="square" anchor="t">
            <a:spAutoFit/>
          </a:bodyPr>
          <a:lstStyle/>
          <a:p>
            <a:pPr algn="l"/>
            <a:r>
              <a:rPr sz="2200" b="0" dirty="0">
                <a:solidFill>
                  <a:srgbClr val="0F2318"/>
                </a:solidFill>
                <a:latin typeface="Aptos"/>
              </a:rPr>
              <a:t>Collect a localized mangrove dataset</a:t>
            </a:r>
          </a:p>
        </p:txBody>
      </p:sp>
      <p:sp>
        <p:nvSpPr>
          <p:cNvPr id="16" name="Rounded Rectangle 15"/>
          <p:cNvSpPr/>
          <p:nvPr/>
        </p:nvSpPr>
        <p:spPr>
          <a:xfrm>
            <a:off x="843487" y="4765882"/>
            <a:ext cx="310896" cy="310896"/>
          </a:xfrm>
          <a:prstGeom prst="roundRect">
            <a:avLst>
              <a:gd name="adj" fmla="val 12000"/>
            </a:avLst>
          </a:prstGeom>
          <a:solidFill>
            <a:srgbClr val="2D6A4F"/>
          </a:solidFill>
          <a:ln>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43487" y="4802271"/>
            <a:ext cx="310896" cy="164592"/>
          </a:xfrm>
          <a:prstGeom prst="rect">
            <a:avLst/>
          </a:prstGeom>
          <a:noFill/>
        </p:spPr>
        <p:txBody>
          <a:bodyPr wrap="square" anchor="t">
            <a:spAutoFit/>
          </a:bodyPr>
          <a:lstStyle/>
          <a:p>
            <a:pPr algn="ctr"/>
            <a:r>
              <a:rPr sz="1100" b="1">
                <a:solidFill>
                  <a:srgbClr val="FFFFFF"/>
                </a:solidFill>
                <a:latin typeface="Aptos"/>
              </a:rPr>
              <a:t>2</a:t>
            </a:r>
          </a:p>
        </p:txBody>
      </p:sp>
      <p:sp>
        <p:nvSpPr>
          <p:cNvPr id="18" name="TextBox 17"/>
          <p:cNvSpPr txBox="1"/>
          <p:nvPr/>
        </p:nvSpPr>
        <p:spPr>
          <a:xfrm>
            <a:off x="1282399" y="4705886"/>
            <a:ext cx="9966960" cy="430887"/>
          </a:xfrm>
          <a:prstGeom prst="rect">
            <a:avLst/>
          </a:prstGeom>
          <a:noFill/>
        </p:spPr>
        <p:txBody>
          <a:bodyPr wrap="square" anchor="t">
            <a:spAutoFit/>
          </a:bodyPr>
          <a:lstStyle/>
          <a:p>
            <a:pPr algn="l"/>
            <a:r>
              <a:rPr sz="2200" b="0" dirty="0">
                <a:solidFill>
                  <a:srgbClr val="0F2318"/>
                </a:solidFill>
                <a:latin typeface="Aptos"/>
              </a:rPr>
              <a:t>Train the mangrove gain-and-loss detection model using U-Net</a:t>
            </a:r>
          </a:p>
        </p:txBody>
      </p:sp>
      <p:sp>
        <p:nvSpPr>
          <p:cNvPr id="19" name="Rounded Rectangle 18"/>
          <p:cNvSpPr/>
          <p:nvPr/>
        </p:nvSpPr>
        <p:spPr>
          <a:xfrm>
            <a:off x="841154" y="5428535"/>
            <a:ext cx="310896" cy="310896"/>
          </a:xfrm>
          <a:prstGeom prst="roundRect">
            <a:avLst>
              <a:gd name="adj" fmla="val 12000"/>
            </a:avLst>
          </a:prstGeom>
          <a:solidFill>
            <a:srgbClr val="2D6A4F"/>
          </a:solidFill>
          <a:ln>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41154" y="5464924"/>
            <a:ext cx="310896" cy="164592"/>
          </a:xfrm>
          <a:prstGeom prst="rect">
            <a:avLst/>
          </a:prstGeom>
          <a:noFill/>
        </p:spPr>
        <p:txBody>
          <a:bodyPr wrap="square" anchor="t">
            <a:spAutoFit/>
          </a:bodyPr>
          <a:lstStyle/>
          <a:p>
            <a:pPr algn="ctr"/>
            <a:r>
              <a:rPr sz="1100" b="1" dirty="0">
                <a:solidFill>
                  <a:srgbClr val="FFFFFF"/>
                </a:solidFill>
                <a:latin typeface="Aptos"/>
              </a:rPr>
              <a:t>3</a:t>
            </a:r>
          </a:p>
        </p:txBody>
      </p:sp>
      <p:sp>
        <p:nvSpPr>
          <p:cNvPr id="21" name="TextBox 20"/>
          <p:cNvSpPr txBox="1"/>
          <p:nvPr/>
        </p:nvSpPr>
        <p:spPr>
          <a:xfrm>
            <a:off x="1282399" y="5281989"/>
            <a:ext cx="9966960" cy="769441"/>
          </a:xfrm>
          <a:prstGeom prst="rect">
            <a:avLst/>
          </a:prstGeom>
          <a:noFill/>
        </p:spPr>
        <p:txBody>
          <a:bodyPr wrap="square" anchor="t">
            <a:spAutoFit/>
          </a:bodyPr>
          <a:lstStyle/>
          <a:p>
            <a:pPr algn="l"/>
            <a:r>
              <a:rPr sz="2200" b="0" dirty="0">
                <a:solidFill>
                  <a:srgbClr val="0F2318"/>
                </a:solidFill>
                <a:latin typeface="Aptos"/>
              </a:rPr>
              <a:t>Evaluate model performance in terms of F1-score, Intersection over Union (</a:t>
            </a:r>
            <a:r>
              <a:rPr sz="2200" b="0" dirty="0" err="1">
                <a:solidFill>
                  <a:srgbClr val="0F2318"/>
                </a:solidFill>
                <a:latin typeface="Aptos"/>
              </a:rPr>
              <a:t>IoU</a:t>
            </a:r>
            <a:r>
              <a:rPr sz="2200" b="0" dirty="0">
                <a:solidFill>
                  <a:srgbClr val="0F2318"/>
                </a:solidFill>
                <a:latin typeface="Aptos"/>
              </a:rPr>
              <a:t>), and mean Average Precision (</a:t>
            </a:r>
            <a:r>
              <a:rPr sz="2200" b="0" dirty="0" err="1">
                <a:solidFill>
                  <a:srgbClr val="0F2318"/>
                </a:solidFill>
                <a:latin typeface="Aptos"/>
              </a:rPr>
              <a:t>mAP</a:t>
            </a:r>
            <a:r>
              <a:rPr sz="2200" b="0" dirty="0">
                <a:solidFill>
                  <a:srgbClr val="0F2318"/>
                </a:solidFill>
                <a:latin typeface="Aptos"/>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0E7D53-0F5C-3EF8-BBE6-864288F8E86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E456574-A0E8-03DB-52F0-7AE5DF0FC824}"/>
              </a:ext>
            </a:extLst>
          </p:cNvPr>
          <p:cNvSpPr/>
          <p:nvPr/>
        </p:nvSpPr>
        <p:spPr>
          <a:xfrm>
            <a:off x="0" y="0"/>
            <a:ext cx="12191695" cy="73152"/>
          </a:xfrm>
          <a:prstGeom prst="rect">
            <a:avLst/>
          </a:prstGeom>
          <a:solidFill>
            <a:srgbClr val="2D6A4F"/>
          </a:solidFill>
          <a:ln>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28869701-FF18-5173-5FA7-35269C7DF173}"/>
              </a:ext>
            </a:extLst>
          </p:cNvPr>
          <p:cNvSpPr txBox="1"/>
          <p:nvPr/>
        </p:nvSpPr>
        <p:spPr>
          <a:xfrm>
            <a:off x="530352" y="310896"/>
            <a:ext cx="5029200" cy="284693"/>
          </a:xfrm>
          <a:prstGeom prst="rect">
            <a:avLst/>
          </a:prstGeom>
          <a:noFill/>
        </p:spPr>
        <p:txBody>
          <a:bodyPr wrap="square" anchor="t">
            <a:spAutoFit/>
          </a:bodyPr>
          <a:lstStyle/>
          <a:p>
            <a:pPr algn="l"/>
            <a:r>
              <a:rPr lang="en-PH" sz="1250" b="1" dirty="0">
                <a:solidFill>
                  <a:srgbClr val="2D6A4F"/>
                </a:solidFill>
                <a:latin typeface="Aptos"/>
              </a:rPr>
              <a:t>TIME and PLACE</a:t>
            </a:r>
            <a:endParaRPr sz="1250" b="1" dirty="0">
              <a:solidFill>
                <a:srgbClr val="2D6A4F"/>
              </a:solidFill>
              <a:latin typeface="Aptos"/>
            </a:endParaRPr>
          </a:p>
        </p:txBody>
      </p:sp>
      <p:sp>
        <p:nvSpPr>
          <p:cNvPr id="4" name="TextBox 3">
            <a:extLst>
              <a:ext uri="{FF2B5EF4-FFF2-40B4-BE49-F238E27FC236}">
                <a16:creationId xmlns:a16="http://schemas.microsoft.com/office/drawing/2014/main" id="{13A79F0E-A1C3-E4D1-641C-1F037397338F}"/>
              </a:ext>
            </a:extLst>
          </p:cNvPr>
          <p:cNvSpPr txBox="1"/>
          <p:nvPr/>
        </p:nvSpPr>
        <p:spPr>
          <a:xfrm>
            <a:off x="530352" y="576072"/>
            <a:ext cx="10881360" cy="569387"/>
          </a:xfrm>
          <a:prstGeom prst="rect">
            <a:avLst/>
          </a:prstGeom>
          <a:noFill/>
        </p:spPr>
        <p:txBody>
          <a:bodyPr wrap="square" anchor="t">
            <a:spAutoFit/>
          </a:bodyPr>
          <a:lstStyle/>
          <a:p>
            <a:pPr algn="l"/>
            <a:r>
              <a:rPr lang="en-PH" sz="3100" b="1" dirty="0">
                <a:solidFill>
                  <a:srgbClr val="0F2318"/>
                </a:solidFill>
                <a:latin typeface="Aptos"/>
              </a:rPr>
              <a:t>SATELLITE IMAGE</a:t>
            </a:r>
          </a:p>
        </p:txBody>
      </p:sp>
      <p:sp>
        <p:nvSpPr>
          <p:cNvPr id="5" name="Rectangle 4">
            <a:extLst>
              <a:ext uri="{FF2B5EF4-FFF2-40B4-BE49-F238E27FC236}">
                <a16:creationId xmlns:a16="http://schemas.microsoft.com/office/drawing/2014/main" id="{C17F22CB-B91F-7118-9C6C-95EA8F45E184}"/>
              </a:ext>
            </a:extLst>
          </p:cNvPr>
          <p:cNvSpPr/>
          <p:nvPr/>
        </p:nvSpPr>
        <p:spPr>
          <a:xfrm>
            <a:off x="530352" y="1097280"/>
            <a:ext cx="640080" cy="41148"/>
          </a:xfrm>
          <a:prstGeom prst="rect">
            <a:avLst/>
          </a:prstGeom>
          <a:solidFill>
            <a:srgbClr val="2D6A4F"/>
          </a:solidFill>
          <a:ln>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49" name="Group 48">
            <a:extLst>
              <a:ext uri="{FF2B5EF4-FFF2-40B4-BE49-F238E27FC236}">
                <a16:creationId xmlns:a16="http://schemas.microsoft.com/office/drawing/2014/main" id="{ADE8F127-0054-40D6-D70F-70B937374AEE}"/>
              </a:ext>
            </a:extLst>
          </p:cNvPr>
          <p:cNvGrpSpPr/>
          <p:nvPr/>
        </p:nvGrpSpPr>
        <p:grpSpPr>
          <a:xfrm>
            <a:off x="515620" y="1061333"/>
            <a:ext cx="10881360" cy="5568540"/>
            <a:chOff x="748066" y="1097942"/>
            <a:chExt cx="10881360" cy="5568540"/>
          </a:xfrm>
        </p:grpSpPr>
        <p:grpSp>
          <p:nvGrpSpPr>
            <p:cNvPr id="44" name="Group 43">
              <a:extLst>
                <a:ext uri="{FF2B5EF4-FFF2-40B4-BE49-F238E27FC236}">
                  <a16:creationId xmlns:a16="http://schemas.microsoft.com/office/drawing/2014/main" id="{9D59E087-C14E-270C-CFD8-5B4631945093}"/>
                </a:ext>
              </a:extLst>
            </p:cNvPr>
            <p:cNvGrpSpPr/>
            <p:nvPr/>
          </p:nvGrpSpPr>
          <p:grpSpPr>
            <a:xfrm>
              <a:off x="748066" y="1640119"/>
              <a:ext cx="10881360" cy="5026363"/>
              <a:chOff x="530352" y="1391587"/>
              <a:chExt cx="10881360" cy="5026363"/>
            </a:xfrm>
          </p:grpSpPr>
          <p:pic>
            <p:nvPicPr>
              <p:cNvPr id="39" name="Picture 38">
                <a:extLst>
                  <a:ext uri="{FF2B5EF4-FFF2-40B4-BE49-F238E27FC236}">
                    <a16:creationId xmlns:a16="http://schemas.microsoft.com/office/drawing/2014/main" id="{85457F81-69EC-09AB-B6FA-2509B5C47FF9}"/>
                  </a:ext>
                </a:extLst>
              </p:cNvPr>
              <p:cNvPicPr>
                <a:picLocks noChangeAspect="1"/>
              </p:cNvPicPr>
              <p:nvPr/>
            </p:nvPicPr>
            <p:blipFill>
              <a:blip r:embed="rId3"/>
              <a:srcRect r="339"/>
              <a:stretch>
                <a:fillRect/>
              </a:stretch>
            </p:blipFill>
            <p:spPr>
              <a:xfrm>
                <a:off x="530352" y="1391587"/>
                <a:ext cx="4534097" cy="4991533"/>
              </a:xfrm>
              <a:prstGeom prst="rect">
                <a:avLst/>
              </a:prstGeom>
            </p:spPr>
          </p:pic>
          <p:pic>
            <p:nvPicPr>
              <p:cNvPr id="40" name="Picture 39">
                <a:extLst>
                  <a:ext uri="{FF2B5EF4-FFF2-40B4-BE49-F238E27FC236}">
                    <a16:creationId xmlns:a16="http://schemas.microsoft.com/office/drawing/2014/main" id="{F875C28D-AE1E-6B9B-8E6F-B7452A66A643}"/>
                  </a:ext>
                </a:extLst>
              </p:cNvPr>
              <p:cNvPicPr>
                <a:picLocks noChangeAspect="1"/>
              </p:cNvPicPr>
              <p:nvPr/>
            </p:nvPicPr>
            <p:blipFill>
              <a:blip r:embed="rId4"/>
              <a:stretch>
                <a:fillRect/>
              </a:stretch>
            </p:blipFill>
            <p:spPr>
              <a:xfrm>
                <a:off x="6907902" y="1418797"/>
                <a:ext cx="4503810" cy="4999153"/>
              </a:xfrm>
              <a:prstGeom prst="rect">
                <a:avLst/>
              </a:prstGeom>
            </p:spPr>
          </p:pic>
        </p:grpSp>
        <p:sp>
          <p:nvSpPr>
            <p:cNvPr id="46" name="TextBox 45">
              <a:extLst>
                <a:ext uri="{FF2B5EF4-FFF2-40B4-BE49-F238E27FC236}">
                  <a16:creationId xmlns:a16="http://schemas.microsoft.com/office/drawing/2014/main" id="{0E22F735-DE6C-96E6-D156-7556CE9D63DC}"/>
                </a:ext>
              </a:extLst>
            </p:cNvPr>
            <p:cNvSpPr txBox="1"/>
            <p:nvPr/>
          </p:nvSpPr>
          <p:spPr>
            <a:xfrm>
              <a:off x="2419593" y="1097942"/>
              <a:ext cx="1082911" cy="569387"/>
            </a:xfrm>
            <a:prstGeom prst="rect">
              <a:avLst/>
            </a:prstGeom>
            <a:noFill/>
          </p:spPr>
          <p:txBody>
            <a:bodyPr wrap="square" anchor="t">
              <a:spAutoFit/>
            </a:bodyPr>
            <a:lstStyle/>
            <a:p>
              <a:pPr algn="l"/>
              <a:r>
                <a:rPr lang="en-PH" sz="3100" b="1" dirty="0">
                  <a:solidFill>
                    <a:srgbClr val="0F2318"/>
                  </a:solidFill>
                  <a:latin typeface="Aptos"/>
                </a:rPr>
                <a:t>2019</a:t>
              </a:r>
            </a:p>
          </p:txBody>
        </p:sp>
        <p:sp>
          <p:nvSpPr>
            <p:cNvPr id="48" name="TextBox 47">
              <a:extLst>
                <a:ext uri="{FF2B5EF4-FFF2-40B4-BE49-F238E27FC236}">
                  <a16:creationId xmlns:a16="http://schemas.microsoft.com/office/drawing/2014/main" id="{0ABC0307-155B-82E8-5204-8F00449F595C}"/>
                </a:ext>
              </a:extLst>
            </p:cNvPr>
            <p:cNvSpPr txBox="1"/>
            <p:nvPr/>
          </p:nvSpPr>
          <p:spPr>
            <a:xfrm>
              <a:off x="8836065" y="1097942"/>
              <a:ext cx="1082911" cy="569387"/>
            </a:xfrm>
            <a:prstGeom prst="rect">
              <a:avLst/>
            </a:prstGeom>
            <a:noFill/>
          </p:spPr>
          <p:txBody>
            <a:bodyPr wrap="square" anchor="t">
              <a:spAutoFit/>
            </a:bodyPr>
            <a:lstStyle/>
            <a:p>
              <a:pPr algn="l"/>
              <a:r>
                <a:rPr lang="en-PH" sz="3100" b="1" dirty="0">
                  <a:solidFill>
                    <a:srgbClr val="0F2318"/>
                  </a:solidFill>
                  <a:latin typeface="Aptos"/>
                </a:rPr>
                <a:t>2024</a:t>
              </a:r>
            </a:p>
          </p:txBody>
        </p:sp>
      </p:grpSp>
      <p:grpSp>
        <p:nvGrpSpPr>
          <p:cNvPr id="43" name="Group 42">
            <a:extLst>
              <a:ext uri="{FF2B5EF4-FFF2-40B4-BE49-F238E27FC236}">
                <a16:creationId xmlns:a16="http://schemas.microsoft.com/office/drawing/2014/main" id="{29687148-E737-F140-74D7-E1341A0554D1}"/>
              </a:ext>
            </a:extLst>
          </p:cNvPr>
          <p:cNvGrpSpPr/>
          <p:nvPr/>
        </p:nvGrpSpPr>
        <p:grpSpPr>
          <a:xfrm>
            <a:off x="530352" y="1647150"/>
            <a:ext cx="10866628" cy="4999153"/>
            <a:chOff x="530352" y="1389680"/>
            <a:chExt cx="10866628" cy="4999153"/>
          </a:xfrm>
        </p:grpSpPr>
        <p:pic>
          <p:nvPicPr>
            <p:cNvPr id="41" name="Picture 40">
              <a:extLst>
                <a:ext uri="{FF2B5EF4-FFF2-40B4-BE49-F238E27FC236}">
                  <a16:creationId xmlns:a16="http://schemas.microsoft.com/office/drawing/2014/main" id="{4FE73113-AE6D-2A26-2BEF-FA4068964D6E}"/>
                </a:ext>
              </a:extLst>
            </p:cNvPr>
            <p:cNvPicPr>
              <a:picLocks noChangeAspect="1"/>
            </p:cNvPicPr>
            <p:nvPr/>
          </p:nvPicPr>
          <p:blipFill>
            <a:blip r:embed="rId5"/>
            <a:stretch>
              <a:fillRect/>
            </a:stretch>
          </p:blipFill>
          <p:spPr>
            <a:xfrm>
              <a:off x="530352" y="1389680"/>
              <a:ext cx="4511431" cy="4999153"/>
            </a:xfrm>
            <a:prstGeom prst="rect">
              <a:avLst/>
            </a:prstGeom>
          </p:spPr>
        </p:pic>
        <p:pic>
          <p:nvPicPr>
            <p:cNvPr id="42" name="Picture 41">
              <a:extLst>
                <a:ext uri="{FF2B5EF4-FFF2-40B4-BE49-F238E27FC236}">
                  <a16:creationId xmlns:a16="http://schemas.microsoft.com/office/drawing/2014/main" id="{997BE1F4-6971-12E8-A92F-9AB1034766D7}"/>
                </a:ext>
              </a:extLst>
            </p:cNvPr>
            <p:cNvPicPr>
              <a:picLocks noChangeAspect="1"/>
            </p:cNvPicPr>
            <p:nvPr/>
          </p:nvPicPr>
          <p:blipFill>
            <a:blip r:embed="rId6"/>
            <a:stretch>
              <a:fillRect/>
            </a:stretch>
          </p:blipFill>
          <p:spPr>
            <a:xfrm>
              <a:off x="6855066" y="1391587"/>
              <a:ext cx="4541914" cy="4976291"/>
            </a:xfrm>
            <a:prstGeom prst="rect">
              <a:avLst/>
            </a:prstGeom>
          </p:spPr>
        </p:pic>
      </p:grpSp>
    </p:spTree>
    <p:extLst>
      <p:ext uri="{BB962C8B-B14F-4D97-AF65-F5344CB8AC3E}">
        <p14:creationId xmlns:p14="http://schemas.microsoft.com/office/powerpoint/2010/main" val="1794744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E2C9C6-4101-7A71-A7B9-9E174BA9A5D9}"/>
            </a:ext>
          </a:extLst>
        </p:cNvPr>
        <p:cNvGrpSpPr/>
        <p:nvPr/>
      </p:nvGrpSpPr>
      <p:grpSpPr>
        <a:xfrm>
          <a:off x="0" y="0"/>
          <a:ext cx="0" cy="0"/>
          <a:chOff x="0" y="0"/>
          <a:chExt cx="0" cy="0"/>
        </a:xfrm>
      </p:grpSpPr>
      <p:pic>
        <p:nvPicPr>
          <p:cNvPr id="28" name="Picture 27">
            <a:extLst>
              <a:ext uri="{FF2B5EF4-FFF2-40B4-BE49-F238E27FC236}">
                <a16:creationId xmlns:a16="http://schemas.microsoft.com/office/drawing/2014/main" id="{CF45F78F-FB18-8D64-BFA3-BADCB4BFBFD2}"/>
              </a:ext>
            </a:extLst>
          </p:cNvPr>
          <p:cNvPicPr>
            <a:picLocks noChangeAspect="1"/>
          </p:cNvPicPr>
          <p:nvPr/>
        </p:nvPicPr>
        <p:blipFill>
          <a:blip r:embed="rId3"/>
          <a:srcRect r="339"/>
          <a:stretch>
            <a:fillRect/>
          </a:stretch>
        </p:blipFill>
        <p:spPr>
          <a:xfrm>
            <a:off x="4034593" y="1368725"/>
            <a:ext cx="4534097" cy="4991533"/>
          </a:xfrm>
          <a:prstGeom prst="rect">
            <a:avLst/>
          </a:prstGeom>
        </p:spPr>
      </p:pic>
      <p:pic>
        <p:nvPicPr>
          <p:cNvPr id="30" name="Picture 29">
            <a:extLst>
              <a:ext uri="{FF2B5EF4-FFF2-40B4-BE49-F238E27FC236}">
                <a16:creationId xmlns:a16="http://schemas.microsoft.com/office/drawing/2014/main" id="{5F8645C7-A6C4-4CE8-534C-FF28D8C39DE3}"/>
              </a:ext>
            </a:extLst>
          </p:cNvPr>
          <p:cNvPicPr>
            <a:picLocks noChangeAspect="1"/>
          </p:cNvPicPr>
          <p:nvPr/>
        </p:nvPicPr>
        <p:blipFill>
          <a:blip r:embed="rId4"/>
          <a:stretch>
            <a:fillRect/>
          </a:stretch>
        </p:blipFill>
        <p:spPr>
          <a:xfrm>
            <a:off x="4064880" y="1410635"/>
            <a:ext cx="4503810" cy="4999153"/>
          </a:xfrm>
          <a:prstGeom prst="rect">
            <a:avLst/>
          </a:prstGeom>
        </p:spPr>
      </p:pic>
      <p:pic>
        <p:nvPicPr>
          <p:cNvPr id="32" name="Picture 31">
            <a:extLst>
              <a:ext uri="{FF2B5EF4-FFF2-40B4-BE49-F238E27FC236}">
                <a16:creationId xmlns:a16="http://schemas.microsoft.com/office/drawing/2014/main" id="{A303451E-FC1E-BEA5-72D9-F4879A820DF2}"/>
              </a:ext>
            </a:extLst>
          </p:cNvPr>
          <p:cNvPicPr>
            <a:picLocks noChangeAspect="1"/>
          </p:cNvPicPr>
          <p:nvPr/>
        </p:nvPicPr>
        <p:blipFill>
          <a:blip r:embed="rId5"/>
          <a:stretch>
            <a:fillRect/>
          </a:stretch>
        </p:blipFill>
        <p:spPr>
          <a:xfrm>
            <a:off x="4079612" y="1368725"/>
            <a:ext cx="4511431" cy="4999153"/>
          </a:xfrm>
          <a:prstGeom prst="rect">
            <a:avLst/>
          </a:prstGeom>
        </p:spPr>
      </p:pic>
      <p:pic>
        <p:nvPicPr>
          <p:cNvPr id="34" name="Picture 33">
            <a:extLst>
              <a:ext uri="{FF2B5EF4-FFF2-40B4-BE49-F238E27FC236}">
                <a16:creationId xmlns:a16="http://schemas.microsoft.com/office/drawing/2014/main" id="{1574DF13-0894-AF41-FC43-42C2D2E06A11}"/>
              </a:ext>
            </a:extLst>
          </p:cNvPr>
          <p:cNvPicPr>
            <a:picLocks noChangeAspect="1"/>
          </p:cNvPicPr>
          <p:nvPr/>
        </p:nvPicPr>
        <p:blipFill>
          <a:blip r:embed="rId6"/>
          <a:srcRect r="839"/>
          <a:stretch>
            <a:fillRect/>
          </a:stretch>
        </p:blipFill>
        <p:spPr>
          <a:xfrm>
            <a:off x="4079612" y="1412542"/>
            <a:ext cx="4503810" cy="4976291"/>
          </a:xfrm>
          <a:prstGeom prst="rect">
            <a:avLst/>
          </a:prstGeom>
        </p:spPr>
      </p:pic>
      <p:sp>
        <p:nvSpPr>
          <p:cNvPr id="2" name="Rectangle 1">
            <a:extLst>
              <a:ext uri="{FF2B5EF4-FFF2-40B4-BE49-F238E27FC236}">
                <a16:creationId xmlns:a16="http://schemas.microsoft.com/office/drawing/2014/main" id="{A68344FC-DD38-73A3-DDC6-0860991602D9}"/>
              </a:ext>
            </a:extLst>
          </p:cNvPr>
          <p:cNvSpPr/>
          <p:nvPr/>
        </p:nvSpPr>
        <p:spPr>
          <a:xfrm>
            <a:off x="0" y="0"/>
            <a:ext cx="12191695" cy="73152"/>
          </a:xfrm>
          <a:prstGeom prst="rect">
            <a:avLst/>
          </a:prstGeom>
          <a:solidFill>
            <a:srgbClr val="2D6A4F"/>
          </a:solidFill>
          <a:ln>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FB136F34-5901-9309-AE09-0918C9D9B931}"/>
              </a:ext>
            </a:extLst>
          </p:cNvPr>
          <p:cNvSpPr txBox="1"/>
          <p:nvPr/>
        </p:nvSpPr>
        <p:spPr>
          <a:xfrm>
            <a:off x="530352" y="310896"/>
            <a:ext cx="5029200" cy="284693"/>
          </a:xfrm>
          <a:prstGeom prst="rect">
            <a:avLst/>
          </a:prstGeom>
          <a:noFill/>
        </p:spPr>
        <p:txBody>
          <a:bodyPr wrap="square" anchor="t">
            <a:spAutoFit/>
          </a:bodyPr>
          <a:lstStyle/>
          <a:p>
            <a:pPr algn="l"/>
            <a:r>
              <a:rPr lang="en-PH" sz="1250" b="1" dirty="0">
                <a:solidFill>
                  <a:srgbClr val="2D6A4F"/>
                </a:solidFill>
                <a:latin typeface="Aptos"/>
              </a:rPr>
              <a:t>COMPARISON</a:t>
            </a:r>
            <a:endParaRPr sz="1250" b="1" dirty="0">
              <a:solidFill>
                <a:srgbClr val="2D6A4F"/>
              </a:solidFill>
              <a:latin typeface="Aptos"/>
            </a:endParaRPr>
          </a:p>
        </p:txBody>
      </p:sp>
      <p:sp>
        <p:nvSpPr>
          <p:cNvPr id="4" name="TextBox 3">
            <a:extLst>
              <a:ext uri="{FF2B5EF4-FFF2-40B4-BE49-F238E27FC236}">
                <a16:creationId xmlns:a16="http://schemas.microsoft.com/office/drawing/2014/main" id="{F3B8C7EC-2DB6-DAC0-9658-999B108A3228}"/>
              </a:ext>
            </a:extLst>
          </p:cNvPr>
          <p:cNvSpPr txBox="1"/>
          <p:nvPr/>
        </p:nvSpPr>
        <p:spPr>
          <a:xfrm>
            <a:off x="530352" y="576072"/>
            <a:ext cx="10881360" cy="569387"/>
          </a:xfrm>
          <a:prstGeom prst="rect">
            <a:avLst/>
          </a:prstGeom>
          <a:noFill/>
        </p:spPr>
        <p:txBody>
          <a:bodyPr wrap="square" anchor="t">
            <a:spAutoFit/>
          </a:bodyPr>
          <a:lstStyle/>
          <a:p>
            <a:pPr algn="l"/>
            <a:r>
              <a:rPr lang="en-PH" sz="3100" b="1" dirty="0">
                <a:solidFill>
                  <a:srgbClr val="0F2318"/>
                </a:solidFill>
                <a:latin typeface="Aptos"/>
              </a:rPr>
              <a:t>SATELLITE IMAGE</a:t>
            </a:r>
          </a:p>
        </p:txBody>
      </p:sp>
      <p:sp>
        <p:nvSpPr>
          <p:cNvPr id="5" name="Rectangle 4">
            <a:extLst>
              <a:ext uri="{FF2B5EF4-FFF2-40B4-BE49-F238E27FC236}">
                <a16:creationId xmlns:a16="http://schemas.microsoft.com/office/drawing/2014/main" id="{F904396A-3A43-0CC4-A56A-0F5C3DB2B6BF}"/>
              </a:ext>
            </a:extLst>
          </p:cNvPr>
          <p:cNvSpPr/>
          <p:nvPr/>
        </p:nvSpPr>
        <p:spPr>
          <a:xfrm>
            <a:off x="530352" y="1097280"/>
            <a:ext cx="640080" cy="41148"/>
          </a:xfrm>
          <a:prstGeom prst="rect">
            <a:avLst/>
          </a:prstGeom>
          <a:solidFill>
            <a:srgbClr val="2D6A4F"/>
          </a:solidFill>
          <a:ln>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30447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2D6A4F"/>
          </a:solidFill>
          <a:ln>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310896"/>
            <a:ext cx="5029200" cy="228600"/>
          </a:xfrm>
          <a:prstGeom prst="rect">
            <a:avLst/>
          </a:prstGeom>
          <a:noFill/>
        </p:spPr>
        <p:txBody>
          <a:bodyPr wrap="square" anchor="t">
            <a:spAutoFit/>
          </a:bodyPr>
          <a:lstStyle/>
          <a:p>
            <a:pPr algn="l"/>
            <a:r>
              <a:rPr sz="1250" b="1">
                <a:solidFill>
                  <a:srgbClr val="2D6A4F"/>
                </a:solidFill>
                <a:latin typeface="Aptos"/>
              </a:rPr>
              <a:t>METHODOLOGY</a:t>
            </a:r>
          </a:p>
        </p:txBody>
      </p:sp>
      <p:sp>
        <p:nvSpPr>
          <p:cNvPr id="4" name="TextBox 3"/>
          <p:cNvSpPr txBox="1"/>
          <p:nvPr/>
        </p:nvSpPr>
        <p:spPr>
          <a:xfrm>
            <a:off x="530352" y="576072"/>
            <a:ext cx="10881360" cy="569387"/>
          </a:xfrm>
          <a:prstGeom prst="rect">
            <a:avLst/>
          </a:prstGeom>
          <a:noFill/>
        </p:spPr>
        <p:txBody>
          <a:bodyPr wrap="square" anchor="t">
            <a:spAutoFit/>
          </a:bodyPr>
          <a:lstStyle/>
          <a:p>
            <a:pPr algn="l"/>
            <a:r>
              <a:rPr sz="3100" b="1" dirty="0">
                <a:solidFill>
                  <a:srgbClr val="0F2318"/>
                </a:solidFill>
                <a:latin typeface="Aptos"/>
              </a:rPr>
              <a:t>Research Design</a:t>
            </a:r>
          </a:p>
        </p:txBody>
      </p:sp>
      <p:sp>
        <p:nvSpPr>
          <p:cNvPr id="5" name="Rectangle 4"/>
          <p:cNvSpPr/>
          <p:nvPr/>
        </p:nvSpPr>
        <p:spPr>
          <a:xfrm>
            <a:off x="530352" y="1097280"/>
            <a:ext cx="640080" cy="41148"/>
          </a:xfrm>
          <a:prstGeom prst="rect">
            <a:avLst/>
          </a:prstGeom>
          <a:solidFill>
            <a:srgbClr val="2D6A4F"/>
          </a:solidFill>
          <a:ln>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a:extLst>
              <a:ext uri="{FF2B5EF4-FFF2-40B4-BE49-F238E27FC236}">
                <a16:creationId xmlns:a16="http://schemas.microsoft.com/office/drawing/2014/main" id="{C1200656-998A-B2E6-385C-A55C4D7F5C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852" y="3311941"/>
            <a:ext cx="7918360" cy="3235163"/>
          </a:xfrm>
          <a:prstGeom prst="rect">
            <a:avLst/>
          </a:prstGeom>
        </p:spPr>
      </p:pic>
      <p:sp>
        <p:nvSpPr>
          <p:cNvPr id="26" name="Rounded Rectangle 8">
            <a:extLst>
              <a:ext uri="{FF2B5EF4-FFF2-40B4-BE49-F238E27FC236}">
                <a16:creationId xmlns:a16="http://schemas.microsoft.com/office/drawing/2014/main" id="{544E0543-6B31-6C9D-2068-EFC2A4456172}"/>
              </a:ext>
            </a:extLst>
          </p:cNvPr>
          <p:cNvSpPr/>
          <p:nvPr/>
        </p:nvSpPr>
        <p:spPr>
          <a:xfrm>
            <a:off x="531723" y="1348710"/>
            <a:ext cx="11128248" cy="1446550"/>
          </a:xfrm>
          <a:prstGeom prst="roundRect">
            <a:avLst>
              <a:gd name="adj" fmla="val 12000"/>
            </a:avLst>
          </a:prstGeom>
          <a:solidFill>
            <a:srgbClr val="D8F3DC"/>
          </a:solidFill>
          <a:ln>
            <a:solidFill>
              <a:srgbClr val="CF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a:extLst>
              <a:ext uri="{FF2B5EF4-FFF2-40B4-BE49-F238E27FC236}">
                <a16:creationId xmlns:a16="http://schemas.microsoft.com/office/drawing/2014/main" id="{6D3C6F92-7ACE-C484-8E0B-2BF0F15BBAA1}"/>
              </a:ext>
            </a:extLst>
          </p:cNvPr>
          <p:cNvSpPr txBox="1"/>
          <p:nvPr/>
        </p:nvSpPr>
        <p:spPr>
          <a:xfrm>
            <a:off x="531723" y="1348710"/>
            <a:ext cx="9629140" cy="1446550"/>
          </a:xfrm>
          <a:prstGeom prst="rect">
            <a:avLst/>
          </a:prstGeom>
          <a:noFill/>
        </p:spPr>
        <p:txBody>
          <a:bodyPr wrap="square">
            <a:spAutoFit/>
          </a:bodyPr>
          <a:lstStyle/>
          <a:p>
            <a:pPr marL="607228" lvl="1" indent="-303614" algn="just">
              <a:buFont typeface="Arial"/>
              <a:buChar char="•"/>
            </a:pPr>
            <a:r>
              <a:rPr lang="en-US" sz="2200" dirty="0">
                <a:solidFill>
                  <a:srgbClr val="0F2318"/>
                </a:solidFill>
                <a:latin typeface="Aptos" panose="020B0004020202020204" pitchFamily="34" charset="0"/>
                <a:ea typeface="Arial"/>
                <a:cs typeface="Arial"/>
                <a:sym typeface="Arial"/>
              </a:rPr>
              <a:t>Approach: Hybrid Experimental–Descriptive Research Design </a:t>
            </a:r>
          </a:p>
          <a:p>
            <a:pPr marL="607228" lvl="1" indent="-303614" algn="just">
              <a:buFont typeface="Arial"/>
              <a:buChar char="•"/>
            </a:pPr>
            <a:r>
              <a:rPr lang="en-US" sz="2200" dirty="0">
                <a:solidFill>
                  <a:srgbClr val="0F2318"/>
                </a:solidFill>
                <a:latin typeface="Aptos" panose="020B0004020202020204" pitchFamily="34" charset="0"/>
                <a:ea typeface="Arial"/>
                <a:cs typeface="Arial"/>
                <a:sym typeface="Arial"/>
              </a:rPr>
              <a:t>Framework: Iterative and Incremental Development (IID) </a:t>
            </a:r>
          </a:p>
          <a:p>
            <a:pPr marL="604519" lvl="1" indent="-302260" algn="just">
              <a:spcBef>
                <a:spcPct val="0"/>
              </a:spcBef>
              <a:buFont typeface="Arial"/>
              <a:buChar char="•"/>
            </a:pPr>
            <a:r>
              <a:rPr lang="en-US" sz="2200" dirty="0">
                <a:solidFill>
                  <a:srgbClr val="0F2318"/>
                </a:solidFill>
                <a:latin typeface="Aptos" panose="020B0004020202020204" pitchFamily="34" charset="0"/>
                <a:ea typeface="Arial"/>
                <a:cs typeface="Arial"/>
                <a:sym typeface="Arial"/>
              </a:rPr>
              <a:t>Purpose: Guides development through repeated cycles of building, testing, and refinement (Larman &amp; Basili, 2003; Ibrahim et al., 2020).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Rectangle 45"/>
          <p:cNvSpPr/>
          <p:nvPr/>
        </p:nvSpPr>
        <p:spPr>
          <a:xfrm>
            <a:off x="4472432" y="4866914"/>
            <a:ext cx="50292" cy="1531620"/>
          </a:xfrm>
          <a:prstGeom prst="rect">
            <a:avLst/>
          </a:prstGeom>
          <a:solidFill>
            <a:srgbClr val="2D6A4F"/>
          </a:solidFill>
          <a:ln>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4724908" y="5121261"/>
            <a:ext cx="3791204" cy="1107996"/>
          </a:xfrm>
          <a:prstGeom prst="rect">
            <a:avLst/>
          </a:prstGeom>
          <a:noFill/>
        </p:spPr>
        <p:txBody>
          <a:bodyPr wrap="square" anchor="t">
            <a:spAutoFit/>
          </a:bodyPr>
          <a:lstStyle/>
          <a:p>
            <a:pPr algn="l"/>
            <a:r>
              <a:rPr sz="2200" b="0" dirty="0">
                <a:solidFill>
                  <a:srgbClr val="0F2318"/>
                </a:solidFill>
                <a:latin typeface="Aptos"/>
              </a:rPr>
              <a:t>Iterative: labels → Phase 3 · </a:t>
            </a:r>
            <a:endParaRPr lang="en-PH" sz="2200" b="0" dirty="0">
              <a:solidFill>
                <a:srgbClr val="0F2318"/>
              </a:solidFill>
              <a:latin typeface="Aptos"/>
            </a:endParaRPr>
          </a:p>
          <a:p>
            <a:pPr algn="l"/>
            <a:r>
              <a:rPr sz="2200" b="0" dirty="0">
                <a:solidFill>
                  <a:srgbClr val="0F2318"/>
                </a:solidFill>
                <a:latin typeface="Aptos"/>
              </a:rPr>
              <a:t>preprocessing → Phase 2 ·</a:t>
            </a:r>
            <a:endParaRPr lang="en-PH" sz="2200" b="0" dirty="0">
              <a:solidFill>
                <a:srgbClr val="0F2318"/>
              </a:solidFill>
              <a:latin typeface="Aptos"/>
            </a:endParaRPr>
          </a:p>
          <a:p>
            <a:pPr algn="l"/>
            <a:r>
              <a:rPr sz="2200" b="0" dirty="0">
                <a:solidFill>
                  <a:srgbClr val="0F2318"/>
                </a:solidFill>
                <a:latin typeface="Aptos"/>
              </a:rPr>
              <a:t>training parameters → Phase 4   </a:t>
            </a:r>
            <a:endParaRPr lang="en-PH" sz="2200" b="0" dirty="0">
              <a:solidFill>
                <a:srgbClr val="0F2318"/>
              </a:solidFill>
              <a:latin typeface="Aptos"/>
            </a:endParaRPr>
          </a:p>
        </p:txBody>
      </p:sp>
      <p:sp>
        <p:nvSpPr>
          <p:cNvPr id="7" name="TextBox 6">
            <a:extLst>
              <a:ext uri="{FF2B5EF4-FFF2-40B4-BE49-F238E27FC236}">
                <a16:creationId xmlns:a16="http://schemas.microsoft.com/office/drawing/2014/main" id="{83B1B390-C0D2-BB52-D459-FA9D251AF8B9}"/>
              </a:ext>
            </a:extLst>
          </p:cNvPr>
          <p:cNvSpPr txBox="1"/>
          <p:nvPr/>
        </p:nvSpPr>
        <p:spPr>
          <a:xfrm>
            <a:off x="8718296" y="4934575"/>
            <a:ext cx="2497836" cy="1446550"/>
          </a:xfrm>
          <a:prstGeom prst="rect">
            <a:avLst/>
          </a:prstGeom>
          <a:noFill/>
        </p:spPr>
        <p:txBody>
          <a:bodyPr wrap="square" anchor="t">
            <a:spAutoFit/>
          </a:bodyPr>
          <a:lstStyle/>
          <a:p>
            <a:pPr algn="l"/>
            <a:r>
              <a:rPr sz="2200" b="0" dirty="0">
                <a:solidFill>
                  <a:srgbClr val="0F2318"/>
                </a:solidFill>
                <a:latin typeface="Aptos"/>
              </a:rPr>
              <a:t>Incremental: data → model → change detection → working prototype</a:t>
            </a:r>
          </a:p>
        </p:txBody>
      </p:sp>
      <p:pic>
        <p:nvPicPr>
          <p:cNvPr id="11" name="Picture 10">
            <a:extLst>
              <a:ext uri="{FF2B5EF4-FFF2-40B4-BE49-F238E27FC236}">
                <a16:creationId xmlns:a16="http://schemas.microsoft.com/office/drawing/2014/main" id="{4F1A77C2-BCE4-1C34-9C2A-830C29C23B21}"/>
              </a:ext>
            </a:extLst>
          </p:cNvPr>
          <p:cNvPicPr>
            <a:picLocks noChangeAspect="1"/>
          </p:cNvPicPr>
          <p:nvPr/>
        </p:nvPicPr>
        <p:blipFill>
          <a:blip r:embed="rId3"/>
          <a:stretch>
            <a:fillRect/>
          </a:stretch>
        </p:blipFill>
        <p:spPr>
          <a:xfrm>
            <a:off x="1" y="0"/>
            <a:ext cx="12191694" cy="6858000"/>
          </a:xfrm>
          <a:prstGeom prst="rect">
            <a:avLst/>
          </a:prstGeom>
        </p:spPr>
      </p:pic>
      <p:sp>
        <p:nvSpPr>
          <p:cNvPr id="3" name="TextBox 2"/>
          <p:cNvSpPr txBox="1"/>
          <p:nvPr/>
        </p:nvSpPr>
        <p:spPr>
          <a:xfrm>
            <a:off x="530352" y="310896"/>
            <a:ext cx="5029200" cy="228600"/>
          </a:xfrm>
          <a:prstGeom prst="rect">
            <a:avLst/>
          </a:prstGeom>
          <a:noFill/>
        </p:spPr>
        <p:txBody>
          <a:bodyPr wrap="square" anchor="t">
            <a:spAutoFit/>
          </a:bodyPr>
          <a:lstStyle/>
          <a:p>
            <a:pPr algn="l"/>
            <a:r>
              <a:rPr sz="1250" b="1">
                <a:solidFill>
                  <a:srgbClr val="2D6A4F"/>
                </a:solidFill>
                <a:latin typeface="Aptos"/>
              </a:rPr>
              <a:t>METHODOLOGY</a:t>
            </a:r>
          </a:p>
        </p:txBody>
      </p:sp>
      <p:sp>
        <p:nvSpPr>
          <p:cNvPr id="5" name="Rectangle 4"/>
          <p:cNvSpPr/>
          <p:nvPr/>
        </p:nvSpPr>
        <p:spPr>
          <a:xfrm>
            <a:off x="530352" y="1036320"/>
            <a:ext cx="640080" cy="41148"/>
          </a:xfrm>
          <a:prstGeom prst="rect">
            <a:avLst/>
          </a:prstGeom>
          <a:solidFill>
            <a:srgbClr val="2D6A4F"/>
          </a:solidFill>
          <a:ln>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ounded Rectangle 44"/>
          <p:cNvSpPr/>
          <p:nvPr/>
        </p:nvSpPr>
        <p:spPr>
          <a:xfrm>
            <a:off x="2403094" y="73152"/>
            <a:ext cx="7391146" cy="960120"/>
          </a:xfrm>
          <a:prstGeom prst="roundRect">
            <a:avLst>
              <a:gd name="adj" fmla="val 12000"/>
            </a:avLst>
          </a:prstGeom>
          <a:solidFill>
            <a:srgbClr val="FBFB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91695" cy="73152"/>
          </a:xfrm>
          <a:prstGeom prst="rect">
            <a:avLst/>
          </a:prstGeom>
          <a:solidFill>
            <a:srgbClr val="2D6A4F"/>
          </a:solidFill>
          <a:ln>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30352" y="576072"/>
            <a:ext cx="10881360" cy="457200"/>
          </a:xfrm>
          <a:prstGeom prst="rect">
            <a:avLst/>
          </a:prstGeom>
          <a:noFill/>
        </p:spPr>
        <p:txBody>
          <a:bodyPr wrap="square" anchor="t">
            <a:spAutoFit/>
          </a:bodyPr>
          <a:lstStyle/>
          <a:p>
            <a:pPr algn="l"/>
            <a:r>
              <a:rPr sz="3100" b="1" dirty="0">
                <a:solidFill>
                  <a:srgbClr val="0F2318"/>
                </a:solidFill>
                <a:latin typeface="Aptos"/>
              </a:rPr>
              <a:t>Research Workflow — Iterative &amp; Incremental Development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2D6A4F"/>
          </a:solidFill>
          <a:ln>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310896"/>
            <a:ext cx="5029200" cy="228600"/>
          </a:xfrm>
          <a:prstGeom prst="rect">
            <a:avLst/>
          </a:prstGeom>
          <a:noFill/>
        </p:spPr>
        <p:txBody>
          <a:bodyPr wrap="square" anchor="t">
            <a:spAutoFit/>
          </a:bodyPr>
          <a:lstStyle/>
          <a:p>
            <a:pPr algn="l"/>
            <a:r>
              <a:rPr sz="1250" b="1">
                <a:solidFill>
                  <a:srgbClr val="2D6A4F"/>
                </a:solidFill>
                <a:latin typeface="Aptos"/>
              </a:rPr>
              <a:t>MATERIALS &amp; PROCEDURES</a:t>
            </a:r>
          </a:p>
        </p:txBody>
      </p:sp>
      <p:sp>
        <p:nvSpPr>
          <p:cNvPr id="4" name="TextBox 3"/>
          <p:cNvSpPr txBox="1"/>
          <p:nvPr/>
        </p:nvSpPr>
        <p:spPr>
          <a:xfrm>
            <a:off x="530352" y="576072"/>
            <a:ext cx="10881360" cy="457200"/>
          </a:xfrm>
          <a:prstGeom prst="rect">
            <a:avLst/>
          </a:prstGeom>
          <a:noFill/>
        </p:spPr>
        <p:txBody>
          <a:bodyPr wrap="square" anchor="t">
            <a:spAutoFit/>
          </a:bodyPr>
          <a:lstStyle/>
          <a:p>
            <a:pPr algn="l"/>
            <a:r>
              <a:rPr sz="3100" b="1">
                <a:solidFill>
                  <a:srgbClr val="0F2318"/>
                </a:solidFill>
                <a:latin typeface="Aptos"/>
              </a:rPr>
              <a:t>Dataset Collection &amp; Preparation</a:t>
            </a:r>
          </a:p>
        </p:txBody>
      </p:sp>
      <p:sp>
        <p:nvSpPr>
          <p:cNvPr id="5" name="Rectangle 4"/>
          <p:cNvSpPr/>
          <p:nvPr/>
        </p:nvSpPr>
        <p:spPr>
          <a:xfrm>
            <a:off x="530352" y="1097280"/>
            <a:ext cx="640080" cy="41148"/>
          </a:xfrm>
          <a:prstGeom prst="rect">
            <a:avLst/>
          </a:prstGeom>
          <a:solidFill>
            <a:srgbClr val="2D6A4F"/>
          </a:solidFill>
          <a:ln>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30352" y="1371599"/>
            <a:ext cx="5440680" cy="5052061"/>
          </a:xfrm>
          <a:prstGeom prst="roundRect">
            <a:avLst>
              <a:gd name="adj" fmla="val 12000"/>
            </a:avLst>
          </a:prstGeom>
          <a:solidFill>
            <a:srgbClr val="EEF7F0"/>
          </a:solidFill>
          <a:ln>
            <a:solidFill>
              <a:srgbClr val="CF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94944" y="1499616"/>
            <a:ext cx="5276088" cy="430887"/>
          </a:xfrm>
          <a:prstGeom prst="rect">
            <a:avLst/>
          </a:prstGeom>
          <a:noFill/>
        </p:spPr>
        <p:txBody>
          <a:bodyPr wrap="square" anchor="t">
            <a:spAutoFit/>
          </a:bodyPr>
          <a:lstStyle/>
          <a:p>
            <a:pPr algn="l"/>
            <a:r>
              <a:rPr sz="2200" b="1" dirty="0">
                <a:solidFill>
                  <a:srgbClr val="1B4332"/>
                </a:solidFill>
                <a:latin typeface="Aptos"/>
              </a:rPr>
              <a:t>PRIMARY DATA — SENTINEL-2 IMAGERY</a:t>
            </a:r>
          </a:p>
        </p:txBody>
      </p:sp>
      <p:sp>
        <p:nvSpPr>
          <p:cNvPr id="10" name="TextBox 9"/>
          <p:cNvSpPr txBox="1"/>
          <p:nvPr/>
        </p:nvSpPr>
        <p:spPr>
          <a:xfrm>
            <a:off x="694944" y="1969111"/>
            <a:ext cx="5065776" cy="2929007"/>
          </a:xfrm>
          <a:prstGeom prst="rect">
            <a:avLst/>
          </a:prstGeom>
          <a:noFill/>
        </p:spPr>
        <p:txBody>
          <a:bodyPr wrap="square">
            <a:spAutoFit/>
          </a:bodyPr>
          <a:lstStyle/>
          <a:p>
            <a:pPr>
              <a:spcAft>
                <a:spcPts val="500"/>
              </a:spcAft>
              <a:defRPr sz="1450">
                <a:solidFill>
                  <a:srgbClr val="0F2318"/>
                </a:solidFill>
                <a:latin typeface="Aptos"/>
              </a:defRPr>
            </a:pPr>
            <a:r>
              <a:rPr sz="2200" dirty="0"/>
              <a:t>▸ Barangay </a:t>
            </a:r>
            <a:r>
              <a:rPr sz="2200" dirty="0" err="1"/>
              <a:t>Dulao</a:t>
            </a:r>
            <a:r>
              <a:rPr sz="2200" dirty="0"/>
              <a:t> </a:t>
            </a:r>
            <a:r>
              <a:rPr lang="en-US" sz="2200" dirty="0"/>
              <a:t>mangrove area</a:t>
            </a:r>
            <a:r>
              <a:rPr sz="2200" dirty="0"/>
              <a:t> 2019–2024 </a:t>
            </a:r>
            <a:br>
              <a:rPr lang="en-US" sz="2200" dirty="0"/>
            </a:br>
            <a:r>
              <a:rPr sz="2200" dirty="0"/>
              <a:t>▸ Bands: B3 Green</a:t>
            </a:r>
            <a:r>
              <a:rPr lang="en-PH" sz="2200" dirty="0"/>
              <a:t>, </a:t>
            </a:r>
            <a:r>
              <a:rPr sz="2200" dirty="0"/>
              <a:t>B4 Red</a:t>
            </a:r>
            <a:r>
              <a:rPr lang="en-PH" sz="2200" dirty="0"/>
              <a:t>, </a:t>
            </a:r>
            <a:r>
              <a:rPr sz="2200" dirty="0"/>
              <a:t>B8 NIR</a:t>
            </a:r>
            <a:r>
              <a:rPr lang="en-PH" sz="2200" dirty="0"/>
              <a:t>,</a:t>
            </a:r>
            <a:r>
              <a:rPr sz="2200" dirty="0"/>
              <a:t> B11</a:t>
            </a:r>
            <a:r>
              <a:rPr lang="en-PH" sz="2200" dirty="0"/>
              <a:t>,</a:t>
            </a:r>
            <a:r>
              <a:rPr sz="2200" dirty="0"/>
              <a:t> SWIR</a:t>
            </a:r>
          </a:p>
          <a:p>
            <a:pPr>
              <a:spcAft>
                <a:spcPts val="500"/>
              </a:spcAft>
              <a:defRPr sz="1450">
                <a:solidFill>
                  <a:srgbClr val="0F2318"/>
                </a:solidFill>
                <a:latin typeface="Aptos"/>
              </a:defRPr>
            </a:pPr>
            <a:r>
              <a:rPr sz="2200" dirty="0"/>
              <a:t>▸ NDVI = (B8 − B4) / (B8 + B4) — explicit vegetation-health signal</a:t>
            </a:r>
          </a:p>
          <a:p>
            <a:pPr>
              <a:spcAft>
                <a:spcPts val="500"/>
              </a:spcAft>
              <a:defRPr sz="1450">
                <a:solidFill>
                  <a:srgbClr val="0F2318"/>
                </a:solidFill>
                <a:latin typeface="Aptos"/>
              </a:defRPr>
            </a:pPr>
            <a:r>
              <a:rPr sz="2200" dirty="0"/>
              <a:t>▸ Selection: full coverage · minimal cloud · low shading</a:t>
            </a:r>
          </a:p>
        </p:txBody>
      </p:sp>
      <p:sp>
        <p:nvSpPr>
          <p:cNvPr id="11" name="Rounded Rectangle 10"/>
          <p:cNvSpPr/>
          <p:nvPr/>
        </p:nvSpPr>
        <p:spPr>
          <a:xfrm>
            <a:off x="6199632" y="1371599"/>
            <a:ext cx="5458968" cy="5052061"/>
          </a:xfrm>
          <a:prstGeom prst="roundRect">
            <a:avLst>
              <a:gd name="adj" fmla="val 12000"/>
            </a:avLst>
          </a:prstGeom>
          <a:solidFill>
            <a:srgbClr val="EEF7F0"/>
          </a:solidFill>
          <a:ln>
            <a:solidFill>
              <a:srgbClr val="CF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64224" y="1499616"/>
            <a:ext cx="5129783" cy="430887"/>
          </a:xfrm>
          <a:prstGeom prst="rect">
            <a:avLst/>
          </a:prstGeom>
          <a:noFill/>
        </p:spPr>
        <p:txBody>
          <a:bodyPr wrap="square" anchor="t">
            <a:spAutoFit/>
          </a:bodyPr>
          <a:lstStyle/>
          <a:p>
            <a:pPr algn="l"/>
            <a:r>
              <a:rPr sz="2200" b="1" dirty="0">
                <a:solidFill>
                  <a:srgbClr val="1B4332"/>
                </a:solidFill>
                <a:latin typeface="Aptos"/>
              </a:rPr>
              <a:t>PREPARATION</a:t>
            </a:r>
          </a:p>
        </p:txBody>
      </p:sp>
      <p:sp>
        <p:nvSpPr>
          <p:cNvPr id="13" name="TextBox 12"/>
          <p:cNvSpPr txBox="1"/>
          <p:nvPr/>
        </p:nvSpPr>
        <p:spPr>
          <a:xfrm>
            <a:off x="6364224" y="1847088"/>
            <a:ext cx="5129783" cy="2590453"/>
          </a:xfrm>
          <a:prstGeom prst="rect">
            <a:avLst/>
          </a:prstGeom>
          <a:noFill/>
        </p:spPr>
        <p:txBody>
          <a:bodyPr wrap="square">
            <a:spAutoFit/>
          </a:bodyPr>
          <a:lstStyle/>
          <a:p>
            <a:pPr>
              <a:spcAft>
                <a:spcPts val="500"/>
              </a:spcAft>
              <a:defRPr sz="1450">
                <a:solidFill>
                  <a:srgbClr val="0F2318"/>
                </a:solidFill>
                <a:latin typeface="Aptos"/>
              </a:defRPr>
            </a:pPr>
            <a:r>
              <a:rPr sz="2200" dirty="0"/>
              <a:t>▸ Cloud/shadow removal · crop to boundary · grid alignment · normalization · missing-pixel handling</a:t>
            </a:r>
          </a:p>
          <a:p>
            <a:pPr>
              <a:spcAft>
                <a:spcPts val="500"/>
              </a:spcAft>
              <a:defRPr sz="1450">
                <a:solidFill>
                  <a:srgbClr val="0F2318"/>
                </a:solidFill>
                <a:latin typeface="Aptos"/>
              </a:defRPr>
            </a:pPr>
            <a:r>
              <a:rPr sz="2200" dirty="0"/>
              <a:t>▸ B11 resampled 20 m → 10 m (bilinear) to unify the stack</a:t>
            </a:r>
          </a:p>
          <a:p>
            <a:pPr>
              <a:spcAft>
                <a:spcPts val="500"/>
              </a:spcAft>
              <a:defRPr sz="1450">
                <a:solidFill>
                  <a:srgbClr val="0F2318"/>
                </a:solidFill>
                <a:latin typeface="Aptos"/>
              </a:defRPr>
            </a:pPr>
            <a:r>
              <a:rPr sz="2200" dirty="0"/>
              <a:t>▸ 256 × 256 patches · 5-channel input · pixel-aligned masks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995E7-1B81-DFFF-2198-CED8F3A6C86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7E4F16E-4823-0707-ED4E-D9FCAD993FE2}"/>
              </a:ext>
            </a:extLst>
          </p:cNvPr>
          <p:cNvSpPr/>
          <p:nvPr/>
        </p:nvSpPr>
        <p:spPr>
          <a:xfrm>
            <a:off x="0" y="0"/>
            <a:ext cx="12191695" cy="73152"/>
          </a:xfrm>
          <a:prstGeom prst="rect">
            <a:avLst/>
          </a:prstGeom>
          <a:solidFill>
            <a:srgbClr val="2D6A4F"/>
          </a:solidFill>
          <a:ln>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A57A9166-78B3-124E-21F5-93440296D185}"/>
              </a:ext>
            </a:extLst>
          </p:cNvPr>
          <p:cNvSpPr txBox="1"/>
          <p:nvPr/>
        </p:nvSpPr>
        <p:spPr>
          <a:xfrm>
            <a:off x="530352" y="310896"/>
            <a:ext cx="5029200" cy="228600"/>
          </a:xfrm>
          <a:prstGeom prst="rect">
            <a:avLst/>
          </a:prstGeom>
          <a:noFill/>
        </p:spPr>
        <p:txBody>
          <a:bodyPr wrap="square" anchor="t">
            <a:spAutoFit/>
          </a:bodyPr>
          <a:lstStyle/>
          <a:p>
            <a:pPr algn="l"/>
            <a:r>
              <a:rPr sz="1250" b="1">
                <a:solidFill>
                  <a:srgbClr val="2D6A4F"/>
                </a:solidFill>
                <a:latin typeface="Aptos"/>
              </a:rPr>
              <a:t>MATERIALS &amp; PROCEDURES</a:t>
            </a:r>
          </a:p>
        </p:txBody>
      </p:sp>
      <p:sp>
        <p:nvSpPr>
          <p:cNvPr id="4" name="TextBox 3">
            <a:extLst>
              <a:ext uri="{FF2B5EF4-FFF2-40B4-BE49-F238E27FC236}">
                <a16:creationId xmlns:a16="http://schemas.microsoft.com/office/drawing/2014/main" id="{90600511-BD95-E9B1-26F2-CC20D7CE830F}"/>
              </a:ext>
            </a:extLst>
          </p:cNvPr>
          <p:cNvSpPr txBox="1"/>
          <p:nvPr/>
        </p:nvSpPr>
        <p:spPr>
          <a:xfrm>
            <a:off x="530352" y="576072"/>
            <a:ext cx="10881360" cy="457200"/>
          </a:xfrm>
          <a:prstGeom prst="rect">
            <a:avLst/>
          </a:prstGeom>
          <a:noFill/>
        </p:spPr>
        <p:txBody>
          <a:bodyPr wrap="square" anchor="t">
            <a:spAutoFit/>
          </a:bodyPr>
          <a:lstStyle/>
          <a:p>
            <a:pPr algn="l"/>
            <a:r>
              <a:rPr sz="3100" b="1">
                <a:solidFill>
                  <a:srgbClr val="0F2318"/>
                </a:solidFill>
                <a:latin typeface="Aptos"/>
              </a:rPr>
              <a:t>Dataset Collection &amp; Preparation</a:t>
            </a:r>
          </a:p>
        </p:txBody>
      </p:sp>
      <p:sp>
        <p:nvSpPr>
          <p:cNvPr id="5" name="Rectangle 4">
            <a:extLst>
              <a:ext uri="{FF2B5EF4-FFF2-40B4-BE49-F238E27FC236}">
                <a16:creationId xmlns:a16="http://schemas.microsoft.com/office/drawing/2014/main" id="{4C39A9F9-6FE6-DBFE-8611-B4A1CCB36C71}"/>
              </a:ext>
            </a:extLst>
          </p:cNvPr>
          <p:cNvSpPr/>
          <p:nvPr/>
        </p:nvSpPr>
        <p:spPr>
          <a:xfrm>
            <a:off x="530352" y="1097280"/>
            <a:ext cx="640080" cy="41148"/>
          </a:xfrm>
          <a:prstGeom prst="rect">
            <a:avLst/>
          </a:prstGeom>
          <a:solidFill>
            <a:srgbClr val="2D6A4F"/>
          </a:solidFill>
          <a:ln>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a:extLst>
              <a:ext uri="{FF2B5EF4-FFF2-40B4-BE49-F238E27FC236}">
                <a16:creationId xmlns:a16="http://schemas.microsoft.com/office/drawing/2014/main" id="{0100D767-D431-27E1-D6DF-3233A1773177}"/>
              </a:ext>
            </a:extLst>
          </p:cNvPr>
          <p:cNvSpPr/>
          <p:nvPr/>
        </p:nvSpPr>
        <p:spPr>
          <a:xfrm>
            <a:off x="530352" y="1371599"/>
            <a:ext cx="5440680" cy="5052061"/>
          </a:xfrm>
          <a:prstGeom prst="roundRect">
            <a:avLst>
              <a:gd name="adj" fmla="val 12000"/>
            </a:avLst>
          </a:prstGeom>
          <a:solidFill>
            <a:srgbClr val="EEF7F0"/>
          </a:solidFill>
          <a:ln>
            <a:solidFill>
              <a:srgbClr val="CF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1F3824CF-D10C-7C71-F088-5C467888CA7C}"/>
              </a:ext>
            </a:extLst>
          </p:cNvPr>
          <p:cNvSpPr txBox="1"/>
          <p:nvPr/>
        </p:nvSpPr>
        <p:spPr>
          <a:xfrm>
            <a:off x="694944" y="1499616"/>
            <a:ext cx="5276088" cy="430887"/>
          </a:xfrm>
          <a:prstGeom prst="rect">
            <a:avLst/>
          </a:prstGeom>
          <a:noFill/>
        </p:spPr>
        <p:txBody>
          <a:bodyPr wrap="square" anchor="t">
            <a:spAutoFit/>
          </a:bodyPr>
          <a:lstStyle/>
          <a:p>
            <a:pPr algn="l"/>
            <a:r>
              <a:rPr sz="2200" b="1" dirty="0">
                <a:solidFill>
                  <a:srgbClr val="1B4332"/>
                </a:solidFill>
                <a:latin typeface="Aptos"/>
              </a:rPr>
              <a:t>PRIMARY DATA — SENTINEL-2 IMAGERY</a:t>
            </a:r>
          </a:p>
        </p:txBody>
      </p:sp>
      <p:sp>
        <p:nvSpPr>
          <p:cNvPr id="10" name="TextBox 9">
            <a:extLst>
              <a:ext uri="{FF2B5EF4-FFF2-40B4-BE49-F238E27FC236}">
                <a16:creationId xmlns:a16="http://schemas.microsoft.com/office/drawing/2014/main" id="{8DAF5783-1504-0AC0-CEEE-1991CC243DB7}"/>
              </a:ext>
            </a:extLst>
          </p:cNvPr>
          <p:cNvSpPr txBox="1"/>
          <p:nvPr/>
        </p:nvSpPr>
        <p:spPr>
          <a:xfrm>
            <a:off x="694944" y="1969111"/>
            <a:ext cx="5065776" cy="2929007"/>
          </a:xfrm>
          <a:prstGeom prst="rect">
            <a:avLst/>
          </a:prstGeom>
          <a:noFill/>
        </p:spPr>
        <p:txBody>
          <a:bodyPr wrap="square">
            <a:spAutoFit/>
          </a:bodyPr>
          <a:lstStyle/>
          <a:p>
            <a:pPr>
              <a:spcAft>
                <a:spcPts val="500"/>
              </a:spcAft>
              <a:defRPr sz="1450">
                <a:solidFill>
                  <a:srgbClr val="0F2318"/>
                </a:solidFill>
                <a:latin typeface="Aptos"/>
              </a:defRPr>
            </a:pPr>
            <a:r>
              <a:rPr sz="2200" dirty="0"/>
              <a:t>▸ Barangay </a:t>
            </a:r>
            <a:r>
              <a:rPr sz="2200" dirty="0" err="1"/>
              <a:t>Dulao</a:t>
            </a:r>
            <a:r>
              <a:rPr sz="2200" dirty="0"/>
              <a:t> </a:t>
            </a:r>
            <a:r>
              <a:rPr lang="en-US" sz="2200" dirty="0"/>
              <a:t>mangrove area</a:t>
            </a:r>
            <a:r>
              <a:rPr sz="2200" dirty="0"/>
              <a:t> 2019–2024 </a:t>
            </a:r>
            <a:br>
              <a:rPr lang="en-US" sz="2200" dirty="0"/>
            </a:br>
            <a:r>
              <a:rPr sz="2200" dirty="0"/>
              <a:t>▸ Bands: B3 Green</a:t>
            </a:r>
            <a:r>
              <a:rPr lang="en-PH" sz="2200" dirty="0"/>
              <a:t>, </a:t>
            </a:r>
            <a:r>
              <a:rPr sz="2200" dirty="0"/>
              <a:t>B4 Red</a:t>
            </a:r>
            <a:r>
              <a:rPr lang="en-PH" sz="2200" dirty="0"/>
              <a:t>, </a:t>
            </a:r>
            <a:r>
              <a:rPr sz="2200" dirty="0"/>
              <a:t>B8 NIR</a:t>
            </a:r>
            <a:r>
              <a:rPr lang="en-PH" sz="2200" dirty="0"/>
              <a:t>,</a:t>
            </a:r>
            <a:r>
              <a:rPr sz="2200" dirty="0"/>
              <a:t> B11</a:t>
            </a:r>
            <a:r>
              <a:rPr lang="en-PH" sz="2200" dirty="0"/>
              <a:t>,</a:t>
            </a:r>
            <a:r>
              <a:rPr sz="2200" dirty="0"/>
              <a:t> SWIR</a:t>
            </a:r>
          </a:p>
          <a:p>
            <a:pPr>
              <a:spcAft>
                <a:spcPts val="500"/>
              </a:spcAft>
              <a:defRPr sz="1450">
                <a:solidFill>
                  <a:srgbClr val="0F2318"/>
                </a:solidFill>
                <a:latin typeface="Aptos"/>
              </a:defRPr>
            </a:pPr>
            <a:r>
              <a:rPr sz="2200" dirty="0"/>
              <a:t>▸ NDVI = (B8 − B4) / (B8 + B4) — explicit vegetation-health signal</a:t>
            </a:r>
          </a:p>
          <a:p>
            <a:pPr>
              <a:spcAft>
                <a:spcPts val="500"/>
              </a:spcAft>
              <a:defRPr sz="1450">
                <a:solidFill>
                  <a:srgbClr val="0F2318"/>
                </a:solidFill>
                <a:latin typeface="Aptos"/>
              </a:defRPr>
            </a:pPr>
            <a:r>
              <a:rPr sz="2200" dirty="0"/>
              <a:t>▸ Selection: full coverage · minimal cloud · low shading</a:t>
            </a:r>
          </a:p>
        </p:txBody>
      </p:sp>
      <p:sp>
        <p:nvSpPr>
          <p:cNvPr id="11" name="Rounded Rectangle 10">
            <a:extLst>
              <a:ext uri="{FF2B5EF4-FFF2-40B4-BE49-F238E27FC236}">
                <a16:creationId xmlns:a16="http://schemas.microsoft.com/office/drawing/2014/main" id="{072BD51E-6171-8CCB-750D-3EF99D018564}"/>
              </a:ext>
            </a:extLst>
          </p:cNvPr>
          <p:cNvSpPr/>
          <p:nvPr/>
        </p:nvSpPr>
        <p:spPr>
          <a:xfrm>
            <a:off x="6199632" y="1371599"/>
            <a:ext cx="5458968" cy="5052061"/>
          </a:xfrm>
          <a:prstGeom prst="roundRect">
            <a:avLst>
              <a:gd name="adj" fmla="val 12000"/>
            </a:avLst>
          </a:prstGeom>
          <a:solidFill>
            <a:srgbClr val="EEF7F0"/>
          </a:solidFill>
          <a:ln>
            <a:solidFill>
              <a:srgbClr val="CF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26E6ECB3-FAD3-C4A8-1CF8-82A09737A968}"/>
              </a:ext>
            </a:extLst>
          </p:cNvPr>
          <p:cNvSpPr txBox="1"/>
          <p:nvPr/>
        </p:nvSpPr>
        <p:spPr>
          <a:xfrm>
            <a:off x="6364224" y="1499616"/>
            <a:ext cx="5129783" cy="430887"/>
          </a:xfrm>
          <a:prstGeom prst="rect">
            <a:avLst/>
          </a:prstGeom>
          <a:noFill/>
        </p:spPr>
        <p:txBody>
          <a:bodyPr wrap="square" anchor="t">
            <a:spAutoFit/>
          </a:bodyPr>
          <a:lstStyle/>
          <a:p>
            <a:pPr algn="l"/>
            <a:r>
              <a:rPr sz="2200" b="1" dirty="0">
                <a:solidFill>
                  <a:srgbClr val="1B4332"/>
                </a:solidFill>
                <a:latin typeface="Aptos"/>
              </a:rPr>
              <a:t>PREPARATION</a:t>
            </a:r>
          </a:p>
        </p:txBody>
      </p:sp>
      <p:sp>
        <p:nvSpPr>
          <p:cNvPr id="13" name="TextBox 12">
            <a:extLst>
              <a:ext uri="{FF2B5EF4-FFF2-40B4-BE49-F238E27FC236}">
                <a16:creationId xmlns:a16="http://schemas.microsoft.com/office/drawing/2014/main" id="{5D5BFB02-9AFA-122E-C1E9-9F2010EDCD10}"/>
              </a:ext>
            </a:extLst>
          </p:cNvPr>
          <p:cNvSpPr txBox="1"/>
          <p:nvPr/>
        </p:nvSpPr>
        <p:spPr>
          <a:xfrm>
            <a:off x="6364224" y="1847088"/>
            <a:ext cx="5129783" cy="2590453"/>
          </a:xfrm>
          <a:prstGeom prst="rect">
            <a:avLst/>
          </a:prstGeom>
          <a:noFill/>
        </p:spPr>
        <p:txBody>
          <a:bodyPr wrap="square">
            <a:spAutoFit/>
          </a:bodyPr>
          <a:lstStyle/>
          <a:p>
            <a:pPr>
              <a:spcAft>
                <a:spcPts val="500"/>
              </a:spcAft>
              <a:defRPr sz="1450">
                <a:solidFill>
                  <a:srgbClr val="0F2318"/>
                </a:solidFill>
                <a:latin typeface="Aptos"/>
              </a:defRPr>
            </a:pPr>
            <a:r>
              <a:rPr sz="2200" dirty="0"/>
              <a:t>▸ Cloud/shadow removal · crop to boundary · grid alignment · normalization · missing-pixel handling</a:t>
            </a:r>
          </a:p>
          <a:p>
            <a:pPr>
              <a:spcAft>
                <a:spcPts val="500"/>
              </a:spcAft>
              <a:defRPr sz="1450">
                <a:solidFill>
                  <a:srgbClr val="0F2318"/>
                </a:solidFill>
                <a:latin typeface="Aptos"/>
              </a:defRPr>
            </a:pPr>
            <a:r>
              <a:rPr sz="2200" dirty="0"/>
              <a:t>▸ B11 resampled 20 m → 10 m (bilinear) to unify the stack</a:t>
            </a:r>
          </a:p>
          <a:p>
            <a:pPr>
              <a:spcAft>
                <a:spcPts val="500"/>
              </a:spcAft>
              <a:defRPr sz="1450">
                <a:solidFill>
                  <a:srgbClr val="0F2318"/>
                </a:solidFill>
                <a:latin typeface="Aptos"/>
              </a:defRPr>
            </a:pPr>
            <a:r>
              <a:rPr sz="2200" dirty="0"/>
              <a:t>▸ 256 × 256 patches · 5-channel input · pixel-aligned masks</a:t>
            </a:r>
          </a:p>
        </p:txBody>
      </p:sp>
    </p:spTree>
    <p:extLst>
      <p:ext uri="{BB962C8B-B14F-4D97-AF65-F5344CB8AC3E}">
        <p14:creationId xmlns:p14="http://schemas.microsoft.com/office/powerpoint/2010/main" val="19918099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85F51D-C494-F5CB-175C-4E13920AD06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CF36D54-C131-F323-84F0-9F7BD4C31FD8}"/>
              </a:ext>
            </a:extLst>
          </p:cNvPr>
          <p:cNvSpPr/>
          <p:nvPr/>
        </p:nvSpPr>
        <p:spPr>
          <a:xfrm>
            <a:off x="0" y="0"/>
            <a:ext cx="12191695" cy="73152"/>
          </a:xfrm>
          <a:prstGeom prst="rect">
            <a:avLst/>
          </a:prstGeom>
          <a:solidFill>
            <a:srgbClr val="2D6A4F"/>
          </a:solidFill>
          <a:ln>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3DE0FA80-7638-B2A7-E0F7-D64C1ACA3F68}"/>
              </a:ext>
            </a:extLst>
          </p:cNvPr>
          <p:cNvSpPr txBox="1"/>
          <p:nvPr/>
        </p:nvSpPr>
        <p:spPr>
          <a:xfrm>
            <a:off x="530352" y="310896"/>
            <a:ext cx="5029200" cy="228600"/>
          </a:xfrm>
          <a:prstGeom prst="rect">
            <a:avLst/>
          </a:prstGeom>
          <a:noFill/>
        </p:spPr>
        <p:txBody>
          <a:bodyPr wrap="square" anchor="t">
            <a:spAutoFit/>
          </a:bodyPr>
          <a:lstStyle/>
          <a:p>
            <a:pPr algn="l"/>
            <a:r>
              <a:rPr sz="1250" b="1">
                <a:solidFill>
                  <a:srgbClr val="2D6A4F"/>
                </a:solidFill>
                <a:latin typeface="Aptos"/>
              </a:rPr>
              <a:t>MATERIALS &amp; PROCEDURES</a:t>
            </a:r>
          </a:p>
        </p:txBody>
      </p:sp>
      <p:sp>
        <p:nvSpPr>
          <p:cNvPr id="4" name="TextBox 3">
            <a:extLst>
              <a:ext uri="{FF2B5EF4-FFF2-40B4-BE49-F238E27FC236}">
                <a16:creationId xmlns:a16="http://schemas.microsoft.com/office/drawing/2014/main" id="{9660DB70-E5FC-1667-E6CE-372EB38D802A}"/>
              </a:ext>
            </a:extLst>
          </p:cNvPr>
          <p:cNvSpPr txBox="1"/>
          <p:nvPr/>
        </p:nvSpPr>
        <p:spPr>
          <a:xfrm>
            <a:off x="530352" y="576072"/>
            <a:ext cx="10881360" cy="569387"/>
          </a:xfrm>
          <a:prstGeom prst="rect">
            <a:avLst/>
          </a:prstGeom>
          <a:noFill/>
        </p:spPr>
        <p:txBody>
          <a:bodyPr wrap="square" anchor="t">
            <a:spAutoFit/>
          </a:bodyPr>
          <a:lstStyle/>
          <a:p>
            <a:pPr algn="l"/>
            <a:r>
              <a:rPr lang="en-PH" sz="3100" b="1" dirty="0">
                <a:solidFill>
                  <a:srgbClr val="0F2318"/>
                </a:solidFill>
                <a:latin typeface="Aptos"/>
              </a:rPr>
              <a:t>DATA LABELING &amp; MENRO VALIDATION</a:t>
            </a:r>
            <a:endParaRPr sz="3100" b="1" dirty="0">
              <a:solidFill>
                <a:srgbClr val="0F2318"/>
              </a:solidFill>
              <a:latin typeface="Aptos"/>
            </a:endParaRPr>
          </a:p>
        </p:txBody>
      </p:sp>
      <p:sp>
        <p:nvSpPr>
          <p:cNvPr id="5" name="Rectangle 4">
            <a:extLst>
              <a:ext uri="{FF2B5EF4-FFF2-40B4-BE49-F238E27FC236}">
                <a16:creationId xmlns:a16="http://schemas.microsoft.com/office/drawing/2014/main" id="{5BD53E9D-4B4D-5CA1-634A-22B7CC14381F}"/>
              </a:ext>
            </a:extLst>
          </p:cNvPr>
          <p:cNvSpPr/>
          <p:nvPr/>
        </p:nvSpPr>
        <p:spPr>
          <a:xfrm>
            <a:off x="530352" y="1097280"/>
            <a:ext cx="640080" cy="41148"/>
          </a:xfrm>
          <a:prstGeom prst="rect">
            <a:avLst/>
          </a:prstGeom>
          <a:solidFill>
            <a:srgbClr val="2D6A4F"/>
          </a:solidFill>
          <a:ln>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a:extLst>
              <a:ext uri="{FF2B5EF4-FFF2-40B4-BE49-F238E27FC236}">
                <a16:creationId xmlns:a16="http://schemas.microsoft.com/office/drawing/2014/main" id="{FDB59758-244B-772D-5B9F-9E38E9236E1A}"/>
              </a:ext>
            </a:extLst>
          </p:cNvPr>
          <p:cNvSpPr/>
          <p:nvPr/>
        </p:nvSpPr>
        <p:spPr>
          <a:xfrm>
            <a:off x="530352" y="1371599"/>
            <a:ext cx="5440680" cy="5052061"/>
          </a:xfrm>
          <a:prstGeom prst="roundRect">
            <a:avLst>
              <a:gd name="adj" fmla="val 12000"/>
            </a:avLst>
          </a:prstGeom>
          <a:solidFill>
            <a:srgbClr val="EEF7F0"/>
          </a:solidFill>
          <a:ln>
            <a:solidFill>
              <a:srgbClr val="CF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5704C991-D19A-8FC6-754D-ADE373AF869E}"/>
              </a:ext>
            </a:extLst>
          </p:cNvPr>
          <p:cNvSpPr txBox="1"/>
          <p:nvPr/>
        </p:nvSpPr>
        <p:spPr>
          <a:xfrm>
            <a:off x="1296827" y="1499616"/>
            <a:ext cx="5276088" cy="430887"/>
          </a:xfrm>
          <a:prstGeom prst="rect">
            <a:avLst/>
          </a:prstGeom>
          <a:noFill/>
        </p:spPr>
        <p:txBody>
          <a:bodyPr wrap="square" anchor="t">
            <a:spAutoFit/>
          </a:bodyPr>
          <a:lstStyle/>
          <a:p>
            <a:pPr algn="l"/>
            <a:r>
              <a:rPr lang="en-PH" sz="2200" b="1" dirty="0">
                <a:solidFill>
                  <a:srgbClr val="1B4332"/>
                </a:solidFill>
                <a:latin typeface="Aptos"/>
              </a:rPr>
              <a:t>BINARY MASK PREPARATION</a:t>
            </a:r>
            <a:endParaRPr sz="2200" b="1" dirty="0">
              <a:solidFill>
                <a:srgbClr val="1B4332"/>
              </a:solidFill>
              <a:latin typeface="Aptos"/>
            </a:endParaRPr>
          </a:p>
        </p:txBody>
      </p:sp>
      <p:sp>
        <p:nvSpPr>
          <p:cNvPr id="10" name="TextBox 9">
            <a:extLst>
              <a:ext uri="{FF2B5EF4-FFF2-40B4-BE49-F238E27FC236}">
                <a16:creationId xmlns:a16="http://schemas.microsoft.com/office/drawing/2014/main" id="{9BE9C358-D6B4-8F2A-4D4D-41910E96FB95}"/>
              </a:ext>
            </a:extLst>
          </p:cNvPr>
          <p:cNvSpPr txBox="1"/>
          <p:nvPr/>
        </p:nvSpPr>
        <p:spPr>
          <a:xfrm>
            <a:off x="753628" y="3975616"/>
            <a:ext cx="5065776" cy="1785104"/>
          </a:xfrm>
          <a:prstGeom prst="rect">
            <a:avLst/>
          </a:prstGeom>
          <a:noFill/>
        </p:spPr>
        <p:txBody>
          <a:bodyPr wrap="square">
            <a:spAutoFit/>
          </a:bodyPr>
          <a:lstStyle/>
          <a:p>
            <a:pPr algn="just">
              <a:spcAft>
                <a:spcPts val="500"/>
              </a:spcAft>
              <a:defRPr sz="1450">
                <a:solidFill>
                  <a:srgbClr val="0F2318"/>
                </a:solidFill>
                <a:latin typeface="Aptos"/>
              </a:defRPr>
            </a:pPr>
            <a:r>
              <a:rPr lang="en-PH" sz="2200" dirty="0">
                <a:solidFill>
                  <a:srgbClr val="0F2318"/>
                </a:solidFill>
                <a:latin typeface="Aptos"/>
              </a:rPr>
              <a:t>Every pixel in the reference mask is labeled using available mangrove datasets, local records, and high-resolution imagery — assigned a value of 1 if it is mangrove, or 0 if it is not.</a:t>
            </a:r>
            <a:endParaRPr sz="2200" dirty="0"/>
          </a:p>
        </p:txBody>
      </p:sp>
      <p:sp>
        <p:nvSpPr>
          <p:cNvPr id="11" name="Rounded Rectangle 10">
            <a:extLst>
              <a:ext uri="{FF2B5EF4-FFF2-40B4-BE49-F238E27FC236}">
                <a16:creationId xmlns:a16="http://schemas.microsoft.com/office/drawing/2014/main" id="{B304B349-5B04-34F7-A823-C236EA367260}"/>
              </a:ext>
            </a:extLst>
          </p:cNvPr>
          <p:cNvSpPr/>
          <p:nvPr/>
        </p:nvSpPr>
        <p:spPr>
          <a:xfrm>
            <a:off x="6199632" y="1371599"/>
            <a:ext cx="5458968" cy="5052061"/>
          </a:xfrm>
          <a:prstGeom prst="roundRect">
            <a:avLst>
              <a:gd name="adj" fmla="val 12000"/>
            </a:avLst>
          </a:prstGeom>
          <a:solidFill>
            <a:srgbClr val="EEF7F0"/>
          </a:solidFill>
          <a:ln>
            <a:solidFill>
              <a:srgbClr val="CF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CF2E94D9-A02D-D586-4E9F-EA71C6F06641}"/>
              </a:ext>
            </a:extLst>
          </p:cNvPr>
          <p:cNvSpPr txBox="1"/>
          <p:nvPr/>
        </p:nvSpPr>
        <p:spPr>
          <a:xfrm>
            <a:off x="6611113" y="1508761"/>
            <a:ext cx="5129783" cy="430887"/>
          </a:xfrm>
          <a:prstGeom prst="rect">
            <a:avLst/>
          </a:prstGeom>
          <a:noFill/>
        </p:spPr>
        <p:txBody>
          <a:bodyPr wrap="square" anchor="t">
            <a:spAutoFit/>
          </a:bodyPr>
          <a:lstStyle/>
          <a:p>
            <a:pPr algn="l"/>
            <a:r>
              <a:rPr lang="en-PH" sz="2200" b="1" dirty="0">
                <a:solidFill>
                  <a:srgbClr val="1B4332"/>
                </a:solidFill>
                <a:latin typeface="Aptos"/>
              </a:rPr>
              <a:t>INDEPENDENT MENRO VALIDATION</a:t>
            </a:r>
            <a:endParaRPr sz="2200" b="1" dirty="0">
              <a:solidFill>
                <a:srgbClr val="1B4332"/>
              </a:solidFill>
              <a:latin typeface="Aptos"/>
            </a:endParaRPr>
          </a:p>
        </p:txBody>
      </p:sp>
      <p:sp>
        <p:nvSpPr>
          <p:cNvPr id="13" name="TextBox 12">
            <a:extLst>
              <a:ext uri="{FF2B5EF4-FFF2-40B4-BE49-F238E27FC236}">
                <a16:creationId xmlns:a16="http://schemas.microsoft.com/office/drawing/2014/main" id="{12158EE2-8BB7-04A9-580C-D9ECC568770B}"/>
              </a:ext>
            </a:extLst>
          </p:cNvPr>
          <p:cNvSpPr txBox="1"/>
          <p:nvPr/>
        </p:nvSpPr>
        <p:spPr>
          <a:xfrm>
            <a:off x="6473180" y="2198411"/>
            <a:ext cx="4965192" cy="2526333"/>
          </a:xfrm>
          <a:prstGeom prst="rect">
            <a:avLst/>
          </a:prstGeom>
          <a:noFill/>
        </p:spPr>
        <p:txBody>
          <a:bodyPr wrap="square">
            <a:spAutoFit/>
          </a:bodyPr>
          <a:lstStyle/>
          <a:p>
            <a:pPr algn="just">
              <a:spcAft>
                <a:spcPts val="500"/>
              </a:spcAft>
              <a:defRPr sz="1450">
                <a:solidFill>
                  <a:srgbClr val="0F2318"/>
                </a:solidFill>
                <a:latin typeface="Aptos"/>
              </a:defRPr>
            </a:pPr>
            <a:r>
              <a:rPr lang="en-PH" sz="2200" dirty="0">
                <a:solidFill>
                  <a:srgbClr val="0F2318"/>
                </a:solidFill>
                <a:latin typeface="Aptos"/>
              </a:rPr>
              <a:t>The researchers who prepare the initial labels are the same people who train and evaluate the model. </a:t>
            </a:r>
          </a:p>
          <a:p>
            <a:pPr algn="just">
              <a:spcAft>
                <a:spcPts val="500"/>
              </a:spcAft>
              <a:defRPr sz="1450">
                <a:solidFill>
                  <a:srgbClr val="0F2318"/>
                </a:solidFill>
                <a:latin typeface="Aptos"/>
              </a:defRPr>
            </a:pPr>
            <a:r>
              <a:rPr lang="en-PH" sz="2200" dirty="0">
                <a:solidFill>
                  <a:srgbClr val="0F2318"/>
                </a:solidFill>
                <a:latin typeface="Aptos"/>
              </a:rPr>
              <a:t>Left unchecked, this is a conflict of interest — the model could simply be graded against its own creators' assumptions.</a:t>
            </a:r>
            <a:endParaRPr sz="2200" dirty="0"/>
          </a:p>
        </p:txBody>
      </p:sp>
      <p:sp>
        <p:nvSpPr>
          <p:cNvPr id="7" name="Rounded Rectangle 7">
            <a:extLst>
              <a:ext uri="{FF2B5EF4-FFF2-40B4-BE49-F238E27FC236}">
                <a16:creationId xmlns:a16="http://schemas.microsoft.com/office/drawing/2014/main" id="{519941F2-96FE-C952-2A2E-5DFDFF381CFE}"/>
              </a:ext>
            </a:extLst>
          </p:cNvPr>
          <p:cNvSpPr/>
          <p:nvPr/>
        </p:nvSpPr>
        <p:spPr>
          <a:xfrm>
            <a:off x="1113947" y="2156643"/>
            <a:ext cx="1771081" cy="1421365"/>
          </a:xfrm>
          <a:prstGeom prst="roundRect">
            <a:avLst>
              <a:gd name="adj" fmla="val 12000"/>
            </a:avLst>
          </a:prstGeom>
          <a:solidFill>
            <a:srgbClr val="EEF7F0"/>
          </a:solidFill>
          <a:ln>
            <a:solidFill>
              <a:srgbClr val="CF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a:extLst>
              <a:ext uri="{FF2B5EF4-FFF2-40B4-BE49-F238E27FC236}">
                <a16:creationId xmlns:a16="http://schemas.microsoft.com/office/drawing/2014/main" id="{79DED52A-5258-056A-09C5-4DB2F9894038}"/>
              </a:ext>
            </a:extLst>
          </p:cNvPr>
          <p:cNvSpPr txBox="1"/>
          <p:nvPr/>
        </p:nvSpPr>
        <p:spPr>
          <a:xfrm>
            <a:off x="1179073" y="2193013"/>
            <a:ext cx="1640828" cy="1384995"/>
          </a:xfrm>
          <a:prstGeom prst="rect">
            <a:avLst/>
          </a:prstGeom>
          <a:noFill/>
        </p:spPr>
        <p:txBody>
          <a:bodyPr wrap="square" anchor="t">
            <a:spAutoFit/>
          </a:bodyPr>
          <a:lstStyle/>
          <a:p>
            <a:pPr algn="ctr"/>
            <a:r>
              <a:rPr lang="en-PH" sz="4400" b="1" dirty="0">
                <a:solidFill>
                  <a:srgbClr val="0F2318"/>
                </a:solidFill>
                <a:latin typeface="Aptos"/>
              </a:rPr>
              <a:t>1</a:t>
            </a:r>
          </a:p>
          <a:p>
            <a:pPr algn="ctr"/>
            <a:r>
              <a:rPr lang="en-PH" sz="2000" b="1" dirty="0">
                <a:solidFill>
                  <a:srgbClr val="0F2318"/>
                </a:solidFill>
                <a:latin typeface="Aptos"/>
              </a:rPr>
              <a:t>= MANGROVE</a:t>
            </a:r>
            <a:endParaRPr sz="2000" b="1" dirty="0">
              <a:solidFill>
                <a:srgbClr val="0F2318"/>
              </a:solidFill>
              <a:latin typeface="Aptos"/>
            </a:endParaRPr>
          </a:p>
        </p:txBody>
      </p:sp>
      <p:sp>
        <p:nvSpPr>
          <p:cNvPr id="21" name="Rounded Rectangle 7">
            <a:extLst>
              <a:ext uri="{FF2B5EF4-FFF2-40B4-BE49-F238E27FC236}">
                <a16:creationId xmlns:a16="http://schemas.microsoft.com/office/drawing/2014/main" id="{FAE6AE1C-1CC8-9D31-0505-1ABC82CC5B1E}"/>
              </a:ext>
            </a:extLst>
          </p:cNvPr>
          <p:cNvSpPr/>
          <p:nvPr/>
        </p:nvSpPr>
        <p:spPr>
          <a:xfrm>
            <a:off x="3437333" y="2128903"/>
            <a:ext cx="1771081" cy="1421365"/>
          </a:xfrm>
          <a:prstGeom prst="roundRect">
            <a:avLst>
              <a:gd name="adj" fmla="val 12000"/>
            </a:avLst>
          </a:prstGeom>
          <a:solidFill>
            <a:srgbClr val="EEF7F0"/>
          </a:solidFill>
          <a:ln>
            <a:solidFill>
              <a:srgbClr val="CF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0FE517A3-7A50-FF33-8E1E-25B5F68F9ADC}"/>
              </a:ext>
            </a:extLst>
          </p:cNvPr>
          <p:cNvSpPr txBox="1"/>
          <p:nvPr/>
        </p:nvSpPr>
        <p:spPr>
          <a:xfrm>
            <a:off x="3502459" y="2165273"/>
            <a:ext cx="1640828" cy="1384995"/>
          </a:xfrm>
          <a:prstGeom prst="rect">
            <a:avLst/>
          </a:prstGeom>
          <a:noFill/>
        </p:spPr>
        <p:txBody>
          <a:bodyPr wrap="square" anchor="t">
            <a:spAutoFit/>
          </a:bodyPr>
          <a:lstStyle/>
          <a:p>
            <a:pPr algn="ctr"/>
            <a:r>
              <a:rPr lang="en-PH" sz="4400" b="1" dirty="0">
                <a:solidFill>
                  <a:srgbClr val="0F2318"/>
                </a:solidFill>
                <a:latin typeface="Aptos"/>
              </a:rPr>
              <a:t>0</a:t>
            </a:r>
          </a:p>
          <a:p>
            <a:pPr algn="ctr"/>
            <a:r>
              <a:rPr lang="en-PH" sz="2000" b="1" dirty="0">
                <a:solidFill>
                  <a:srgbClr val="0F2318"/>
                </a:solidFill>
                <a:latin typeface="Aptos"/>
              </a:rPr>
              <a:t>= NON-MANGROVE</a:t>
            </a:r>
            <a:endParaRPr sz="2000" b="1" dirty="0">
              <a:solidFill>
                <a:srgbClr val="0F2318"/>
              </a:solidFill>
              <a:latin typeface="Aptos"/>
            </a:endParaRPr>
          </a:p>
        </p:txBody>
      </p:sp>
    </p:spTree>
    <p:extLst>
      <p:ext uri="{BB962C8B-B14F-4D97-AF65-F5344CB8AC3E}">
        <p14:creationId xmlns:p14="http://schemas.microsoft.com/office/powerpoint/2010/main" val="26916281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2D6A4F"/>
          </a:solidFill>
          <a:ln>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310896"/>
            <a:ext cx="5029200" cy="228600"/>
          </a:xfrm>
          <a:prstGeom prst="rect">
            <a:avLst/>
          </a:prstGeom>
          <a:noFill/>
        </p:spPr>
        <p:txBody>
          <a:bodyPr wrap="square" anchor="t">
            <a:spAutoFit/>
          </a:bodyPr>
          <a:lstStyle/>
          <a:p>
            <a:pPr algn="l"/>
            <a:r>
              <a:rPr sz="1250" b="1">
                <a:solidFill>
                  <a:srgbClr val="2D6A4F"/>
                </a:solidFill>
                <a:latin typeface="Aptos"/>
              </a:rPr>
              <a:t>MODEL DEVELOPMENT</a:t>
            </a:r>
          </a:p>
        </p:txBody>
      </p:sp>
      <p:sp>
        <p:nvSpPr>
          <p:cNvPr id="4" name="TextBox 3"/>
          <p:cNvSpPr txBox="1"/>
          <p:nvPr/>
        </p:nvSpPr>
        <p:spPr>
          <a:xfrm>
            <a:off x="530352" y="576072"/>
            <a:ext cx="10881360" cy="457200"/>
          </a:xfrm>
          <a:prstGeom prst="rect">
            <a:avLst/>
          </a:prstGeom>
          <a:noFill/>
        </p:spPr>
        <p:txBody>
          <a:bodyPr wrap="square" anchor="t">
            <a:spAutoFit/>
          </a:bodyPr>
          <a:lstStyle/>
          <a:p>
            <a:pPr algn="l"/>
            <a:r>
              <a:rPr sz="3100" b="1">
                <a:solidFill>
                  <a:srgbClr val="0F2318"/>
                </a:solidFill>
                <a:latin typeface="Aptos"/>
              </a:rPr>
              <a:t>U-Net Architecture</a:t>
            </a:r>
          </a:p>
        </p:txBody>
      </p:sp>
      <p:sp>
        <p:nvSpPr>
          <p:cNvPr id="5" name="Rectangle 4"/>
          <p:cNvSpPr/>
          <p:nvPr/>
        </p:nvSpPr>
        <p:spPr>
          <a:xfrm>
            <a:off x="530352" y="1097280"/>
            <a:ext cx="640080" cy="41148"/>
          </a:xfrm>
          <a:prstGeom prst="rect">
            <a:avLst/>
          </a:prstGeom>
          <a:solidFill>
            <a:srgbClr val="2D6A4F"/>
          </a:solidFill>
          <a:ln>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6096000" y="3988778"/>
            <a:ext cx="5440680" cy="2148840"/>
          </a:xfrm>
          <a:prstGeom prst="roundRect">
            <a:avLst>
              <a:gd name="adj" fmla="val 12000"/>
            </a:avLst>
          </a:prstGeom>
          <a:solidFill>
            <a:srgbClr val="EEF7F0"/>
          </a:solidFill>
          <a:ln>
            <a:solidFill>
              <a:srgbClr val="CF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260592" y="4116794"/>
            <a:ext cx="5111496" cy="274320"/>
          </a:xfrm>
          <a:prstGeom prst="rect">
            <a:avLst/>
          </a:prstGeom>
          <a:noFill/>
        </p:spPr>
        <p:txBody>
          <a:bodyPr wrap="square" anchor="t">
            <a:spAutoFit/>
          </a:bodyPr>
          <a:lstStyle/>
          <a:p>
            <a:pPr algn="l"/>
            <a:r>
              <a:rPr sz="1450" b="1">
                <a:solidFill>
                  <a:srgbClr val="1B4332"/>
                </a:solidFill>
                <a:latin typeface="Aptos"/>
              </a:rPr>
              <a:t>TRAINING CONFIGURATION</a:t>
            </a:r>
          </a:p>
        </p:txBody>
      </p:sp>
      <p:sp>
        <p:nvSpPr>
          <p:cNvPr id="24" name="TextBox 23"/>
          <p:cNvSpPr txBox="1"/>
          <p:nvPr/>
        </p:nvSpPr>
        <p:spPr>
          <a:xfrm>
            <a:off x="6260592" y="4464266"/>
            <a:ext cx="5111496" cy="1581912"/>
          </a:xfrm>
          <a:prstGeom prst="rect">
            <a:avLst/>
          </a:prstGeom>
          <a:noFill/>
        </p:spPr>
        <p:txBody>
          <a:bodyPr wrap="square">
            <a:spAutoFit/>
          </a:bodyPr>
          <a:lstStyle/>
          <a:p>
            <a:pPr>
              <a:spcAft>
                <a:spcPts val="500"/>
              </a:spcAft>
              <a:defRPr sz="1450">
                <a:solidFill>
                  <a:srgbClr val="0F2318"/>
                </a:solidFill>
                <a:latin typeface="Aptos"/>
              </a:defRPr>
            </a:pPr>
            <a:r>
              <a:rPr dirty="0"/>
              <a:t>▸ Adam optimizer · learning rate 0.001 · binary cross-entropy loss</a:t>
            </a:r>
          </a:p>
          <a:p>
            <a:pPr>
              <a:spcAft>
                <a:spcPts val="500"/>
              </a:spcAft>
              <a:defRPr sz="1450">
                <a:solidFill>
                  <a:srgbClr val="0F2318"/>
                </a:solidFill>
                <a:latin typeface="Aptos"/>
              </a:defRPr>
            </a:pPr>
            <a:r>
              <a:rPr dirty="0"/>
              <a:t>▸ Batch size, epochs, augmentation, class-imbalance handling, stopping criteria recorded</a:t>
            </a:r>
          </a:p>
          <a:p>
            <a:pPr>
              <a:spcAft>
                <a:spcPts val="500"/>
              </a:spcAft>
              <a:defRPr sz="1450">
                <a:solidFill>
                  <a:srgbClr val="0F2318"/>
                </a:solidFill>
                <a:latin typeface="Aptos"/>
              </a:defRPr>
            </a:pPr>
            <a:r>
              <a:rPr dirty="0"/>
              <a:t>▸ Training vs. validation loss monitored for overfitting/underfitting</a:t>
            </a:r>
          </a:p>
        </p:txBody>
      </p:sp>
      <p:sp>
        <p:nvSpPr>
          <p:cNvPr id="25" name="Rounded Rectangle 24"/>
          <p:cNvSpPr/>
          <p:nvPr/>
        </p:nvSpPr>
        <p:spPr>
          <a:xfrm>
            <a:off x="6056378" y="1408176"/>
            <a:ext cx="5458968" cy="2148840"/>
          </a:xfrm>
          <a:prstGeom prst="roundRect">
            <a:avLst>
              <a:gd name="adj" fmla="val 12000"/>
            </a:avLst>
          </a:prstGeom>
          <a:solidFill>
            <a:srgbClr val="EEF7F0"/>
          </a:solidFill>
          <a:ln>
            <a:solidFill>
              <a:srgbClr val="CF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220970" y="1536192"/>
            <a:ext cx="5129783" cy="274320"/>
          </a:xfrm>
          <a:prstGeom prst="rect">
            <a:avLst/>
          </a:prstGeom>
          <a:noFill/>
        </p:spPr>
        <p:txBody>
          <a:bodyPr wrap="square" anchor="t">
            <a:spAutoFit/>
          </a:bodyPr>
          <a:lstStyle/>
          <a:p>
            <a:pPr algn="l"/>
            <a:r>
              <a:rPr sz="1450" b="1">
                <a:solidFill>
                  <a:srgbClr val="1B4332"/>
                </a:solidFill>
                <a:latin typeface="Aptos"/>
              </a:rPr>
              <a:t>WHY U-NET FITS THIS TASK</a:t>
            </a:r>
          </a:p>
        </p:txBody>
      </p:sp>
      <p:sp>
        <p:nvSpPr>
          <p:cNvPr id="27" name="TextBox 26"/>
          <p:cNvSpPr txBox="1"/>
          <p:nvPr/>
        </p:nvSpPr>
        <p:spPr>
          <a:xfrm>
            <a:off x="6220970" y="1883664"/>
            <a:ext cx="5129783" cy="1581912"/>
          </a:xfrm>
          <a:prstGeom prst="rect">
            <a:avLst/>
          </a:prstGeom>
          <a:noFill/>
        </p:spPr>
        <p:txBody>
          <a:bodyPr wrap="square">
            <a:spAutoFit/>
          </a:bodyPr>
          <a:lstStyle/>
          <a:p>
            <a:pPr>
              <a:spcAft>
                <a:spcPts val="500"/>
              </a:spcAft>
              <a:defRPr sz="1450">
                <a:solidFill>
                  <a:srgbClr val="0F2318"/>
                </a:solidFill>
                <a:latin typeface="Aptos"/>
              </a:defRPr>
            </a:pPr>
            <a:r>
              <a:rPr dirty="0"/>
              <a:t>▸ Goal is pixel-level classification, not whole-image classification</a:t>
            </a:r>
          </a:p>
          <a:p>
            <a:pPr>
              <a:spcAft>
                <a:spcPts val="500"/>
              </a:spcAft>
              <a:defRPr sz="1450">
                <a:solidFill>
                  <a:srgbClr val="0F2318"/>
                </a:solidFill>
                <a:latin typeface="Aptos"/>
              </a:defRPr>
            </a:pPr>
            <a:r>
              <a:rPr dirty="0"/>
              <a:t>▸ Skip connections preserve mangrove boundaries &amp; small/fragmented patches</a:t>
            </a:r>
          </a:p>
          <a:p>
            <a:pPr>
              <a:spcAft>
                <a:spcPts val="500"/>
              </a:spcAft>
              <a:defRPr sz="1450">
                <a:solidFill>
                  <a:srgbClr val="0F2318"/>
                </a:solidFill>
                <a:latin typeface="Aptos"/>
              </a:defRPr>
            </a:pPr>
            <a:r>
              <a:rPr dirty="0"/>
              <a:t>▸ Proven in comparable settings; lower data &amp; compute than transformers (</a:t>
            </a:r>
            <a:r>
              <a:rPr dirty="0" err="1"/>
              <a:t>Ronneberger</a:t>
            </a:r>
            <a:r>
              <a:rPr dirty="0"/>
              <a:t> et al., 2015)</a:t>
            </a:r>
          </a:p>
        </p:txBody>
      </p:sp>
      <p:pic>
        <p:nvPicPr>
          <p:cNvPr id="31" name="Picture 30">
            <a:extLst>
              <a:ext uri="{FF2B5EF4-FFF2-40B4-BE49-F238E27FC236}">
                <a16:creationId xmlns:a16="http://schemas.microsoft.com/office/drawing/2014/main" id="{55AA2F5E-6CD1-14A6-42C5-A3A4AE02AC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7060" y="1997349"/>
            <a:ext cx="5373972" cy="3288448"/>
          </a:xfrm>
          <a:prstGeom prst="rect">
            <a:avLst/>
          </a:prstGeom>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0"/>
            <a:ext cx="12191695" cy="73152"/>
          </a:xfrm>
          <a:prstGeom prst="rect">
            <a:avLst/>
          </a:prstGeom>
          <a:solidFill>
            <a:srgbClr val="2D6A4F"/>
          </a:solidFill>
          <a:ln>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657" y="310896"/>
            <a:ext cx="5029200" cy="228600"/>
          </a:xfrm>
          <a:prstGeom prst="rect">
            <a:avLst/>
          </a:prstGeom>
          <a:noFill/>
        </p:spPr>
        <p:txBody>
          <a:bodyPr wrap="square" anchor="t">
            <a:spAutoFit/>
          </a:bodyPr>
          <a:lstStyle/>
          <a:p>
            <a:pPr algn="l"/>
            <a:r>
              <a:rPr sz="1250" b="1">
                <a:solidFill>
                  <a:srgbClr val="2D6A4F"/>
                </a:solidFill>
                <a:latin typeface="Aptos"/>
              </a:rPr>
              <a:t>MODEL EVALUATION</a:t>
            </a:r>
          </a:p>
        </p:txBody>
      </p:sp>
      <p:sp>
        <p:nvSpPr>
          <p:cNvPr id="4" name="TextBox 3"/>
          <p:cNvSpPr txBox="1"/>
          <p:nvPr/>
        </p:nvSpPr>
        <p:spPr>
          <a:xfrm>
            <a:off x="530657" y="576072"/>
            <a:ext cx="10881360" cy="569387"/>
          </a:xfrm>
          <a:prstGeom prst="rect">
            <a:avLst/>
          </a:prstGeom>
          <a:noFill/>
        </p:spPr>
        <p:txBody>
          <a:bodyPr wrap="square" anchor="t">
            <a:spAutoFit/>
          </a:bodyPr>
          <a:lstStyle/>
          <a:p>
            <a:pPr algn="l"/>
            <a:r>
              <a:rPr lang="en-PH" sz="3100" b="1" dirty="0">
                <a:solidFill>
                  <a:srgbClr val="0F2318"/>
                </a:solidFill>
                <a:latin typeface="Aptos"/>
              </a:rPr>
              <a:t>Model Validation and Refinement</a:t>
            </a:r>
            <a:endParaRPr sz="3100" b="1" dirty="0">
              <a:solidFill>
                <a:srgbClr val="0F2318"/>
              </a:solidFill>
              <a:latin typeface="Aptos"/>
            </a:endParaRPr>
          </a:p>
        </p:txBody>
      </p:sp>
      <p:sp>
        <p:nvSpPr>
          <p:cNvPr id="5" name="Rectangle 4"/>
          <p:cNvSpPr/>
          <p:nvPr/>
        </p:nvSpPr>
        <p:spPr>
          <a:xfrm>
            <a:off x="530657" y="1097280"/>
            <a:ext cx="640080" cy="41148"/>
          </a:xfrm>
          <a:prstGeom prst="rect">
            <a:avLst/>
          </a:prstGeom>
          <a:solidFill>
            <a:srgbClr val="2D6A4F"/>
          </a:solidFill>
          <a:ln>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30657" y="1780945"/>
            <a:ext cx="3566160" cy="1252728"/>
          </a:xfrm>
          <a:prstGeom prst="roundRect">
            <a:avLst>
              <a:gd name="adj" fmla="val 12000"/>
            </a:avLst>
          </a:prstGeom>
          <a:solidFill>
            <a:srgbClr val="EEF7F0"/>
          </a:solidFill>
          <a:ln>
            <a:solidFill>
              <a:srgbClr val="CF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13537" y="1945537"/>
            <a:ext cx="3200400" cy="430887"/>
          </a:xfrm>
          <a:prstGeom prst="rect">
            <a:avLst/>
          </a:prstGeom>
          <a:noFill/>
        </p:spPr>
        <p:txBody>
          <a:bodyPr wrap="square" anchor="t">
            <a:spAutoFit/>
          </a:bodyPr>
          <a:lstStyle/>
          <a:p>
            <a:pPr algn="l"/>
            <a:r>
              <a:rPr sz="2200" b="1" dirty="0">
                <a:solidFill>
                  <a:srgbClr val="1B4332"/>
                </a:solidFill>
                <a:latin typeface="Aptos"/>
              </a:rPr>
              <a:t>F1-SCORE</a:t>
            </a:r>
          </a:p>
        </p:txBody>
      </p:sp>
      <p:sp>
        <p:nvSpPr>
          <p:cNvPr id="10" name="TextBox 9"/>
          <p:cNvSpPr txBox="1"/>
          <p:nvPr/>
        </p:nvSpPr>
        <p:spPr>
          <a:xfrm>
            <a:off x="713537" y="2449576"/>
            <a:ext cx="3200400" cy="430887"/>
          </a:xfrm>
          <a:prstGeom prst="rect">
            <a:avLst/>
          </a:prstGeom>
          <a:noFill/>
        </p:spPr>
        <p:txBody>
          <a:bodyPr wrap="square" anchor="t">
            <a:spAutoFit/>
          </a:bodyPr>
          <a:lstStyle/>
          <a:p>
            <a:pPr algn="ctr"/>
            <a:r>
              <a:rPr sz="2200" b="0" dirty="0">
                <a:solidFill>
                  <a:srgbClr val="0F2318"/>
                </a:solidFill>
                <a:latin typeface="Aptos"/>
              </a:rPr>
              <a:t>2TP / (2TP + FP + FN)</a:t>
            </a:r>
          </a:p>
        </p:txBody>
      </p:sp>
      <p:sp>
        <p:nvSpPr>
          <p:cNvPr id="11" name="Rounded Rectangle 10"/>
          <p:cNvSpPr/>
          <p:nvPr/>
        </p:nvSpPr>
        <p:spPr>
          <a:xfrm>
            <a:off x="4279697" y="1780945"/>
            <a:ext cx="3566160" cy="1252728"/>
          </a:xfrm>
          <a:prstGeom prst="roundRect">
            <a:avLst>
              <a:gd name="adj" fmla="val 12000"/>
            </a:avLst>
          </a:prstGeom>
          <a:solidFill>
            <a:srgbClr val="EEF7F0"/>
          </a:solidFill>
          <a:ln>
            <a:solidFill>
              <a:srgbClr val="CF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62577" y="1945537"/>
            <a:ext cx="3200400" cy="430887"/>
          </a:xfrm>
          <a:prstGeom prst="rect">
            <a:avLst/>
          </a:prstGeom>
          <a:noFill/>
        </p:spPr>
        <p:txBody>
          <a:bodyPr wrap="square" anchor="t">
            <a:spAutoFit/>
          </a:bodyPr>
          <a:lstStyle/>
          <a:p>
            <a:pPr algn="l"/>
            <a:r>
              <a:rPr sz="2200" b="1" dirty="0">
                <a:solidFill>
                  <a:srgbClr val="1B4332"/>
                </a:solidFill>
                <a:latin typeface="Aptos"/>
              </a:rPr>
              <a:t>I</a:t>
            </a:r>
            <a:r>
              <a:rPr lang="en-PH" sz="2200" b="1" dirty="0">
                <a:solidFill>
                  <a:srgbClr val="1B4332"/>
                </a:solidFill>
                <a:latin typeface="Aptos"/>
              </a:rPr>
              <a:t>o</a:t>
            </a:r>
            <a:r>
              <a:rPr sz="2200" b="1" dirty="0">
                <a:solidFill>
                  <a:srgbClr val="1B4332"/>
                </a:solidFill>
                <a:latin typeface="Aptos"/>
              </a:rPr>
              <a:t>U</a:t>
            </a:r>
          </a:p>
        </p:txBody>
      </p:sp>
      <p:sp>
        <p:nvSpPr>
          <p:cNvPr id="13" name="TextBox 12"/>
          <p:cNvSpPr txBox="1"/>
          <p:nvPr/>
        </p:nvSpPr>
        <p:spPr>
          <a:xfrm>
            <a:off x="4462577" y="2449575"/>
            <a:ext cx="3200400" cy="430887"/>
          </a:xfrm>
          <a:prstGeom prst="rect">
            <a:avLst/>
          </a:prstGeom>
          <a:noFill/>
        </p:spPr>
        <p:txBody>
          <a:bodyPr wrap="square" anchor="t">
            <a:spAutoFit/>
          </a:bodyPr>
          <a:lstStyle/>
          <a:p>
            <a:pPr algn="ctr"/>
            <a:r>
              <a:rPr sz="2200" b="0" dirty="0">
                <a:solidFill>
                  <a:srgbClr val="0F2318"/>
                </a:solidFill>
                <a:latin typeface="Aptos"/>
              </a:rPr>
              <a:t>TP / (TP + FP + FN)</a:t>
            </a:r>
          </a:p>
        </p:txBody>
      </p:sp>
      <p:sp>
        <p:nvSpPr>
          <p:cNvPr id="14" name="Rounded Rectangle 13"/>
          <p:cNvSpPr/>
          <p:nvPr/>
        </p:nvSpPr>
        <p:spPr>
          <a:xfrm>
            <a:off x="8028736" y="1780945"/>
            <a:ext cx="3566160" cy="1252728"/>
          </a:xfrm>
          <a:prstGeom prst="roundRect">
            <a:avLst>
              <a:gd name="adj" fmla="val 12000"/>
            </a:avLst>
          </a:prstGeom>
          <a:solidFill>
            <a:srgbClr val="EEF7F0"/>
          </a:solidFill>
          <a:ln>
            <a:solidFill>
              <a:srgbClr val="CF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11616" y="1945537"/>
            <a:ext cx="3200400" cy="430887"/>
          </a:xfrm>
          <a:prstGeom prst="rect">
            <a:avLst/>
          </a:prstGeom>
          <a:noFill/>
        </p:spPr>
        <p:txBody>
          <a:bodyPr wrap="square" anchor="t">
            <a:spAutoFit/>
          </a:bodyPr>
          <a:lstStyle/>
          <a:p>
            <a:pPr algn="l"/>
            <a:r>
              <a:rPr lang="en-PH" sz="2200" b="1" dirty="0">
                <a:solidFill>
                  <a:srgbClr val="1B4332"/>
                </a:solidFill>
                <a:latin typeface="Aptos"/>
              </a:rPr>
              <a:t>m</a:t>
            </a:r>
            <a:r>
              <a:rPr sz="2200" b="1" dirty="0">
                <a:solidFill>
                  <a:srgbClr val="1B4332"/>
                </a:solidFill>
                <a:latin typeface="Aptos"/>
              </a:rPr>
              <a:t>AP</a:t>
            </a:r>
          </a:p>
        </p:txBody>
      </p:sp>
      <p:sp>
        <p:nvSpPr>
          <p:cNvPr id="16" name="TextBox 15"/>
          <p:cNvSpPr txBox="1"/>
          <p:nvPr/>
        </p:nvSpPr>
        <p:spPr>
          <a:xfrm>
            <a:off x="8211616" y="2449574"/>
            <a:ext cx="3200400" cy="430887"/>
          </a:xfrm>
          <a:prstGeom prst="rect">
            <a:avLst/>
          </a:prstGeom>
          <a:noFill/>
        </p:spPr>
        <p:txBody>
          <a:bodyPr wrap="square" anchor="t">
            <a:spAutoFit/>
          </a:bodyPr>
          <a:lstStyle/>
          <a:p>
            <a:pPr algn="ctr"/>
            <a:r>
              <a:rPr sz="2200" b="0" dirty="0">
                <a:solidFill>
                  <a:srgbClr val="0F2318"/>
                </a:solidFill>
                <a:latin typeface="Aptos"/>
              </a:rPr>
              <a:t>AP = Σ (Rₙ − Rₙ₋₁) × Pₙ</a:t>
            </a:r>
          </a:p>
        </p:txBody>
      </p:sp>
      <p:sp>
        <p:nvSpPr>
          <p:cNvPr id="7" name="TextBox 6">
            <a:extLst>
              <a:ext uri="{FF2B5EF4-FFF2-40B4-BE49-F238E27FC236}">
                <a16:creationId xmlns:a16="http://schemas.microsoft.com/office/drawing/2014/main" id="{160BF81A-0031-CC13-6C01-BDA64D5C40B8}"/>
              </a:ext>
            </a:extLst>
          </p:cNvPr>
          <p:cNvSpPr txBox="1"/>
          <p:nvPr/>
        </p:nvSpPr>
        <p:spPr>
          <a:xfrm>
            <a:off x="530657" y="3514138"/>
            <a:ext cx="3200400" cy="430887"/>
          </a:xfrm>
          <a:prstGeom prst="rect">
            <a:avLst/>
          </a:prstGeom>
          <a:noFill/>
        </p:spPr>
        <p:txBody>
          <a:bodyPr wrap="square" anchor="t">
            <a:spAutoFit/>
          </a:bodyPr>
          <a:lstStyle/>
          <a:p>
            <a:pPr algn="l"/>
            <a:r>
              <a:rPr lang="en-PH" sz="2200" b="1" dirty="0">
                <a:solidFill>
                  <a:srgbClr val="1B4332"/>
                </a:solidFill>
                <a:latin typeface="Aptos"/>
              </a:rPr>
              <a:t>What it measures?</a:t>
            </a:r>
            <a:endParaRPr sz="2200" b="1" dirty="0">
              <a:solidFill>
                <a:srgbClr val="1B4332"/>
              </a:solidFill>
              <a:latin typeface="Aptos"/>
            </a:endParaRPr>
          </a:p>
        </p:txBody>
      </p:sp>
      <p:sp>
        <p:nvSpPr>
          <p:cNvPr id="19" name="TextBox 18">
            <a:extLst>
              <a:ext uri="{FF2B5EF4-FFF2-40B4-BE49-F238E27FC236}">
                <a16:creationId xmlns:a16="http://schemas.microsoft.com/office/drawing/2014/main" id="{0FCAEBE9-F599-D9CB-23C9-E25B2A2F59AB}"/>
              </a:ext>
            </a:extLst>
          </p:cNvPr>
          <p:cNvSpPr txBox="1"/>
          <p:nvPr/>
        </p:nvSpPr>
        <p:spPr>
          <a:xfrm>
            <a:off x="713537" y="3945025"/>
            <a:ext cx="2596896" cy="1446550"/>
          </a:xfrm>
          <a:prstGeom prst="rect">
            <a:avLst/>
          </a:prstGeom>
          <a:noFill/>
        </p:spPr>
        <p:txBody>
          <a:bodyPr wrap="square">
            <a:spAutoFit/>
          </a:bodyPr>
          <a:lstStyle/>
          <a:p>
            <a:pPr>
              <a:spcAft>
                <a:spcPts val="500"/>
              </a:spcAft>
              <a:defRPr sz="1450">
                <a:solidFill>
                  <a:srgbClr val="0F2318"/>
                </a:solidFill>
                <a:latin typeface="Aptos"/>
              </a:defRPr>
            </a:pPr>
            <a:r>
              <a:rPr lang="en-PH" sz="2200" dirty="0">
                <a:solidFill>
                  <a:srgbClr val="0F2318"/>
                </a:solidFill>
                <a:latin typeface="Aptos"/>
              </a:rPr>
              <a:t>Balance between correctly identified and missed mangrove pixels.</a:t>
            </a:r>
            <a:endParaRPr sz="2200" dirty="0"/>
          </a:p>
        </p:txBody>
      </p:sp>
      <p:sp>
        <p:nvSpPr>
          <p:cNvPr id="21" name="TextBox 20">
            <a:extLst>
              <a:ext uri="{FF2B5EF4-FFF2-40B4-BE49-F238E27FC236}">
                <a16:creationId xmlns:a16="http://schemas.microsoft.com/office/drawing/2014/main" id="{CA8D8818-6148-C362-0289-8DFC3A91890D}"/>
              </a:ext>
            </a:extLst>
          </p:cNvPr>
          <p:cNvSpPr txBox="1"/>
          <p:nvPr/>
        </p:nvSpPr>
        <p:spPr>
          <a:xfrm>
            <a:off x="4645457" y="3514138"/>
            <a:ext cx="3200400" cy="430887"/>
          </a:xfrm>
          <a:prstGeom prst="rect">
            <a:avLst/>
          </a:prstGeom>
          <a:noFill/>
        </p:spPr>
        <p:txBody>
          <a:bodyPr wrap="square" anchor="t">
            <a:spAutoFit/>
          </a:bodyPr>
          <a:lstStyle/>
          <a:p>
            <a:pPr algn="l"/>
            <a:r>
              <a:rPr lang="en-PH" sz="2200" b="1" dirty="0">
                <a:solidFill>
                  <a:srgbClr val="1B4332"/>
                </a:solidFill>
                <a:latin typeface="Aptos"/>
              </a:rPr>
              <a:t>What it measures?</a:t>
            </a:r>
            <a:endParaRPr sz="2200" b="1" dirty="0">
              <a:solidFill>
                <a:srgbClr val="1B4332"/>
              </a:solidFill>
              <a:latin typeface="Aptos"/>
            </a:endParaRPr>
          </a:p>
        </p:txBody>
      </p:sp>
      <p:sp>
        <p:nvSpPr>
          <p:cNvPr id="23" name="TextBox 22">
            <a:extLst>
              <a:ext uri="{FF2B5EF4-FFF2-40B4-BE49-F238E27FC236}">
                <a16:creationId xmlns:a16="http://schemas.microsoft.com/office/drawing/2014/main" id="{BF260ED6-7692-E371-CEC2-C3018087D675}"/>
              </a:ext>
            </a:extLst>
          </p:cNvPr>
          <p:cNvSpPr txBox="1"/>
          <p:nvPr/>
        </p:nvSpPr>
        <p:spPr>
          <a:xfrm>
            <a:off x="4828337" y="3909465"/>
            <a:ext cx="2596896" cy="1446550"/>
          </a:xfrm>
          <a:prstGeom prst="rect">
            <a:avLst/>
          </a:prstGeom>
          <a:noFill/>
        </p:spPr>
        <p:txBody>
          <a:bodyPr wrap="square">
            <a:spAutoFit/>
          </a:bodyPr>
          <a:lstStyle/>
          <a:p>
            <a:pPr>
              <a:spcAft>
                <a:spcPts val="500"/>
              </a:spcAft>
              <a:defRPr sz="1450">
                <a:solidFill>
                  <a:srgbClr val="0F2318"/>
                </a:solidFill>
                <a:latin typeface="Aptos"/>
              </a:defRPr>
            </a:pPr>
            <a:r>
              <a:rPr lang="en-PH" sz="2200" dirty="0">
                <a:solidFill>
                  <a:srgbClr val="0F2318"/>
                </a:solidFill>
                <a:latin typeface="Aptos"/>
              </a:rPr>
              <a:t>Overlap between predicted and reference mangrove areas.</a:t>
            </a:r>
            <a:endParaRPr sz="2200" dirty="0"/>
          </a:p>
        </p:txBody>
      </p:sp>
      <p:sp>
        <p:nvSpPr>
          <p:cNvPr id="25" name="TextBox 24">
            <a:extLst>
              <a:ext uri="{FF2B5EF4-FFF2-40B4-BE49-F238E27FC236}">
                <a16:creationId xmlns:a16="http://schemas.microsoft.com/office/drawing/2014/main" id="{E7CD336D-15D6-C70F-EC77-65567F4D5C33}"/>
              </a:ext>
            </a:extLst>
          </p:cNvPr>
          <p:cNvSpPr txBox="1"/>
          <p:nvPr/>
        </p:nvSpPr>
        <p:spPr>
          <a:xfrm>
            <a:off x="8461553" y="3478578"/>
            <a:ext cx="3200400" cy="430887"/>
          </a:xfrm>
          <a:prstGeom prst="rect">
            <a:avLst/>
          </a:prstGeom>
          <a:noFill/>
        </p:spPr>
        <p:txBody>
          <a:bodyPr wrap="square" anchor="t">
            <a:spAutoFit/>
          </a:bodyPr>
          <a:lstStyle/>
          <a:p>
            <a:pPr algn="l"/>
            <a:r>
              <a:rPr lang="en-PH" sz="2200" b="1" dirty="0">
                <a:solidFill>
                  <a:srgbClr val="1B4332"/>
                </a:solidFill>
                <a:latin typeface="Aptos"/>
              </a:rPr>
              <a:t>What it measures?</a:t>
            </a:r>
            <a:endParaRPr sz="2200" b="1" dirty="0">
              <a:solidFill>
                <a:srgbClr val="1B4332"/>
              </a:solidFill>
              <a:latin typeface="Aptos"/>
            </a:endParaRPr>
          </a:p>
        </p:txBody>
      </p:sp>
      <p:sp>
        <p:nvSpPr>
          <p:cNvPr id="27" name="TextBox 26">
            <a:extLst>
              <a:ext uri="{FF2B5EF4-FFF2-40B4-BE49-F238E27FC236}">
                <a16:creationId xmlns:a16="http://schemas.microsoft.com/office/drawing/2014/main" id="{79FE963B-F2B3-BAD9-B2E4-BDA06FE54712}"/>
              </a:ext>
            </a:extLst>
          </p:cNvPr>
          <p:cNvSpPr txBox="1"/>
          <p:nvPr/>
        </p:nvSpPr>
        <p:spPr>
          <a:xfrm>
            <a:off x="8644433" y="3873905"/>
            <a:ext cx="2596896" cy="1446550"/>
          </a:xfrm>
          <a:prstGeom prst="rect">
            <a:avLst/>
          </a:prstGeom>
          <a:noFill/>
        </p:spPr>
        <p:txBody>
          <a:bodyPr wrap="square">
            <a:spAutoFit/>
          </a:bodyPr>
          <a:lstStyle/>
          <a:p>
            <a:pPr>
              <a:spcAft>
                <a:spcPts val="500"/>
              </a:spcAft>
              <a:defRPr sz="1450">
                <a:solidFill>
                  <a:srgbClr val="0F2318"/>
                </a:solidFill>
                <a:latin typeface="Aptos"/>
              </a:defRPr>
            </a:pPr>
            <a:r>
              <a:rPr lang="en-PH" sz="2200" dirty="0">
                <a:solidFill>
                  <a:srgbClr val="0F2318"/>
                </a:solidFill>
                <a:latin typeface="Aptos"/>
              </a:rPr>
              <a:t>Model performance across different classification thresholds.</a:t>
            </a:r>
            <a:endParaRPr sz="2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2D6A4F"/>
          </a:solidFill>
          <a:ln>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30352" y="310896"/>
            <a:ext cx="5029200" cy="228600"/>
          </a:xfrm>
          <a:prstGeom prst="rect">
            <a:avLst/>
          </a:prstGeom>
          <a:noFill/>
        </p:spPr>
        <p:txBody>
          <a:bodyPr wrap="square" anchor="t">
            <a:spAutoFit/>
          </a:bodyPr>
          <a:lstStyle/>
          <a:p>
            <a:pPr algn="l"/>
            <a:r>
              <a:rPr sz="1250" b="1">
                <a:solidFill>
                  <a:srgbClr val="2D6A4F"/>
                </a:solidFill>
                <a:latin typeface="Aptos"/>
              </a:rPr>
              <a:t>MULTI-TEMPORAL ANALYSIS</a:t>
            </a:r>
          </a:p>
        </p:txBody>
      </p:sp>
      <p:sp>
        <p:nvSpPr>
          <p:cNvPr id="4" name="TextBox 3"/>
          <p:cNvSpPr txBox="1"/>
          <p:nvPr/>
        </p:nvSpPr>
        <p:spPr>
          <a:xfrm>
            <a:off x="530352" y="576072"/>
            <a:ext cx="10881360" cy="457200"/>
          </a:xfrm>
          <a:prstGeom prst="rect">
            <a:avLst/>
          </a:prstGeom>
          <a:noFill/>
        </p:spPr>
        <p:txBody>
          <a:bodyPr wrap="square" anchor="t">
            <a:spAutoFit/>
          </a:bodyPr>
          <a:lstStyle/>
          <a:p>
            <a:pPr algn="l"/>
            <a:r>
              <a:rPr sz="3100" b="1" dirty="0">
                <a:solidFill>
                  <a:srgbClr val="0F2318"/>
                </a:solidFill>
                <a:latin typeface="Aptos"/>
              </a:rPr>
              <a:t>Change Detection: Mangrove Gain &amp; Loss</a:t>
            </a:r>
          </a:p>
        </p:txBody>
      </p:sp>
      <p:sp>
        <p:nvSpPr>
          <p:cNvPr id="5" name="Rectangle 4"/>
          <p:cNvSpPr/>
          <p:nvPr/>
        </p:nvSpPr>
        <p:spPr>
          <a:xfrm>
            <a:off x="530352" y="1097280"/>
            <a:ext cx="640080" cy="41148"/>
          </a:xfrm>
          <a:prstGeom prst="rect">
            <a:avLst/>
          </a:prstGeom>
          <a:solidFill>
            <a:srgbClr val="2D6A4F"/>
          </a:solidFill>
          <a:ln>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30352" y="1371600"/>
            <a:ext cx="11128248" cy="502920"/>
          </a:xfrm>
          <a:prstGeom prst="roundRect">
            <a:avLst>
              <a:gd name="adj" fmla="val 12000"/>
            </a:avLst>
          </a:prstGeom>
          <a:solidFill>
            <a:srgbClr val="D8F3DC"/>
          </a:solidFill>
          <a:ln>
            <a:solidFill>
              <a:srgbClr val="CF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13232" y="1517904"/>
            <a:ext cx="10744200" cy="201168"/>
          </a:xfrm>
          <a:prstGeom prst="rect">
            <a:avLst/>
          </a:prstGeom>
          <a:noFill/>
        </p:spPr>
        <p:txBody>
          <a:bodyPr wrap="square" anchor="t">
            <a:spAutoFit/>
          </a:bodyPr>
          <a:lstStyle/>
          <a:p>
            <a:pPr algn="ctr"/>
            <a:r>
              <a:rPr sz="1400" b="1" dirty="0">
                <a:solidFill>
                  <a:srgbClr val="1B4332"/>
                </a:solidFill>
                <a:latin typeface="Aptos"/>
              </a:rPr>
              <a:t>Locked model applied uniformly to all years → annual binary maps 2019–2024</a:t>
            </a:r>
          </a:p>
        </p:txBody>
      </p:sp>
      <p:sp>
        <p:nvSpPr>
          <p:cNvPr id="10" name="Rounded Rectangle 9"/>
          <p:cNvSpPr/>
          <p:nvPr/>
        </p:nvSpPr>
        <p:spPr>
          <a:xfrm>
            <a:off x="640080" y="2057400"/>
            <a:ext cx="3429000" cy="365760"/>
          </a:xfrm>
          <a:prstGeom prst="roundRect">
            <a:avLst>
              <a:gd name="adj" fmla="val 12000"/>
            </a:avLst>
          </a:prstGeom>
          <a:solidFill>
            <a:srgbClr val="EEF7F0"/>
          </a:solidFill>
          <a:ln>
            <a:solidFill>
              <a:srgbClr val="CF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 y="2139696"/>
            <a:ext cx="3337560" cy="164592"/>
          </a:xfrm>
          <a:prstGeom prst="rect">
            <a:avLst/>
          </a:prstGeom>
          <a:noFill/>
        </p:spPr>
        <p:txBody>
          <a:bodyPr wrap="square" anchor="t">
            <a:spAutoFit/>
          </a:bodyPr>
          <a:lstStyle/>
          <a:p>
            <a:pPr algn="ctr"/>
            <a:r>
              <a:rPr sz="1250" b="1">
                <a:solidFill>
                  <a:srgbClr val="0F2318"/>
                </a:solidFill>
                <a:latin typeface="Aptos"/>
              </a:rPr>
              <a:t>2019–2020</a:t>
            </a:r>
          </a:p>
        </p:txBody>
      </p:sp>
      <p:sp>
        <p:nvSpPr>
          <p:cNvPr id="12" name="Rounded Rectangle 11"/>
          <p:cNvSpPr/>
          <p:nvPr/>
        </p:nvSpPr>
        <p:spPr>
          <a:xfrm>
            <a:off x="4343400" y="2057400"/>
            <a:ext cx="3429000" cy="365760"/>
          </a:xfrm>
          <a:prstGeom prst="roundRect">
            <a:avLst>
              <a:gd name="adj" fmla="val 12000"/>
            </a:avLst>
          </a:prstGeom>
          <a:solidFill>
            <a:srgbClr val="EEF7F0"/>
          </a:solidFill>
          <a:ln>
            <a:solidFill>
              <a:srgbClr val="CF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389120" y="2139696"/>
            <a:ext cx="3337560" cy="164592"/>
          </a:xfrm>
          <a:prstGeom prst="rect">
            <a:avLst/>
          </a:prstGeom>
          <a:noFill/>
        </p:spPr>
        <p:txBody>
          <a:bodyPr wrap="square" anchor="t">
            <a:spAutoFit/>
          </a:bodyPr>
          <a:lstStyle/>
          <a:p>
            <a:pPr algn="ctr"/>
            <a:r>
              <a:rPr sz="1250" b="1">
                <a:solidFill>
                  <a:srgbClr val="0F2318"/>
                </a:solidFill>
                <a:latin typeface="Aptos"/>
              </a:rPr>
              <a:t>2020–2021</a:t>
            </a:r>
          </a:p>
        </p:txBody>
      </p:sp>
      <p:sp>
        <p:nvSpPr>
          <p:cNvPr id="14" name="Rounded Rectangle 13"/>
          <p:cNvSpPr/>
          <p:nvPr/>
        </p:nvSpPr>
        <p:spPr>
          <a:xfrm>
            <a:off x="8046719" y="2057400"/>
            <a:ext cx="3429000" cy="365760"/>
          </a:xfrm>
          <a:prstGeom prst="roundRect">
            <a:avLst>
              <a:gd name="adj" fmla="val 12000"/>
            </a:avLst>
          </a:prstGeom>
          <a:solidFill>
            <a:srgbClr val="EEF7F0"/>
          </a:solidFill>
          <a:ln>
            <a:solidFill>
              <a:srgbClr val="CF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092440" y="2139696"/>
            <a:ext cx="3337560" cy="164592"/>
          </a:xfrm>
          <a:prstGeom prst="rect">
            <a:avLst/>
          </a:prstGeom>
          <a:noFill/>
        </p:spPr>
        <p:txBody>
          <a:bodyPr wrap="square" anchor="t">
            <a:spAutoFit/>
          </a:bodyPr>
          <a:lstStyle/>
          <a:p>
            <a:pPr algn="ctr"/>
            <a:r>
              <a:rPr sz="1250" b="1">
                <a:solidFill>
                  <a:srgbClr val="0F2318"/>
                </a:solidFill>
                <a:latin typeface="Aptos"/>
              </a:rPr>
              <a:t>2021–2022</a:t>
            </a:r>
          </a:p>
        </p:txBody>
      </p:sp>
      <p:sp>
        <p:nvSpPr>
          <p:cNvPr id="16" name="Rounded Rectangle 15"/>
          <p:cNvSpPr/>
          <p:nvPr/>
        </p:nvSpPr>
        <p:spPr>
          <a:xfrm>
            <a:off x="640080" y="2560320"/>
            <a:ext cx="3429000" cy="365760"/>
          </a:xfrm>
          <a:prstGeom prst="roundRect">
            <a:avLst>
              <a:gd name="adj" fmla="val 12000"/>
            </a:avLst>
          </a:prstGeom>
          <a:solidFill>
            <a:srgbClr val="EEF7F0"/>
          </a:solidFill>
          <a:ln>
            <a:solidFill>
              <a:srgbClr val="CF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85800" y="2642615"/>
            <a:ext cx="3337560" cy="164592"/>
          </a:xfrm>
          <a:prstGeom prst="rect">
            <a:avLst/>
          </a:prstGeom>
          <a:noFill/>
        </p:spPr>
        <p:txBody>
          <a:bodyPr wrap="square" anchor="t">
            <a:spAutoFit/>
          </a:bodyPr>
          <a:lstStyle/>
          <a:p>
            <a:pPr algn="ctr"/>
            <a:r>
              <a:rPr sz="1250" b="1">
                <a:solidFill>
                  <a:srgbClr val="0F2318"/>
                </a:solidFill>
                <a:latin typeface="Aptos"/>
              </a:rPr>
              <a:t>2022–2023</a:t>
            </a:r>
          </a:p>
        </p:txBody>
      </p:sp>
      <p:sp>
        <p:nvSpPr>
          <p:cNvPr id="18" name="Rounded Rectangle 17"/>
          <p:cNvSpPr/>
          <p:nvPr/>
        </p:nvSpPr>
        <p:spPr>
          <a:xfrm>
            <a:off x="4343400" y="2560320"/>
            <a:ext cx="3429000" cy="365760"/>
          </a:xfrm>
          <a:prstGeom prst="roundRect">
            <a:avLst>
              <a:gd name="adj" fmla="val 12000"/>
            </a:avLst>
          </a:prstGeom>
          <a:solidFill>
            <a:srgbClr val="EEF7F0"/>
          </a:solidFill>
          <a:ln>
            <a:solidFill>
              <a:srgbClr val="CF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389120" y="2642615"/>
            <a:ext cx="3337560" cy="164592"/>
          </a:xfrm>
          <a:prstGeom prst="rect">
            <a:avLst/>
          </a:prstGeom>
          <a:noFill/>
        </p:spPr>
        <p:txBody>
          <a:bodyPr wrap="square" anchor="t">
            <a:spAutoFit/>
          </a:bodyPr>
          <a:lstStyle/>
          <a:p>
            <a:pPr algn="ctr"/>
            <a:r>
              <a:rPr sz="1250" b="1" dirty="0">
                <a:solidFill>
                  <a:srgbClr val="0F2318"/>
                </a:solidFill>
                <a:latin typeface="Aptos"/>
              </a:rPr>
              <a:t>2023–2024</a:t>
            </a:r>
          </a:p>
        </p:txBody>
      </p:sp>
      <p:sp>
        <p:nvSpPr>
          <p:cNvPr id="20" name="Rounded Rectangle 19"/>
          <p:cNvSpPr/>
          <p:nvPr/>
        </p:nvSpPr>
        <p:spPr>
          <a:xfrm>
            <a:off x="8046719" y="2560320"/>
            <a:ext cx="3429000" cy="365760"/>
          </a:xfrm>
          <a:prstGeom prst="roundRect">
            <a:avLst>
              <a:gd name="adj" fmla="val 12000"/>
            </a:avLst>
          </a:prstGeom>
          <a:solidFill>
            <a:srgbClr val="EEF7F0"/>
          </a:solidFill>
          <a:ln>
            <a:solidFill>
              <a:srgbClr val="CF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092440" y="2642615"/>
            <a:ext cx="3337560" cy="164592"/>
          </a:xfrm>
          <a:prstGeom prst="rect">
            <a:avLst/>
          </a:prstGeom>
          <a:noFill/>
        </p:spPr>
        <p:txBody>
          <a:bodyPr wrap="square" anchor="t">
            <a:spAutoFit/>
          </a:bodyPr>
          <a:lstStyle/>
          <a:p>
            <a:pPr algn="ctr"/>
            <a:r>
              <a:rPr sz="1250" b="1">
                <a:solidFill>
                  <a:srgbClr val="0F2318"/>
                </a:solidFill>
                <a:latin typeface="Aptos"/>
              </a:rPr>
              <a:t>Overall 2019–2024</a:t>
            </a:r>
          </a:p>
        </p:txBody>
      </p:sp>
      <p:sp>
        <p:nvSpPr>
          <p:cNvPr id="22" name="Rounded Rectangle 21"/>
          <p:cNvSpPr/>
          <p:nvPr/>
        </p:nvSpPr>
        <p:spPr>
          <a:xfrm>
            <a:off x="555498" y="3255642"/>
            <a:ext cx="4355528" cy="3104517"/>
          </a:xfrm>
          <a:prstGeom prst="roundRect">
            <a:avLst>
              <a:gd name="adj" fmla="val 12000"/>
            </a:avLst>
          </a:prstGeom>
          <a:solidFill>
            <a:srgbClr val="D8F3DC"/>
          </a:solidFill>
          <a:ln>
            <a:solidFill>
              <a:srgbClr val="CF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30352" y="3246119"/>
            <a:ext cx="303025" cy="3114039"/>
          </a:xfrm>
          <a:prstGeom prst="rect">
            <a:avLst/>
          </a:prstGeom>
          <a:solidFill>
            <a:srgbClr val="2D6A4F"/>
          </a:solidFill>
          <a:ln>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23185" y="3346702"/>
            <a:ext cx="3694176" cy="646331"/>
          </a:xfrm>
          <a:prstGeom prst="rect">
            <a:avLst/>
          </a:prstGeom>
          <a:noFill/>
        </p:spPr>
        <p:txBody>
          <a:bodyPr wrap="square" anchor="t">
            <a:spAutoFit/>
          </a:bodyPr>
          <a:lstStyle/>
          <a:p>
            <a:r>
              <a:rPr b="0" dirty="0">
                <a:solidFill>
                  <a:srgbClr val="0F2318"/>
                </a:solidFill>
                <a:latin typeface="Aptos"/>
              </a:rPr>
              <a:t>Area statistics: 10 m grid → 1 pixel = 100 m²</a:t>
            </a:r>
          </a:p>
        </p:txBody>
      </p:sp>
      <p:sp>
        <p:nvSpPr>
          <p:cNvPr id="25" name="Rounded Rectangle 24"/>
          <p:cNvSpPr/>
          <p:nvPr/>
        </p:nvSpPr>
        <p:spPr>
          <a:xfrm>
            <a:off x="5609844" y="3154680"/>
            <a:ext cx="6048756" cy="3392424"/>
          </a:xfrm>
          <a:prstGeom prst="roundRect">
            <a:avLst>
              <a:gd name="adj" fmla="val 12000"/>
            </a:avLst>
          </a:prstGeom>
          <a:solidFill>
            <a:srgbClr val="FFFFFF"/>
          </a:solidFill>
          <a:ln>
            <a:solidFill>
              <a:srgbClr val="CF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6" name="TextBox 25"/>
          <p:cNvSpPr txBox="1"/>
          <p:nvPr/>
        </p:nvSpPr>
        <p:spPr>
          <a:xfrm>
            <a:off x="9613802" y="3239040"/>
            <a:ext cx="2449857" cy="646331"/>
          </a:xfrm>
          <a:prstGeom prst="rect">
            <a:avLst/>
          </a:prstGeom>
          <a:noFill/>
        </p:spPr>
        <p:txBody>
          <a:bodyPr wrap="square" anchor="t">
            <a:spAutoFit/>
          </a:bodyPr>
          <a:lstStyle/>
          <a:p>
            <a:pPr algn="l"/>
            <a:r>
              <a:rPr b="1" dirty="0">
                <a:solidFill>
                  <a:srgbClr val="1B4332"/>
                </a:solidFill>
                <a:latin typeface="Aptos"/>
              </a:rPr>
              <a:t>TRANSITION CATEGORIES</a:t>
            </a:r>
          </a:p>
        </p:txBody>
      </p:sp>
      <p:sp>
        <p:nvSpPr>
          <p:cNvPr id="27" name="TextBox 26"/>
          <p:cNvSpPr txBox="1"/>
          <p:nvPr/>
        </p:nvSpPr>
        <p:spPr>
          <a:xfrm>
            <a:off x="5937910" y="4000766"/>
            <a:ext cx="1570448" cy="338554"/>
          </a:xfrm>
          <a:prstGeom prst="rect">
            <a:avLst/>
          </a:prstGeom>
          <a:noFill/>
        </p:spPr>
        <p:txBody>
          <a:bodyPr wrap="square" anchor="t">
            <a:spAutoFit/>
          </a:bodyPr>
          <a:lstStyle/>
          <a:p>
            <a:pPr algn="l"/>
            <a:r>
              <a:rPr sz="1600" b="0" dirty="0">
                <a:solidFill>
                  <a:srgbClr val="0F2318"/>
                </a:solidFill>
                <a:latin typeface="Aptos"/>
              </a:rPr>
              <a:t>Non-mangrove</a:t>
            </a:r>
          </a:p>
        </p:txBody>
      </p:sp>
      <p:sp>
        <p:nvSpPr>
          <p:cNvPr id="28" name="TextBox 27"/>
          <p:cNvSpPr txBox="1"/>
          <p:nvPr/>
        </p:nvSpPr>
        <p:spPr>
          <a:xfrm>
            <a:off x="7541480" y="4005845"/>
            <a:ext cx="1469128" cy="338554"/>
          </a:xfrm>
          <a:prstGeom prst="rect">
            <a:avLst/>
          </a:prstGeom>
          <a:noFill/>
        </p:spPr>
        <p:txBody>
          <a:bodyPr wrap="square" anchor="t">
            <a:spAutoFit/>
          </a:bodyPr>
          <a:lstStyle/>
          <a:p>
            <a:pPr algn="l"/>
            <a:r>
              <a:rPr sz="1600" b="0" dirty="0">
                <a:solidFill>
                  <a:srgbClr val="0F2318"/>
                </a:solidFill>
                <a:latin typeface="Aptos"/>
              </a:rPr>
              <a:t>Mangrove</a:t>
            </a:r>
          </a:p>
        </p:txBody>
      </p:sp>
      <p:sp>
        <p:nvSpPr>
          <p:cNvPr id="29" name="TextBox 28"/>
          <p:cNvSpPr txBox="1"/>
          <p:nvPr/>
        </p:nvSpPr>
        <p:spPr>
          <a:xfrm>
            <a:off x="9253482" y="4011018"/>
            <a:ext cx="2330342" cy="338554"/>
          </a:xfrm>
          <a:prstGeom prst="rect">
            <a:avLst/>
          </a:prstGeom>
          <a:noFill/>
        </p:spPr>
        <p:txBody>
          <a:bodyPr wrap="square" anchor="t">
            <a:spAutoFit/>
          </a:bodyPr>
          <a:lstStyle/>
          <a:p>
            <a:pPr algn="l"/>
            <a:r>
              <a:rPr sz="1600" b="1" dirty="0">
                <a:solidFill>
                  <a:srgbClr val="2D6A4F"/>
                </a:solidFill>
                <a:latin typeface="Aptos"/>
              </a:rPr>
              <a:t>Mapped mangrove gain</a:t>
            </a:r>
          </a:p>
        </p:txBody>
      </p:sp>
      <p:sp>
        <p:nvSpPr>
          <p:cNvPr id="30" name="TextBox 29"/>
          <p:cNvSpPr txBox="1"/>
          <p:nvPr/>
        </p:nvSpPr>
        <p:spPr>
          <a:xfrm>
            <a:off x="5971032" y="4624083"/>
            <a:ext cx="1570448" cy="338554"/>
          </a:xfrm>
          <a:prstGeom prst="rect">
            <a:avLst/>
          </a:prstGeom>
          <a:noFill/>
        </p:spPr>
        <p:txBody>
          <a:bodyPr wrap="square" anchor="t">
            <a:spAutoFit/>
          </a:bodyPr>
          <a:lstStyle/>
          <a:p>
            <a:pPr algn="l"/>
            <a:r>
              <a:rPr sz="1600" b="0" dirty="0">
                <a:solidFill>
                  <a:srgbClr val="0F2318"/>
                </a:solidFill>
                <a:latin typeface="Aptos"/>
              </a:rPr>
              <a:t>Mangrove</a:t>
            </a:r>
          </a:p>
        </p:txBody>
      </p:sp>
      <p:sp>
        <p:nvSpPr>
          <p:cNvPr id="31" name="TextBox 30"/>
          <p:cNvSpPr txBox="1"/>
          <p:nvPr/>
        </p:nvSpPr>
        <p:spPr>
          <a:xfrm>
            <a:off x="7457699" y="4609726"/>
            <a:ext cx="1570446" cy="338554"/>
          </a:xfrm>
          <a:prstGeom prst="rect">
            <a:avLst/>
          </a:prstGeom>
          <a:noFill/>
        </p:spPr>
        <p:txBody>
          <a:bodyPr wrap="square" anchor="t">
            <a:spAutoFit/>
          </a:bodyPr>
          <a:lstStyle/>
          <a:p>
            <a:pPr algn="l"/>
            <a:r>
              <a:rPr sz="1600" b="0" dirty="0">
                <a:solidFill>
                  <a:srgbClr val="0F2318"/>
                </a:solidFill>
                <a:latin typeface="Aptos"/>
              </a:rPr>
              <a:t>Non-mangrove</a:t>
            </a:r>
          </a:p>
        </p:txBody>
      </p:sp>
      <p:sp>
        <p:nvSpPr>
          <p:cNvPr id="32" name="TextBox 31"/>
          <p:cNvSpPr txBox="1"/>
          <p:nvPr/>
        </p:nvSpPr>
        <p:spPr>
          <a:xfrm>
            <a:off x="9253482" y="4624083"/>
            <a:ext cx="2330342" cy="338554"/>
          </a:xfrm>
          <a:prstGeom prst="rect">
            <a:avLst/>
          </a:prstGeom>
          <a:noFill/>
        </p:spPr>
        <p:txBody>
          <a:bodyPr wrap="square" anchor="t">
            <a:spAutoFit/>
          </a:bodyPr>
          <a:lstStyle/>
          <a:p>
            <a:pPr algn="l"/>
            <a:r>
              <a:rPr sz="1600" b="1" dirty="0">
                <a:solidFill>
                  <a:srgbClr val="A4161A"/>
                </a:solidFill>
                <a:latin typeface="Aptos"/>
              </a:rPr>
              <a:t>Mapped mangrove loss</a:t>
            </a:r>
          </a:p>
        </p:txBody>
      </p:sp>
      <p:sp>
        <p:nvSpPr>
          <p:cNvPr id="33" name="TextBox 32"/>
          <p:cNvSpPr txBox="1"/>
          <p:nvPr/>
        </p:nvSpPr>
        <p:spPr>
          <a:xfrm>
            <a:off x="5937910" y="5247039"/>
            <a:ext cx="1570448" cy="338554"/>
          </a:xfrm>
          <a:prstGeom prst="rect">
            <a:avLst/>
          </a:prstGeom>
          <a:noFill/>
        </p:spPr>
        <p:txBody>
          <a:bodyPr wrap="square" anchor="t">
            <a:spAutoFit/>
          </a:bodyPr>
          <a:lstStyle/>
          <a:p>
            <a:pPr algn="l"/>
            <a:r>
              <a:rPr sz="1600" b="0" dirty="0">
                <a:solidFill>
                  <a:srgbClr val="0F2318"/>
                </a:solidFill>
                <a:latin typeface="Aptos"/>
              </a:rPr>
              <a:t>Mangrove</a:t>
            </a:r>
          </a:p>
        </p:txBody>
      </p:sp>
      <p:sp>
        <p:nvSpPr>
          <p:cNvPr id="34" name="TextBox 33"/>
          <p:cNvSpPr txBox="1"/>
          <p:nvPr/>
        </p:nvSpPr>
        <p:spPr>
          <a:xfrm>
            <a:off x="7508358" y="5236796"/>
            <a:ext cx="1469128" cy="338554"/>
          </a:xfrm>
          <a:prstGeom prst="rect">
            <a:avLst/>
          </a:prstGeom>
          <a:noFill/>
        </p:spPr>
        <p:txBody>
          <a:bodyPr wrap="square" anchor="t">
            <a:spAutoFit/>
          </a:bodyPr>
          <a:lstStyle/>
          <a:p>
            <a:pPr algn="l"/>
            <a:r>
              <a:rPr sz="1600" b="0" dirty="0">
                <a:solidFill>
                  <a:srgbClr val="0F2318"/>
                </a:solidFill>
                <a:latin typeface="Aptos"/>
              </a:rPr>
              <a:t>Mangrove</a:t>
            </a:r>
          </a:p>
        </p:txBody>
      </p:sp>
      <p:sp>
        <p:nvSpPr>
          <p:cNvPr id="35" name="TextBox 34"/>
          <p:cNvSpPr txBox="1"/>
          <p:nvPr/>
        </p:nvSpPr>
        <p:spPr>
          <a:xfrm>
            <a:off x="9253482" y="5235907"/>
            <a:ext cx="2330342" cy="338554"/>
          </a:xfrm>
          <a:prstGeom prst="rect">
            <a:avLst/>
          </a:prstGeom>
          <a:noFill/>
        </p:spPr>
        <p:txBody>
          <a:bodyPr wrap="square" anchor="t">
            <a:spAutoFit/>
          </a:bodyPr>
          <a:lstStyle/>
          <a:p>
            <a:pPr algn="l"/>
            <a:r>
              <a:rPr sz="1600" b="1">
                <a:solidFill>
                  <a:srgbClr val="0F2318"/>
                </a:solidFill>
                <a:latin typeface="Aptos"/>
              </a:rPr>
              <a:t>Stable mangrove</a:t>
            </a:r>
          </a:p>
        </p:txBody>
      </p:sp>
      <p:sp>
        <p:nvSpPr>
          <p:cNvPr id="36" name="TextBox 35"/>
          <p:cNvSpPr txBox="1"/>
          <p:nvPr/>
        </p:nvSpPr>
        <p:spPr>
          <a:xfrm>
            <a:off x="5937910" y="5929697"/>
            <a:ext cx="1570448" cy="338554"/>
          </a:xfrm>
          <a:prstGeom prst="rect">
            <a:avLst/>
          </a:prstGeom>
          <a:noFill/>
        </p:spPr>
        <p:txBody>
          <a:bodyPr wrap="square" anchor="t">
            <a:spAutoFit/>
          </a:bodyPr>
          <a:lstStyle/>
          <a:p>
            <a:pPr algn="l"/>
            <a:r>
              <a:rPr sz="1600" b="0" dirty="0">
                <a:solidFill>
                  <a:srgbClr val="0F2318"/>
                </a:solidFill>
                <a:latin typeface="Aptos"/>
              </a:rPr>
              <a:t>Non-mangrove</a:t>
            </a:r>
          </a:p>
        </p:txBody>
      </p:sp>
      <p:sp>
        <p:nvSpPr>
          <p:cNvPr id="37" name="TextBox 36"/>
          <p:cNvSpPr txBox="1"/>
          <p:nvPr/>
        </p:nvSpPr>
        <p:spPr>
          <a:xfrm>
            <a:off x="7541480" y="5929697"/>
            <a:ext cx="1570447" cy="338554"/>
          </a:xfrm>
          <a:prstGeom prst="rect">
            <a:avLst/>
          </a:prstGeom>
          <a:noFill/>
        </p:spPr>
        <p:txBody>
          <a:bodyPr wrap="square" anchor="t">
            <a:spAutoFit/>
          </a:bodyPr>
          <a:lstStyle/>
          <a:p>
            <a:pPr algn="l"/>
            <a:r>
              <a:rPr sz="1600" b="0" dirty="0">
                <a:solidFill>
                  <a:srgbClr val="0F2318"/>
                </a:solidFill>
                <a:latin typeface="Aptos"/>
              </a:rPr>
              <a:t>Non-mangrove</a:t>
            </a:r>
          </a:p>
        </p:txBody>
      </p:sp>
      <p:sp>
        <p:nvSpPr>
          <p:cNvPr id="38" name="TextBox 37"/>
          <p:cNvSpPr txBox="1"/>
          <p:nvPr/>
        </p:nvSpPr>
        <p:spPr>
          <a:xfrm>
            <a:off x="9288671" y="5922691"/>
            <a:ext cx="2330342" cy="338554"/>
          </a:xfrm>
          <a:prstGeom prst="rect">
            <a:avLst/>
          </a:prstGeom>
          <a:noFill/>
        </p:spPr>
        <p:txBody>
          <a:bodyPr wrap="square" anchor="t">
            <a:spAutoFit/>
          </a:bodyPr>
          <a:lstStyle/>
          <a:p>
            <a:pPr algn="l"/>
            <a:r>
              <a:rPr sz="1600" b="1" dirty="0">
                <a:solidFill>
                  <a:srgbClr val="0F2318"/>
                </a:solidFill>
                <a:latin typeface="Aptos"/>
              </a:rPr>
              <a:t>Stable non-mangrove</a:t>
            </a:r>
          </a:p>
        </p:txBody>
      </p:sp>
      <p:sp>
        <p:nvSpPr>
          <p:cNvPr id="47" name="TextBox 46">
            <a:extLst>
              <a:ext uri="{FF2B5EF4-FFF2-40B4-BE49-F238E27FC236}">
                <a16:creationId xmlns:a16="http://schemas.microsoft.com/office/drawing/2014/main" id="{AA5CAC23-16E4-05D9-46C8-A8FA7CCFDD01}"/>
              </a:ext>
            </a:extLst>
          </p:cNvPr>
          <p:cNvSpPr txBox="1"/>
          <p:nvPr/>
        </p:nvSpPr>
        <p:spPr>
          <a:xfrm>
            <a:off x="7611823" y="3490589"/>
            <a:ext cx="2449857" cy="369332"/>
          </a:xfrm>
          <a:prstGeom prst="rect">
            <a:avLst/>
          </a:prstGeom>
          <a:noFill/>
        </p:spPr>
        <p:txBody>
          <a:bodyPr wrap="square" anchor="t">
            <a:spAutoFit/>
          </a:bodyPr>
          <a:lstStyle/>
          <a:p>
            <a:pPr algn="l"/>
            <a:r>
              <a:rPr lang="en-PH" b="1" dirty="0">
                <a:solidFill>
                  <a:srgbClr val="1B4332"/>
                </a:solidFill>
                <a:latin typeface="Aptos"/>
              </a:rPr>
              <a:t>LATER YEAR</a:t>
            </a:r>
            <a:endParaRPr b="1" dirty="0">
              <a:solidFill>
                <a:srgbClr val="1B4332"/>
              </a:solidFill>
              <a:latin typeface="Aptos"/>
            </a:endParaRPr>
          </a:p>
        </p:txBody>
      </p:sp>
      <p:sp>
        <p:nvSpPr>
          <p:cNvPr id="49" name="TextBox 48">
            <a:extLst>
              <a:ext uri="{FF2B5EF4-FFF2-40B4-BE49-F238E27FC236}">
                <a16:creationId xmlns:a16="http://schemas.microsoft.com/office/drawing/2014/main" id="{AA64A5F2-C131-F408-8D94-C2254402A894}"/>
              </a:ext>
            </a:extLst>
          </p:cNvPr>
          <p:cNvSpPr txBox="1"/>
          <p:nvPr/>
        </p:nvSpPr>
        <p:spPr>
          <a:xfrm>
            <a:off x="5843016" y="3484243"/>
            <a:ext cx="2449857" cy="369332"/>
          </a:xfrm>
          <a:prstGeom prst="rect">
            <a:avLst/>
          </a:prstGeom>
          <a:noFill/>
        </p:spPr>
        <p:txBody>
          <a:bodyPr wrap="square" anchor="t">
            <a:spAutoFit/>
          </a:bodyPr>
          <a:lstStyle/>
          <a:p>
            <a:pPr algn="l"/>
            <a:r>
              <a:rPr lang="en-PH" b="1" dirty="0">
                <a:solidFill>
                  <a:srgbClr val="1B4332"/>
                </a:solidFill>
                <a:latin typeface="Aptos"/>
              </a:rPr>
              <a:t>EARLIER YEAR</a:t>
            </a:r>
            <a:endParaRPr b="1" dirty="0">
              <a:solidFill>
                <a:srgbClr val="1B4332"/>
              </a:solidFill>
              <a:latin typeface="Aptos"/>
            </a:endParaRPr>
          </a:p>
        </p:txBody>
      </p:sp>
      <p:sp>
        <p:nvSpPr>
          <p:cNvPr id="51" name="TextBox 50">
            <a:extLst>
              <a:ext uri="{FF2B5EF4-FFF2-40B4-BE49-F238E27FC236}">
                <a16:creationId xmlns:a16="http://schemas.microsoft.com/office/drawing/2014/main" id="{C20ABACA-2CCD-6BD7-5FBA-7B33792FCC83}"/>
              </a:ext>
            </a:extLst>
          </p:cNvPr>
          <p:cNvSpPr txBox="1"/>
          <p:nvPr/>
        </p:nvSpPr>
        <p:spPr>
          <a:xfrm>
            <a:off x="923185" y="4131640"/>
            <a:ext cx="3694176" cy="830997"/>
          </a:xfrm>
          <a:prstGeom prst="rect">
            <a:avLst/>
          </a:prstGeom>
          <a:noFill/>
        </p:spPr>
        <p:txBody>
          <a:bodyPr wrap="square" anchor="t">
            <a:spAutoFit/>
          </a:bodyPr>
          <a:lstStyle/>
          <a:p>
            <a:r>
              <a:rPr sz="2000" b="0" dirty="0">
                <a:solidFill>
                  <a:srgbClr val="0F2318"/>
                </a:solidFill>
                <a:latin typeface="Aptos"/>
              </a:rPr>
              <a:t>Area(ha) = </a:t>
            </a:r>
            <a:r>
              <a:rPr lang="en-PH" sz="2400" dirty="0"/>
              <a:t>N x 100 m2 / 10,000 m2 /ha</a:t>
            </a:r>
            <a:endParaRPr sz="2000" b="0" dirty="0">
              <a:solidFill>
                <a:srgbClr val="0F2318"/>
              </a:solidFill>
              <a:latin typeface="Aptos"/>
            </a:endParaRPr>
          </a:p>
        </p:txBody>
      </p:sp>
      <p:sp>
        <p:nvSpPr>
          <p:cNvPr id="53" name="TextBox 52">
            <a:extLst>
              <a:ext uri="{FF2B5EF4-FFF2-40B4-BE49-F238E27FC236}">
                <a16:creationId xmlns:a16="http://schemas.microsoft.com/office/drawing/2014/main" id="{BE23C8C0-8059-C28B-E187-2F24A61536D4}"/>
              </a:ext>
            </a:extLst>
          </p:cNvPr>
          <p:cNvSpPr txBox="1"/>
          <p:nvPr/>
        </p:nvSpPr>
        <p:spPr>
          <a:xfrm>
            <a:off x="941473" y="5098952"/>
            <a:ext cx="3694176" cy="461665"/>
          </a:xfrm>
          <a:prstGeom prst="rect">
            <a:avLst/>
          </a:prstGeom>
          <a:noFill/>
        </p:spPr>
        <p:txBody>
          <a:bodyPr wrap="square" anchor="t">
            <a:spAutoFit/>
          </a:bodyPr>
          <a:lstStyle/>
          <a:p>
            <a:r>
              <a:rPr sz="2000" b="0" dirty="0">
                <a:solidFill>
                  <a:srgbClr val="0F2318"/>
                </a:solidFill>
                <a:latin typeface="Aptos"/>
              </a:rPr>
              <a:t>Area(ha) = </a:t>
            </a:r>
            <a:r>
              <a:rPr lang="en-PH" sz="2400" dirty="0"/>
              <a:t>N / 100</a:t>
            </a:r>
            <a:endParaRPr sz="2000" b="0" dirty="0">
              <a:solidFill>
                <a:srgbClr val="0F2318"/>
              </a:solidFill>
              <a:latin typeface="Aptos"/>
            </a:endParaRPr>
          </a:p>
        </p:txBody>
      </p:sp>
      <p:sp>
        <p:nvSpPr>
          <p:cNvPr id="55" name="TextBox 54">
            <a:extLst>
              <a:ext uri="{FF2B5EF4-FFF2-40B4-BE49-F238E27FC236}">
                <a16:creationId xmlns:a16="http://schemas.microsoft.com/office/drawing/2014/main" id="{06244EC6-29D3-671E-84AD-2FD2EC915A36}"/>
              </a:ext>
            </a:extLst>
          </p:cNvPr>
          <p:cNvSpPr txBox="1"/>
          <p:nvPr/>
        </p:nvSpPr>
        <p:spPr>
          <a:xfrm>
            <a:off x="941473" y="5696933"/>
            <a:ext cx="2678005" cy="584775"/>
          </a:xfrm>
          <a:prstGeom prst="rect">
            <a:avLst/>
          </a:prstGeom>
          <a:noFill/>
        </p:spPr>
        <p:txBody>
          <a:bodyPr wrap="square" anchor="t">
            <a:spAutoFit/>
          </a:bodyPr>
          <a:lstStyle/>
          <a:p>
            <a:r>
              <a:rPr lang="en-PH" sz="1600" b="0" dirty="0">
                <a:solidFill>
                  <a:srgbClr val="0F2318"/>
                </a:solidFill>
                <a:latin typeface="Aptos"/>
              </a:rPr>
              <a:t>Where </a:t>
            </a:r>
            <a:r>
              <a:rPr lang="en-PH" sz="1600" b="0" i="1" dirty="0">
                <a:solidFill>
                  <a:srgbClr val="0F2318"/>
                </a:solidFill>
                <a:latin typeface="Aptos"/>
              </a:rPr>
              <a:t>N</a:t>
            </a:r>
            <a:r>
              <a:rPr lang="en-PH" sz="1600" b="0" dirty="0">
                <a:solidFill>
                  <a:srgbClr val="0F2318"/>
                </a:solidFill>
                <a:latin typeface="Aptos"/>
              </a:rPr>
              <a:t> </a:t>
            </a:r>
            <a:r>
              <a:rPr lang="en-PH" sz="1600" dirty="0">
                <a:solidFill>
                  <a:srgbClr val="0F2318"/>
                </a:solidFill>
                <a:latin typeface="Aptos"/>
              </a:rPr>
              <a:t>represent the number of classified pixel</a:t>
            </a:r>
            <a:endParaRPr sz="1600" b="0" dirty="0">
              <a:solidFill>
                <a:srgbClr val="0F2318"/>
              </a:solidFill>
              <a:latin typeface="Apto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txBox="1"/>
          <p:nvPr/>
        </p:nvSpPr>
        <p:spPr>
          <a:xfrm>
            <a:off x="548640" y="1270325"/>
            <a:ext cx="5486400" cy="320040"/>
          </a:xfrm>
          <a:prstGeom prst="rect">
            <a:avLst/>
          </a:prstGeom>
          <a:noFill/>
          <a:ln/>
        </p:spPr>
        <p:txBody>
          <a:bodyPr wrap="square" rtlCol="0" anchor="ctr"/>
          <a:lstStyle/>
          <a:p>
            <a:pPr marL="0" indent="0">
              <a:buNone/>
            </a:pPr>
            <a:r>
              <a:rPr lang="en-US" sz="1400" b="1" dirty="0">
                <a:solidFill>
                  <a:srgbClr val="0B3D3F"/>
                </a:solidFill>
                <a:latin typeface="Cambria" pitchFamily="34" charset="0"/>
                <a:ea typeface="Cambria" pitchFamily="34" charset="-122"/>
                <a:cs typeface="Cambria" pitchFamily="34" charset="-120"/>
              </a:rPr>
              <a:t>The Prototype Workflow</a:t>
            </a:r>
            <a:endParaRPr lang="en-US" sz="1400" dirty="0"/>
          </a:p>
        </p:txBody>
      </p:sp>
      <p:sp>
        <p:nvSpPr>
          <p:cNvPr id="5" name="Shape 3"/>
          <p:cNvSpPr/>
          <p:nvPr/>
        </p:nvSpPr>
        <p:spPr>
          <a:xfrm>
            <a:off x="548640" y="1508760"/>
            <a:ext cx="2606040" cy="777240"/>
          </a:xfrm>
          <a:prstGeom prst="roundRect">
            <a:avLst>
              <a:gd name="adj" fmla="val 9412"/>
            </a:avLst>
          </a:prstGeom>
          <a:solidFill>
            <a:srgbClr val="0E7C7B"/>
          </a:solidFill>
          <a:ln/>
        </p:spPr>
        <p:txBody>
          <a:bodyPr/>
          <a:lstStyle/>
          <a:p>
            <a:endParaRPr lang="en-PH"/>
          </a:p>
        </p:txBody>
      </p:sp>
      <p:sp>
        <p:nvSpPr>
          <p:cNvPr id="6" name="Text 4"/>
          <p:cNvSpPr txBox="1"/>
          <p:nvPr/>
        </p:nvSpPr>
        <p:spPr>
          <a:xfrm>
            <a:off x="548640" y="1682385"/>
            <a:ext cx="2606040" cy="777240"/>
          </a:xfrm>
          <a:prstGeom prst="rect">
            <a:avLst/>
          </a:prstGeom>
          <a:solidFill>
            <a:srgbClr val="D8F3DC"/>
          </a:solidFill>
          <a:ln/>
        </p:spPr>
        <p:txBody>
          <a:bodyPr wrap="square" rtlCol="0" anchor="ctr"/>
          <a:lstStyle/>
          <a:p>
            <a:pPr marL="0" indent="0" algn="ctr">
              <a:buNone/>
            </a:pPr>
            <a:r>
              <a:rPr lang="en-US" b="1" dirty="0">
                <a:solidFill>
                  <a:srgbClr val="1B4332"/>
                </a:solidFill>
                <a:latin typeface="Cambria" pitchFamily="34" charset="0"/>
                <a:ea typeface="Cambria" pitchFamily="34" charset="-122"/>
                <a:cs typeface="Cambria" pitchFamily="34" charset="-120"/>
              </a:rPr>
              <a:t>Preprocessing</a:t>
            </a:r>
            <a:endParaRPr lang="en-US" sz="1300" dirty="0">
              <a:solidFill>
                <a:srgbClr val="1B4332"/>
              </a:solidFill>
            </a:endParaRPr>
          </a:p>
        </p:txBody>
      </p:sp>
      <p:sp>
        <p:nvSpPr>
          <p:cNvPr id="7" name="Text 5"/>
          <p:cNvSpPr txBox="1"/>
          <p:nvPr/>
        </p:nvSpPr>
        <p:spPr>
          <a:xfrm>
            <a:off x="3163824" y="1691640"/>
            <a:ext cx="164592" cy="411480"/>
          </a:xfrm>
          <a:prstGeom prst="rect">
            <a:avLst/>
          </a:prstGeom>
          <a:noFill/>
          <a:ln/>
        </p:spPr>
        <p:txBody>
          <a:bodyPr wrap="square" rtlCol="0" anchor="ctr"/>
          <a:lstStyle/>
          <a:p>
            <a:pPr marL="0" indent="0" algn="ctr">
              <a:buNone/>
            </a:pPr>
            <a:r>
              <a:rPr lang="en-US" sz="1600" b="1" dirty="0">
                <a:solidFill>
                  <a:srgbClr val="0B3D3F"/>
                </a:solidFill>
                <a:latin typeface="Calibri" pitchFamily="34" charset="0"/>
                <a:ea typeface="Calibri" pitchFamily="34" charset="-122"/>
                <a:cs typeface="Calibri" pitchFamily="34" charset="-120"/>
              </a:rPr>
              <a:t>&gt;</a:t>
            </a:r>
            <a:endParaRPr lang="en-US" sz="1600" dirty="0"/>
          </a:p>
        </p:txBody>
      </p:sp>
      <p:sp>
        <p:nvSpPr>
          <p:cNvPr id="8" name="Shape 6"/>
          <p:cNvSpPr/>
          <p:nvPr/>
        </p:nvSpPr>
        <p:spPr>
          <a:xfrm>
            <a:off x="3337560" y="1508760"/>
            <a:ext cx="2606040" cy="777240"/>
          </a:xfrm>
          <a:prstGeom prst="roundRect">
            <a:avLst>
              <a:gd name="adj" fmla="val 9412"/>
            </a:avLst>
          </a:prstGeom>
          <a:solidFill>
            <a:srgbClr val="0E7C7B"/>
          </a:solidFill>
          <a:ln/>
        </p:spPr>
        <p:txBody>
          <a:bodyPr/>
          <a:lstStyle/>
          <a:p>
            <a:endParaRPr lang="en-PH"/>
          </a:p>
        </p:txBody>
      </p:sp>
      <p:sp>
        <p:nvSpPr>
          <p:cNvPr id="9" name="Text 7"/>
          <p:cNvSpPr txBox="1"/>
          <p:nvPr/>
        </p:nvSpPr>
        <p:spPr>
          <a:xfrm>
            <a:off x="3337560" y="1682385"/>
            <a:ext cx="2606040" cy="777240"/>
          </a:xfrm>
          <a:prstGeom prst="rect">
            <a:avLst/>
          </a:prstGeom>
          <a:solidFill>
            <a:srgbClr val="D8F3DC"/>
          </a:solidFill>
          <a:ln/>
        </p:spPr>
        <p:txBody>
          <a:bodyPr wrap="square" rtlCol="0" anchor="ctr"/>
          <a:lstStyle/>
          <a:p>
            <a:pPr marL="0" indent="0" algn="ctr">
              <a:buNone/>
            </a:pPr>
            <a:r>
              <a:rPr lang="en-US" b="1" dirty="0">
                <a:solidFill>
                  <a:srgbClr val="1B4332"/>
                </a:solidFill>
                <a:latin typeface="Cambria" pitchFamily="34" charset="0"/>
                <a:ea typeface="Cambria" pitchFamily="34" charset="-122"/>
                <a:cs typeface="Cambria" pitchFamily="34" charset="-120"/>
              </a:rPr>
              <a:t>Segmentation</a:t>
            </a:r>
            <a:endParaRPr lang="en-US" sz="1300" dirty="0">
              <a:solidFill>
                <a:srgbClr val="1B4332"/>
              </a:solidFill>
            </a:endParaRPr>
          </a:p>
        </p:txBody>
      </p:sp>
      <p:sp>
        <p:nvSpPr>
          <p:cNvPr id="10" name="Text 8"/>
          <p:cNvSpPr txBox="1"/>
          <p:nvPr/>
        </p:nvSpPr>
        <p:spPr>
          <a:xfrm>
            <a:off x="5952744" y="1691640"/>
            <a:ext cx="164592" cy="411480"/>
          </a:xfrm>
          <a:prstGeom prst="rect">
            <a:avLst/>
          </a:prstGeom>
          <a:noFill/>
          <a:ln/>
        </p:spPr>
        <p:txBody>
          <a:bodyPr wrap="square" rtlCol="0" anchor="ctr"/>
          <a:lstStyle/>
          <a:p>
            <a:pPr marL="0" indent="0" algn="ctr">
              <a:buNone/>
            </a:pPr>
            <a:r>
              <a:rPr lang="en-US" sz="1600" b="1" dirty="0">
                <a:solidFill>
                  <a:srgbClr val="0B3D3F"/>
                </a:solidFill>
                <a:latin typeface="Calibri" pitchFamily="34" charset="0"/>
                <a:ea typeface="Calibri" pitchFamily="34" charset="-122"/>
                <a:cs typeface="Calibri" pitchFamily="34" charset="-120"/>
              </a:rPr>
              <a:t>&gt;</a:t>
            </a:r>
            <a:endParaRPr lang="en-US" sz="1600" dirty="0"/>
          </a:p>
        </p:txBody>
      </p:sp>
      <p:sp>
        <p:nvSpPr>
          <p:cNvPr id="11" name="Shape 9"/>
          <p:cNvSpPr/>
          <p:nvPr/>
        </p:nvSpPr>
        <p:spPr>
          <a:xfrm>
            <a:off x="6126480" y="1508760"/>
            <a:ext cx="2606040" cy="777240"/>
          </a:xfrm>
          <a:prstGeom prst="roundRect">
            <a:avLst>
              <a:gd name="adj" fmla="val 9412"/>
            </a:avLst>
          </a:prstGeom>
          <a:solidFill>
            <a:srgbClr val="0E7C7B"/>
          </a:solidFill>
          <a:ln/>
        </p:spPr>
        <p:txBody>
          <a:bodyPr/>
          <a:lstStyle/>
          <a:p>
            <a:endParaRPr lang="en-PH"/>
          </a:p>
        </p:txBody>
      </p:sp>
      <p:sp>
        <p:nvSpPr>
          <p:cNvPr id="12" name="Text 10"/>
          <p:cNvSpPr txBox="1"/>
          <p:nvPr/>
        </p:nvSpPr>
        <p:spPr>
          <a:xfrm>
            <a:off x="6126480" y="1682385"/>
            <a:ext cx="2606040" cy="777240"/>
          </a:xfrm>
          <a:prstGeom prst="rect">
            <a:avLst/>
          </a:prstGeom>
          <a:solidFill>
            <a:srgbClr val="D8F3DC"/>
          </a:solidFill>
          <a:ln/>
        </p:spPr>
        <p:txBody>
          <a:bodyPr wrap="square" rtlCol="0" anchor="ctr"/>
          <a:lstStyle/>
          <a:p>
            <a:pPr marL="0" indent="0" algn="ctr">
              <a:buNone/>
            </a:pPr>
            <a:r>
              <a:rPr lang="en-US" b="1" dirty="0">
                <a:solidFill>
                  <a:srgbClr val="1B4332"/>
                </a:solidFill>
                <a:latin typeface="Cambria" pitchFamily="34" charset="0"/>
                <a:ea typeface="Cambria" pitchFamily="34" charset="-122"/>
                <a:cs typeface="Cambria" pitchFamily="34" charset="-120"/>
              </a:rPr>
              <a:t>Change Mapping</a:t>
            </a:r>
            <a:endParaRPr lang="en-US" dirty="0">
              <a:solidFill>
                <a:srgbClr val="1B4332"/>
              </a:solidFill>
            </a:endParaRPr>
          </a:p>
        </p:txBody>
      </p:sp>
      <p:sp>
        <p:nvSpPr>
          <p:cNvPr id="13" name="Text 11"/>
          <p:cNvSpPr txBox="1"/>
          <p:nvPr/>
        </p:nvSpPr>
        <p:spPr>
          <a:xfrm>
            <a:off x="8741664" y="1691640"/>
            <a:ext cx="164592" cy="411480"/>
          </a:xfrm>
          <a:prstGeom prst="rect">
            <a:avLst/>
          </a:prstGeom>
          <a:noFill/>
          <a:ln/>
        </p:spPr>
        <p:txBody>
          <a:bodyPr wrap="square" rtlCol="0" anchor="ctr"/>
          <a:lstStyle/>
          <a:p>
            <a:pPr marL="0" indent="0" algn="ctr">
              <a:buNone/>
            </a:pPr>
            <a:r>
              <a:rPr lang="en-US" sz="1600" b="1" dirty="0">
                <a:solidFill>
                  <a:srgbClr val="0B3D3F"/>
                </a:solidFill>
                <a:latin typeface="Calibri" pitchFamily="34" charset="0"/>
                <a:ea typeface="Calibri" pitchFamily="34" charset="-122"/>
                <a:cs typeface="Calibri" pitchFamily="34" charset="-120"/>
              </a:rPr>
              <a:t>&gt;</a:t>
            </a:r>
            <a:endParaRPr lang="en-US" sz="1600" dirty="0"/>
          </a:p>
        </p:txBody>
      </p:sp>
      <p:sp>
        <p:nvSpPr>
          <p:cNvPr id="14" name="Shape 12"/>
          <p:cNvSpPr/>
          <p:nvPr/>
        </p:nvSpPr>
        <p:spPr>
          <a:xfrm>
            <a:off x="8915400" y="1508760"/>
            <a:ext cx="2606040" cy="777240"/>
          </a:xfrm>
          <a:prstGeom prst="roundRect">
            <a:avLst>
              <a:gd name="adj" fmla="val 9412"/>
            </a:avLst>
          </a:prstGeom>
          <a:solidFill>
            <a:srgbClr val="0E7C7B"/>
          </a:solidFill>
          <a:ln/>
        </p:spPr>
        <p:txBody>
          <a:bodyPr/>
          <a:lstStyle/>
          <a:p>
            <a:endParaRPr lang="en-PH"/>
          </a:p>
        </p:txBody>
      </p:sp>
      <p:sp>
        <p:nvSpPr>
          <p:cNvPr id="15" name="Text 13"/>
          <p:cNvSpPr txBox="1"/>
          <p:nvPr/>
        </p:nvSpPr>
        <p:spPr>
          <a:xfrm>
            <a:off x="8915400" y="1682385"/>
            <a:ext cx="2606040" cy="777240"/>
          </a:xfrm>
          <a:prstGeom prst="rect">
            <a:avLst/>
          </a:prstGeom>
          <a:solidFill>
            <a:srgbClr val="D8F3DC"/>
          </a:solidFill>
          <a:ln/>
        </p:spPr>
        <p:txBody>
          <a:bodyPr wrap="square" rtlCol="0" anchor="ctr"/>
          <a:lstStyle/>
          <a:p>
            <a:pPr marL="0" indent="0" algn="ctr">
              <a:buNone/>
            </a:pPr>
            <a:r>
              <a:rPr lang="en-US" b="1" dirty="0">
                <a:solidFill>
                  <a:srgbClr val="1B4332"/>
                </a:solidFill>
                <a:latin typeface="Cambria" pitchFamily="34" charset="0"/>
                <a:ea typeface="Cambria" pitchFamily="34" charset="-122"/>
                <a:cs typeface="Cambria" pitchFamily="34" charset="-120"/>
              </a:rPr>
              <a:t>Reporting</a:t>
            </a:r>
            <a:endParaRPr lang="en-US" dirty="0">
              <a:solidFill>
                <a:srgbClr val="1B4332"/>
              </a:solidFill>
            </a:endParaRPr>
          </a:p>
        </p:txBody>
      </p:sp>
      <p:sp>
        <p:nvSpPr>
          <p:cNvPr id="17" name="Shape 15"/>
          <p:cNvSpPr/>
          <p:nvPr/>
        </p:nvSpPr>
        <p:spPr>
          <a:xfrm>
            <a:off x="530352" y="2761488"/>
            <a:ext cx="5349240" cy="3063240"/>
          </a:xfrm>
          <a:prstGeom prst="roundRect">
            <a:avLst>
              <a:gd name="adj" fmla="val 2985"/>
            </a:avLst>
          </a:prstGeom>
          <a:solidFill>
            <a:srgbClr val="FFFFFF"/>
          </a:solidFill>
          <a:ln w="12700">
            <a:solidFill>
              <a:srgbClr val="BFE3D0"/>
            </a:solidFill>
            <a:prstDash val="solid"/>
          </a:ln>
          <a:effectLst>
            <a:outerShdw blurRad="76200" dist="25400" dir="5400000" algn="bl" rotWithShape="0">
              <a:srgbClr val="000000">
                <a:alpha val="12000"/>
              </a:srgbClr>
            </a:outerShdw>
          </a:effectLst>
        </p:spPr>
        <p:txBody>
          <a:bodyPr/>
          <a:lstStyle/>
          <a:p>
            <a:endParaRPr lang="en-PH"/>
          </a:p>
        </p:txBody>
      </p:sp>
      <p:sp>
        <p:nvSpPr>
          <p:cNvPr id="18" name="Text 16"/>
          <p:cNvSpPr txBox="1"/>
          <p:nvPr/>
        </p:nvSpPr>
        <p:spPr>
          <a:xfrm>
            <a:off x="804672" y="2944368"/>
            <a:ext cx="4846320" cy="320040"/>
          </a:xfrm>
          <a:prstGeom prst="rect">
            <a:avLst/>
          </a:prstGeom>
          <a:noFill/>
          <a:ln/>
        </p:spPr>
        <p:txBody>
          <a:bodyPr wrap="square" rtlCol="0" anchor="ctr"/>
          <a:lstStyle/>
          <a:p>
            <a:pPr marL="0" indent="0">
              <a:buNone/>
            </a:pPr>
            <a:r>
              <a:rPr lang="en-US" sz="1400" b="1" dirty="0">
                <a:solidFill>
                  <a:srgbClr val="0B3D3F"/>
                </a:solidFill>
                <a:latin typeface="Cambria" pitchFamily="34" charset="0"/>
                <a:ea typeface="Cambria" pitchFamily="34" charset="-122"/>
                <a:cs typeface="Cambria" pitchFamily="34" charset="-120"/>
              </a:rPr>
              <a:t>What It Does</a:t>
            </a:r>
            <a:endParaRPr lang="en-US" sz="1400" dirty="0"/>
          </a:p>
        </p:txBody>
      </p:sp>
      <p:sp>
        <p:nvSpPr>
          <p:cNvPr id="19" name="Shape 17"/>
          <p:cNvSpPr/>
          <p:nvPr/>
        </p:nvSpPr>
        <p:spPr>
          <a:xfrm>
            <a:off x="804672" y="3355848"/>
            <a:ext cx="128016" cy="128016"/>
          </a:xfrm>
          <a:prstGeom prst="ellipse">
            <a:avLst/>
          </a:prstGeom>
          <a:solidFill>
            <a:srgbClr val="0E7C7B"/>
          </a:solidFill>
          <a:ln/>
        </p:spPr>
        <p:txBody>
          <a:bodyPr/>
          <a:lstStyle/>
          <a:p>
            <a:endParaRPr lang="en-PH"/>
          </a:p>
        </p:txBody>
      </p:sp>
      <p:sp>
        <p:nvSpPr>
          <p:cNvPr id="20" name="Text 18"/>
          <p:cNvSpPr txBox="1"/>
          <p:nvPr/>
        </p:nvSpPr>
        <p:spPr>
          <a:xfrm>
            <a:off x="1078992" y="3255264"/>
            <a:ext cx="4663440" cy="365760"/>
          </a:xfrm>
          <a:prstGeom prst="rect">
            <a:avLst/>
          </a:prstGeom>
          <a:noFill/>
          <a:ln/>
        </p:spPr>
        <p:txBody>
          <a:bodyPr wrap="square" rtlCol="0" anchor="ctr"/>
          <a:lstStyle/>
          <a:p>
            <a:pPr marL="0" indent="0">
              <a:buNone/>
            </a:pPr>
            <a:r>
              <a:rPr lang="en-US" sz="1200" dirty="0">
                <a:solidFill>
                  <a:srgbClr val="1B2E2E"/>
                </a:solidFill>
                <a:latin typeface="Calibri" pitchFamily="34" charset="0"/>
                <a:ea typeface="Calibri" pitchFamily="34" charset="-122"/>
                <a:cs typeface="Calibri" pitchFamily="34" charset="-120"/>
              </a:rPr>
              <a:t>Accepts prepared Sentinel-2 imagery</a:t>
            </a:r>
            <a:endParaRPr lang="en-US" sz="1200" dirty="0"/>
          </a:p>
        </p:txBody>
      </p:sp>
      <p:sp>
        <p:nvSpPr>
          <p:cNvPr id="21" name="Shape 19"/>
          <p:cNvSpPr/>
          <p:nvPr/>
        </p:nvSpPr>
        <p:spPr>
          <a:xfrm>
            <a:off x="804672" y="3758184"/>
            <a:ext cx="128016" cy="128016"/>
          </a:xfrm>
          <a:prstGeom prst="ellipse">
            <a:avLst/>
          </a:prstGeom>
          <a:solidFill>
            <a:srgbClr val="0E7C7B"/>
          </a:solidFill>
          <a:ln/>
        </p:spPr>
        <p:txBody>
          <a:bodyPr/>
          <a:lstStyle/>
          <a:p>
            <a:endParaRPr lang="en-PH"/>
          </a:p>
        </p:txBody>
      </p:sp>
      <p:sp>
        <p:nvSpPr>
          <p:cNvPr id="22" name="Text 20"/>
          <p:cNvSpPr txBox="1"/>
          <p:nvPr/>
        </p:nvSpPr>
        <p:spPr>
          <a:xfrm>
            <a:off x="1078992" y="3657600"/>
            <a:ext cx="4663440" cy="365760"/>
          </a:xfrm>
          <a:prstGeom prst="rect">
            <a:avLst/>
          </a:prstGeom>
          <a:noFill/>
          <a:ln/>
        </p:spPr>
        <p:txBody>
          <a:bodyPr wrap="square" rtlCol="0" anchor="ctr"/>
          <a:lstStyle/>
          <a:p>
            <a:pPr marL="0" indent="0">
              <a:buNone/>
            </a:pPr>
            <a:r>
              <a:rPr lang="en-US" sz="1200" dirty="0">
                <a:solidFill>
                  <a:srgbClr val="1B2E2E"/>
                </a:solidFill>
                <a:latin typeface="Calibri" pitchFamily="34" charset="0"/>
                <a:ea typeface="Calibri" pitchFamily="34" charset="-122"/>
                <a:cs typeface="Calibri" pitchFamily="34" charset="-120"/>
              </a:rPr>
              <a:t>Executes preprocessing and segmentation automatically</a:t>
            </a:r>
            <a:endParaRPr lang="en-US" sz="1200" dirty="0"/>
          </a:p>
        </p:txBody>
      </p:sp>
      <p:sp>
        <p:nvSpPr>
          <p:cNvPr id="23" name="Shape 21"/>
          <p:cNvSpPr/>
          <p:nvPr/>
        </p:nvSpPr>
        <p:spPr>
          <a:xfrm>
            <a:off x="804672" y="4160520"/>
            <a:ext cx="128016" cy="128016"/>
          </a:xfrm>
          <a:prstGeom prst="ellipse">
            <a:avLst/>
          </a:prstGeom>
          <a:solidFill>
            <a:srgbClr val="0E7C7B"/>
          </a:solidFill>
          <a:ln/>
        </p:spPr>
        <p:txBody>
          <a:bodyPr/>
          <a:lstStyle/>
          <a:p>
            <a:endParaRPr lang="en-PH"/>
          </a:p>
        </p:txBody>
      </p:sp>
      <p:sp>
        <p:nvSpPr>
          <p:cNvPr id="24" name="Text 22"/>
          <p:cNvSpPr txBox="1"/>
          <p:nvPr/>
        </p:nvSpPr>
        <p:spPr>
          <a:xfrm>
            <a:off x="1078992" y="4059936"/>
            <a:ext cx="4663440" cy="365760"/>
          </a:xfrm>
          <a:prstGeom prst="rect">
            <a:avLst/>
          </a:prstGeom>
          <a:noFill/>
          <a:ln/>
        </p:spPr>
        <p:txBody>
          <a:bodyPr wrap="square" rtlCol="0" anchor="ctr"/>
          <a:lstStyle/>
          <a:p>
            <a:pPr marL="0" indent="0">
              <a:buNone/>
            </a:pPr>
            <a:r>
              <a:rPr lang="en-US" sz="1200" dirty="0">
                <a:solidFill>
                  <a:srgbClr val="1B2E2E"/>
                </a:solidFill>
                <a:latin typeface="Calibri" pitchFamily="34" charset="0"/>
                <a:ea typeface="Calibri" pitchFamily="34" charset="-122"/>
                <a:cs typeface="Calibri" pitchFamily="34" charset="-120"/>
              </a:rPr>
              <a:t>Generates annual mangrove-cover maps</a:t>
            </a:r>
            <a:endParaRPr lang="en-US" sz="1200" dirty="0"/>
          </a:p>
        </p:txBody>
      </p:sp>
      <p:sp>
        <p:nvSpPr>
          <p:cNvPr id="25" name="Shape 23"/>
          <p:cNvSpPr/>
          <p:nvPr/>
        </p:nvSpPr>
        <p:spPr>
          <a:xfrm>
            <a:off x="804672" y="4562856"/>
            <a:ext cx="128016" cy="128016"/>
          </a:xfrm>
          <a:prstGeom prst="ellipse">
            <a:avLst/>
          </a:prstGeom>
          <a:solidFill>
            <a:srgbClr val="0E7C7B"/>
          </a:solidFill>
          <a:ln/>
        </p:spPr>
        <p:txBody>
          <a:bodyPr/>
          <a:lstStyle/>
          <a:p>
            <a:endParaRPr lang="en-PH"/>
          </a:p>
        </p:txBody>
      </p:sp>
      <p:sp>
        <p:nvSpPr>
          <p:cNvPr id="26" name="Text 24"/>
          <p:cNvSpPr txBox="1"/>
          <p:nvPr/>
        </p:nvSpPr>
        <p:spPr>
          <a:xfrm>
            <a:off x="1078992" y="4462272"/>
            <a:ext cx="4663440" cy="365760"/>
          </a:xfrm>
          <a:prstGeom prst="rect">
            <a:avLst/>
          </a:prstGeom>
          <a:noFill/>
          <a:ln/>
        </p:spPr>
        <p:txBody>
          <a:bodyPr wrap="square" rtlCol="0" anchor="ctr"/>
          <a:lstStyle/>
          <a:p>
            <a:pPr marL="0" indent="0">
              <a:buNone/>
            </a:pPr>
            <a:r>
              <a:rPr lang="en-US" sz="1200" dirty="0">
                <a:solidFill>
                  <a:srgbClr val="1B2E2E"/>
                </a:solidFill>
                <a:latin typeface="Calibri" pitchFamily="34" charset="0"/>
                <a:ea typeface="Calibri" pitchFamily="34" charset="-122"/>
                <a:cs typeface="Calibri" pitchFamily="34" charset="-120"/>
              </a:rPr>
              <a:t>Identifies mapped gain and loss between years</a:t>
            </a:r>
            <a:endParaRPr lang="en-US" sz="1200" dirty="0"/>
          </a:p>
        </p:txBody>
      </p:sp>
      <p:sp>
        <p:nvSpPr>
          <p:cNvPr id="27" name="Shape 25"/>
          <p:cNvSpPr/>
          <p:nvPr/>
        </p:nvSpPr>
        <p:spPr>
          <a:xfrm>
            <a:off x="804672" y="4965192"/>
            <a:ext cx="128016" cy="128016"/>
          </a:xfrm>
          <a:prstGeom prst="ellipse">
            <a:avLst/>
          </a:prstGeom>
          <a:solidFill>
            <a:srgbClr val="0E7C7B"/>
          </a:solidFill>
          <a:ln/>
        </p:spPr>
        <p:txBody>
          <a:bodyPr/>
          <a:lstStyle/>
          <a:p>
            <a:endParaRPr lang="en-PH"/>
          </a:p>
        </p:txBody>
      </p:sp>
      <p:sp>
        <p:nvSpPr>
          <p:cNvPr id="28" name="Text 26"/>
          <p:cNvSpPr txBox="1"/>
          <p:nvPr/>
        </p:nvSpPr>
        <p:spPr>
          <a:xfrm>
            <a:off x="1078992" y="4864608"/>
            <a:ext cx="4663440" cy="365760"/>
          </a:xfrm>
          <a:prstGeom prst="rect">
            <a:avLst/>
          </a:prstGeom>
          <a:noFill/>
          <a:ln/>
        </p:spPr>
        <p:txBody>
          <a:bodyPr wrap="square" rtlCol="0" anchor="ctr"/>
          <a:lstStyle/>
          <a:p>
            <a:pPr marL="0" indent="0">
              <a:buNone/>
            </a:pPr>
            <a:r>
              <a:rPr lang="en-US" sz="1200" dirty="0">
                <a:solidFill>
                  <a:srgbClr val="1B2E2E"/>
                </a:solidFill>
                <a:latin typeface="Calibri" pitchFamily="34" charset="0"/>
                <a:ea typeface="Calibri" pitchFamily="34" charset="-122"/>
                <a:cs typeface="Calibri" pitchFamily="34" charset="-120"/>
              </a:rPr>
              <a:t>Calculates corresponding area in hectares</a:t>
            </a:r>
            <a:endParaRPr lang="en-US" sz="1200" dirty="0"/>
          </a:p>
        </p:txBody>
      </p:sp>
      <p:sp>
        <p:nvSpPr>
          <p:cNvPr id="29" name="Shape 27"/>
          <p:cNvSpPr/>
          <p:nvPr/>
        </p:nvSpPr>
        <p:spPr>
          <a:xfrm>
            <a:off x="804672" y="5367528"/>
            <a:ext cx="128016" cy="128016"/>
          </a:xfrm>
          <a:prstGeom prst="ellipse">
            <a:avLst/>
          </a:prstGeom>
          <a:solidFill>
            <a:srgbClr val="0E7C7B"/>
          </a:solidFill>
          <a:ln/>
        </p:spPr>
        <p:txBody>
          <a:bodyPr/>
          <a:lstStyle/>
          <a:p>
            <a:endParaRPr lang="en-PH"/>
          </a:p>
        </p:txBody>
      </p:sp>
      <p:sp>
        <p:nvSpPr>
          <p:cNvPr id="30" name="Text 28"/>
          <p:cNvSpPr txBox="1"/>
          <p:nvPr/>
        </p:nvSpPr>
        <p:spPr>
          <a:xfrm>
            <a:off x="1078992" y="5266944"/>
            <a:ext cx="4663440" cy="365760"/>
          </a:xfrm>
          <a:prstGeom prst="rect">
            <a:avLst/>
          </a:prstGeom>
          <a:noFill/>
          <a:ln/>
        </p:spPr>
        <p:txBody>
          <a:bodyPr wrap="square" rtlCol="0" anchor="ctr"/>
          <a:lstStyle/>
          <a:p>
            <a:pPr marL="0" indent="0">
              <a:buNone/>
            </a:pPr>
            <a:r>
              <a:rPr lang="en-US" sz="1200" dirty="0">
                <a:solidFill>
                  <a:srgbClr val="1B2E2E"/>
                </a:solidFill>
                <a:latin typeface="Calibri" pitchFamily="34" charset="0"/>
                <a:ea typeface="Calibri" pitchFamily="34" charset="-122"/>
                <a:cs typeface="Calibri" pitchFamily="34" charset="-120"/>
              </a:rPr>
              <a:t>Displays maps, tables, and summary information to the user</a:t>
            </a:r>
            <a:endParaRPr lang="en-US" sz="1200" dirty="0"/>
          </a:p>
        </p:txBody>
      </p:sp>
      <p:sp>
        <p:nvSpPr>
          <p:cNvPr id="31" name="Shape 29"/>
          <p:cNvSpPr/>
          <p:nvPr/>
        </p:nvSpPr>
        <p:spPr>
          <a:xfrm>
            <a:off x="6199632" y="2743200"/>
            <a:ext cx="5468112" cy="1417320"/>
          </a:xfrm>
          <a:prstGeom prst="roundRect">
            <a:avLst>
              <a:gd name="adj" fmla="val 6452"/>
            </a:avLst>
          </a:prstGeom>
          <a:solidFill>
            <a:srgbClr val="0E7C7B"/>
          </a:solidFill>
          <a:ln/>
        </p:spPr>
        <p:txBody>
          <a:bodyPr/>
          <a:lstStyle/>
          <a:p>
            <a:endParaRPr lang="en-PH"/>
          </a:p>
        </p:txBody>
      </p:sp>
      <p:sp>
        <p:nvSpPr>
          <p:cNvPr id="32" name="Text 30"/>
          <p:cNvSpPr txBox="1"/>
          <p:nvPr/>
        </p:nvSpPr>
        <p:spPr>
          <a:xfrm>
            <a:off x="6428232" y="2880360"/>
            <a:ext cx="5029200" cy="32004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Functional Evaluation (Phase 8)</a:t>
            </a:r>
            <a:endParaRPr lang="en-US" sz="1600" dirty="0"/>
          </a:p>
        </p:txBody>
      </p:sp>
      <p:sp>
        <p:nvSpPr>
          <p:cNvPr id="33" name="Text 31"/>
          <p:cNvSpPr txBox="1"/>
          <p:nvPr/>
        </p:nvSpPr>
        <p:spPr>
          <a:xfrm>
            <a:off x="6428232" y="3227832"/>
            <a:ext cx="5029200" cy="868680"/>
          </a:xfrm>
          <a:prstGeom prst="rect">
            <a:avLst/>
          </a:prstGeom>
          <a:noFill/>
          <a:ln/>
        </p:spPr>
        <p:txBody>
          <a:bodyPr wrap="square" rtlCol="0" anchor="ctr"/>
          <a:lstStyle/>
          <a:p>
            <a:pPr marL="0" indent="0">
              <a:lnSpc>
                <a:spcPct val="115000"/>
              </a:lnSpc>
              <a:buNone/>
            </a:pPr>
            <a:r>
              <a:rPr lang="en-US" sz="1100" dirty="0">
                <a:solidFill>
                  <a:srgbClr val="EAF7F4"/>
                </a:solidFill>
                <a:latin typeface="Calibri" pitchFamily="34" charset="0"/>
                <a:ea typeface="Calibri" pitchFamily="34" charset="-122"/>
                <a:cs typeface="Calibri" pitchFamily="34" charset="-120"/>
              </a:rPr>
              <a:t>Rather than another model-training or model-selection stage, this phase verifies the system works as intended — confirming each step above executes correctly, with area calculations independently re-verified from the classified pixel counts.</a:t>
            </a:r>
            <a:endParaRPr lang="en-US" sz="1100" dirty="0"/>
          </a:p>
        </p:txBody>
      </p:sp>
      <p:sp>
        <p:nvSpPr>
          <p:cNvPr id="34" name="Shape 32"/>
          <p:cNvSpPr/>
          <p:nvPr/>
        </p:nvSpPr>
        <p:spPr>
          <a:xfrm>
            <a:off x="6199632" y="4297680"/>
            <a:ext cx="5468112" cy="1508760"/>
          </a:xfrm>
          <a:prstGeom prst="roundRect">
            <a:avLst>
              <a:gd name="adj" fmla="val 6061"/>
            </a:avLst>
          </a:prstGeom>
          <a:solidFill>
            <a:srgbClr val="0B3D3F"/>
          </a:solidFill>
          <a:ln/>
        </p:spPr>
        <p:txBody>
          <a:bodyPr/>
          <a:lstStyle/>
          <a:p>
            <a:endParaRPr lang="en-PH"/>
          </a:p>
        </p:txBody>
      </p:sp>
      <p:sp>
        <p:nvSpPr>
          <p:cNvPr id="35" name="Text 33"/>
          <p:cNvSpPr txBox="1"/>
          <p:nvPr/>
        </p:nvSpPr>
        <p:spPr>
          <a:xfrm>
            <a:off x="6428232" y="4434840"/>
            <a:ext cx="5029200" cy="320040"/>
          </a:xfrm>
          <a:prstGeom prst="rect">
            <a:avLst/>
          </a:prstGeom>
          <a:noFill/>
          <a:ln/>
        </p:spPr>
        <p:txBody>
          <a:bodyPr wrap="square" rtlCol="0" anchor="ctr"/>
          <a:lstStyle/>
          <a:p>
            <a:pPr marL="0" indent="0">
              <a:buNone/>
            </a:pPr>
            <a:r>
              <a:rPr lang="en-US" sz="1600" b="1" dirty="0">
                <a:solidFill>
                  <a:srgbClr val="BFE3D0"/>
                </a:solidFill>
                <a:latin typeface="Cambria" pitchFamily="34" charset="0"/>
                <a:ea typeface="Cambria" pitchFamily="34" charset="-122"/>
                <a:cs typeface="Cambria" pitchFamily="34" charset="-120"/>
              </a:rPr>
              <a:t>Practical Tool Delivery</a:t>
            </a:r>
            <a:endParaRPr lang="en-US" sz="1600" dirty="0"/>
          </a:p>
        </p:txBody>
      </p:sp>
      <p:sp>
        <p:nvSpPr>
          <p:cNvPr id="36" name="Text 34"/>
          <p:cNvSpPr txBox="1"/>
          <p:nvPr/>
        </p:nvSpPr>
        <p:spPr>
          <a:xfrm>
            <a:off x="6428232" y="4782312"/>
            <a:ext cx="5029200" cy="914400"/>
          </a:xfrm>
          <a:prstGeom prst="rect">
            <a:avLst/>
          </a:prstGeom>
          <a:noFill/>
          <a:ln/>
        </p:spPr>
        <p:txBody>
          <a:bodyPr wrap="square" rtlCol="0" anchor="ctr"/>
          <a:lstStyle/>
          <a:p>
            <a:pPr marL="0" indent="0">
              <a:lnSpc>
                <a:spcPct val="115000"/>
              </a:lnSpc>
              <a:buNone/>
            </a:pPr>
            <a:r>
              <a:rPr lang="en-US" sz="1100" dirty="0">
                <a:solidFill>
                  <a:srgbClr val="FFFFFF"/>
                </a:solidFill>
                <a:latin typeface="Calibri" pitchFamily="34" charset="0"/>
                <a:ea typeface="Calibri" pitchFamily="34" charset="-122"/>
                <a:cs typeface="Calibri" pitchFamily="34" charset="-120"/>
              </a:rPr>
              <a:t>The completed prototype presents its outputs — maps, tables, and area statistics — directly to Aringay MENRO, delivering a practical, working tool rather than a theoretical model alone.</a:t>
            </a:r>
            <a:endParaRPr lang="en-US" sz="1100" dirty="0"/>
          </a:p>
        </p:txBody>
      </p:sp>
      <p:sp>
        <p:nvSpPr>
          <p:cNvPr id="42" name="TextBox 41">
            <a:extLst>
              <a:ext uri="{FF2B5EF4-FFF2-40B4-BE49-F238E27FC236}">
                <a16:creationId xmlns:a16="http://schemas.microsoft.com/office/drawing/2014/main" id="{6175B36F-0975-1743-BD44-F38FA182E57F}"/>
              </a:ext>
            </a:extLst>
          </p:cNvPr>
          <p:cNvSpPr txBox="1"/>
          <p:nvPr/>
        </p:nvSpPr>
        <p:spPr>
          <a:xfrm>
            <a:off x="530352" y="310896"/>
            <a:ext cx="5029200" cy="228600"/>
          </a:xfrm>
          <a:prstGeom prst="rect">
            <a:avLst/>
          </a:prstGeom>
          <a:noFill/>
        </p:spPr>
        <p:txBody>
          <a:bodyPr wrap="square" anchor="t">
            <a:spAutoFit/>
          </a:bodyPr>
          <a:lstStyle/>
          <a:p>
            <a:pPr algn="l"/>
            <a:r>
              <a:rPr sz="1250" b="1">
                <a:solidFill>
                  <a:srgbClr val="2D6A4F"/>
                </a:solidFill>
                <a:latin typeface="Aptos"/>
              </a:rPr>
              <a:t>MULTI-TEMPORAL ANALYSIS</a:t>
            </a:r>
          </a:p>
        </p:txBody>
      </p:sp>
      <p:sp>
        <p:nvSpPr>
          <p:cNvPr id="44" name="TextBox 43">
            <a:extLst>
              <a:ext uri="{FF2B5EF4-FFF2-40B4-BE49-F238E27FC236}">
                <a16:creationId xmlns:a16="http://schemas.microsoft.com/office/drawing/2014/main" id="{4A5EDA6D-6011-85D6-A3E8-4F03D675EE7A}"/>
              </a:ext>
            </a:extLst>
          </p:cNvPr>
          <p:cNvSpPr txBox="1"/>
          <p:nvPr/>
        </p:nvSpPr>
        <p:spPr>
          <a:xfrm>
            <a:off x="530352" y="576072"/>
            <a:ext cx="10881360" cy="569387"/>
          </a:xfrm>
          <a:prstGeom prst="rect">
            <a:avLst/>
          </a:prstGeom>
          <a:noFill/>
        </p:spPr>
        <p:txBody>
          <a:bodyPr wrap="square" anchor="t">
            <a:spAutoFit/>
          </a:bodyPr>
          <a:lstStyle/>
          <a:p>
            <a:pPr algn="l"/>
            <a:r>
              <a:rPr lang="en-PH" sz="3100" b="1" dirty="0">
                <a:solidFill>
                  <a:srgbClr val="0F2318"/>
                </a:solidFill>
                <a:latin typeface="Aptos"/>
              </a:rPr>
              <a:t>Prototype Implementation &amp; Evaluation</a:t>
            </a:r>
          </a:p>
        </p:txBody>
      </p:sp>
      <p:sp>
        <p:nvSpPr>
          <p:cNvPr id="46" name="Rectangle 45">
            <a:extLst>
              <a:ext uri="{FF2B5EF4-FFF2-40B4-BE49-F238E27FC236}">
                <a16:creationId xmlns:a16="http://schemas.microsoft.com/office/drawing/2014/main" id="{6B7C5F6A-11E0-BC29-E1B8-B05ED8820414}"/>
              </a:ext>
            </a:extLst>
          </p:cNvPr>
          <p:cNvSpPr/>
          <p:nvPr/>
        </p:nvSpPr>
        <p:spPr>
          <a:xfrm>
            <a:off x="530352" y="1097280"/>
            <a:ext cx="640080" cy="41148"/>
          </a:xfrm>
          <a:prstGeom prst="rect">
            <a:avLst/>
          </a:prstGeom>
          <a:solidFill>
            <a:srgbClr val="2D6A4F"/>
          </a:solidFill>
          <a:ln>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a:extLst>
              <a:ext uri="{FF2B5EF4-FFF2-40B4-BE49-F238E27FC236}">
                <a16:creationId xmlns:a16="http://schemas.microsoft.com/office/drawing/2014/main" id="{3E0E58A2-52FF-DF78-B8F7-A026E8553C17}"/>
              </a:ext>
            </a:extLst>
          </p:cNvPr>
          <p:cNvSpPr/>
          <p:nvPr/>
        </p:nvSpPr>
        <p:spPr>
          <a:xfrm>
            <a:off x="0" y="0"/>
            <a:ext cx="12191695" cy="73152"/>
          </a:xfrm>
          <a:prstGeom prst="rect">
            <a:avLst/>
          </a:prstGeom>
          <a:solidFill>
            <a:srgbClr val="2D6A4F"/>
          </a:solidFill>
          <a:ln>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2D6A4F"/>
          </a:solidFill>
          <a:ln>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9692640" y="5394960"/>
            <a:ext cx="3108960" cy="1463040"/>
          </a:xfrm>
          <a:prstGeom prst="roundRect">
            <a:avLst>
              <a:gd name="adj" fmla="val 12000"/>
            </a:avLst>
          </a:prstGeom>
          <a:solidFill>
            <a:srgbClr val="EEF7F0"/>
          </a:solidFill>
          <a:ln>
            <a:solidFill>
              <a:srgbClr val="EEF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434840" y="1143000"/>
            <a:ext cx="3337560" cy="384048"/>
          </a:xfrm>
          <a:prstGeom prst="roundRect">
            <a:avLst>
              <a:gd name="adj" fmla="val 12000"/>
            </a:avLst>
          </a:prstGeom>
          <a:solidFill>
            <a:srgbClr val="D8F3DC"/>
          </a:solidFill>
          <a:ln>
            <a:solidFill>
              <a:srgbClr val="CF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783080"/>
            <a:ext cx="10332720" cy="754053"/>
          </a:xfrm>
          <a:prstGeom prst="rect">
            <a:avLst/>
          </a:prstGeom>
          <a:noFill/>
        </p:spPr>
        <p:txBody>
          <a:bodyPr wrap="square" anchor="t">
            <a:spAutoFit/>
          </a:bodyPr>
          <a:lstStyle/>
          <a:p>
            <a:pPr algn="ctr"/>
            <a:r>
              <a:rPr lang="en-US" sz="4300" b="1" dirty="0">
                <a:solidFill>
                  <a:srgbClr val="1B4332"/>
                </a:solidFill>
                <a:latin typeface="Aptos"/>
              </a:rPr>
              <a:t>THANK YOU</a:t>
            </a:r>
            <a:endParaRPr sz="4300" b="1" dirty="0">
              <a:solidFill>
                <a:srgbClr val="1B4332"/>
              </a:solidFill>
              <a:latin typeface="Aptos"/>
            </a:endParaRPr>
          </a:p>
        </p:txBody>
      </p:sp>
      <p:sp>
        <p:nvSpPr>
          <p:cNvPr id="7" name="TextBox 6"/>
          <p:cNvSpPr txBox="1"/>
          <p:nvPr/>
        </p:nvSpPr>
        <p:spPr>
          <a:xfrm>
            <a:off x="1234440" y="2999232"/>
            <a:ext cx="9738360" cy="369332"/>
          </a:xfrm>
          <a:prstGeom prst="rect">
            <a:avLst/>
          </a:prstGeom>
          <a:noFill/>
        </p:spPr>
        <p:txBody>
          <a:bodyPr wrap="square" anchor="t">
            <a:spAutoFit/>
          </a:bodyPr>
          <a:lstStyle/>
          <a:p>
            <a:pPr algn="ctr"/>
            <a:r>
              <a:rPr sz="1800" b="0" dirty="0">
                <a:solidFill>
                  <a:srgbClr val="41604F"/>
                </a:solidFill>
                <a:latin typeface="Aptos"/>
              </a:rPr>
              <a:t>Deep Learning-Based Detection of Mangrove Gain and Loss in </a:t>
            </a:r>
            <a:r>
              <a:rPr lang="en-US" dirty="0" err="1">
                <a:solidFill>
                  <a:srgbClr val="41604F"/>
                </a:solidFill>
                <a:latin typeface="Aptos"/>
              </a:rPr>
              <a:t>Aringay</a:t>
            </a:r>
            <a:r>
              <a:rPr lang="en-US" dirty="0">
                <a:solidFill>
                  <a:srgbClr val="41604F"/>
                </a:solidFill>
                <a:latin typeface="Aptos"/>
              </a:rPr>
              <a:t> La Union</a:t>
            </a:r>
            <a:endParaRPr sz="1800" b="0" dirty="0">
              <a:solidFill>
                <a:srgbClr val="41604F"/>
              </a:solidFill>
              <a:latin typeface="Aptos"/>
            </a:endParaRPr>
          </a:p>
        </p:txBody>
      </p:sp>
      <p:sp>
        <p:nvSpPr>
          <p:cNvPr id="8" name="TextBox 7"/>
          <p:cNvSpPr txBox="1"/>
          <p:nvPr/>
        </p:nvSpPr>
        <p:spPr>
          <a:xfrm>
            <a:off x="1828800" y="3977639"/>
            <a:ext cx="8549640" cy="553998"/>
          </a:xfrm>
          <a:prstGeom prst="rect">
            <a:avLst/>
          </a:prstGeom>
          <a:noFill/>
        </p:spPr>
        <p:txBody>
          <a:bodyPr wrap="square" anchor="t">
            <a:spAutoFit/>
          </a:bodyPr>
          <a:lstStyle/>
          <a:p>
            <a:pPr algn="ctr"/>
            <a:r>
              <a:rPr sz="1500" b="0" dirty="0">
                <a:solidFill>
                  <a:srgbClr val="41604F"/>
                </a:solidFill>
                <a:latin typeface="Aptos"/>
              </a:rPr>
              <a:t>Caluza · Boado · </a:t>
            </a:r>
            <a:r>
              <a:rPr lang="en-US" sz="1500" b="0" dirty="0">
                <a:solidFill>
                  <a:srgbClr val="41604F"/>
                </a:solidFill>
                <a:latin typeface="Aptos"/>
              </a:rPr>
              <a:t>Meneses </a:t>
            </a:r>
            <a:r>
              <a:rPr lang="en-PH" sz="1500" dirty="0">
                <a:solidFill>
                  <a:srgbClr val="41604F"/>
                </a:solidFill>
                <a:latin typeface="Aptos"/>
              </a:rPr>
              <a:t>· </a:t>
            </a:r>
            <a:r>
              <a:rPr sz="1500" b="0" dirty="0">
                <a:solidFill>
                  <a:srgbClr val="41604F"/>
                </a:solidFill>
                <a:latin typeface="Aptos"/>
              </a:rPr>
              <a:t>Milana · </a:t>
            </a:r>
            <a:r>
              <a:rPr sz="1500" b="0" dirty="0" err="1">
                <a:solidFill>
                  <a:srgbClr val="41604F"/>
                </a:solidFill>
                <a:latin typeface="Aptos"/>
              </a:rPr>
              <a:t>Vejano</a:t>
            </a:r>
            <a:r>
              <a:rPr sz="1500" b="0" dirty="0">
                <a:solidFill>
                  <a:srgbClr val="41604F"/>
                </a:solidFill>
                <a:latin typeface="Aptos"/>
              </a:rPr>
              <a:t>  |  Adviser: Fernan H. Mendoza, DIT
DMMMSU – South La Union Campus · College of Computer Science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2604</TotalTime>
  <Words>3944</Words>
  <Application>Microsoft Office PowerPoint</Application>
  <PresentationFormat>Widescreen</PresentationFormat>
  <Paragraphs>231</Paragraphs>
  <Slides>18</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Aptos</vt:lpstr>
      <vt:lpstr>Arial</vt:lpstr>
      <vt:lpstr>Arial Bold</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Nash Francis</dc:creator>
  <cp:keywords/>
  <dc:description>generated using python-pptx</dc:description>
  <cp:lastModifiedBy>Nash Francis Caluza</cp:lastModifiedBy>
  <cp:revision>9</cp:revision>
  <dcterms:created xsi:type="dcterms:W3CDTF">2013-01-27T09:14:16Z</dcterms:created>
  <dcterms:modified xsi:type="dcterms:W3CDTF">2026-09-15T23:50:19Z</dcterms:modified>
  <cp:category/>
</cp:coreProperties>
</file>